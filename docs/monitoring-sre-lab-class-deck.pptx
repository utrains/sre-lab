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17262E"/>
                </a:solidFill>
              </a:rPr>
              <a:t>Checkout response time (ms)</a:t>
            </a:r>
          </a:p>
        </c:rich>
      </c:tx>
      <c:layout/>
      <c:overlay val="0"/>
    </c:title>
    <c:autoTitleDeleted val="0"/>
    <c:plotArea>
      <c:lineChart>
        <c:grouping val="standard"/>
        <c:varyColors val="0"/>
        <c:ser>
          <c:idx val="0"/>
          <c:order val="0"/>
          <c:tx>
            <c:strRef>
              <c:f>Sheet1!$B$1</c:f>
              <c:strCache>
                <c:ptCount val="1"/>
                <c:pt idx="0">
                  <c:v>Average latency</c:v>
                </c:pt>
              </c:strCache>
            </c:strRef>
          </c:tx>
          <c:spPr>
            <a:ln w="31750">
              <a:solidFill>
                <a:srgbClr val="1F7A99"/>
              </a:solidFill>
            </a:ln>
          </c:spPr>
          <c:marker>
            <c:symbol val="none"/>
          </c:marker>
          <c:cat>
            <c:strRef>
              <c:f>Sheet1!$A$2:$A$13</c:f>
              <c:strCache>
                <c:ptCount val="12"/>
                <c:pt idx="0">
                  <c:v>12:00</c:v>
                </c:pt>
                <c:pt idx="1">
                  <c:v>12:10</c:v>
                </c:pt>
                <c:pt idx="2">
                  <c:v>12:20</c:v>
                </c:pt>
                <c:pt idx="3">
                  <c:v>12:30</c:v>
                </c:pt>
                <c:pt idx="4">
                  <c:v>12:40</c:v>
                </c:pt>
                <c:pt idx="5">
                  <c:v>12:50</c:v>
                </c:pt>
                <c:pt idx="6">
                  <c:v>13:00</c:v>
                </c:pt>
                <c:pt idx="7">
                  <c:v>13:10</c:v>
                </c:pt>
                <c:pt idx="8">
                  <c:v>13:20</c:v>
                </c:pt>
                <c:pt idx="9">
                  <c:v>13:30</c:v>
                </c:pt>
                <c:pt idx="10">
                  <c:v>13:40</c:v>
                </c:pt>
                <c:pt idx="11">
                  <c:v>13:50</c:v>
                </c:pt>
              </c:strCache>
            </c:strRef>
          </c:cat>
          <c:val>
            <c:numRef>
              <c:f>Sheet1!$B$2:$B$13</c:f>
              <c:numCache>
                <c:formatCode>General</c:formatCode>
                <c:ptCount val="12"/>
                <c:pt idx="0">
                  <c:v>140</c:v>
                </c:pt>
                <c:pt idx="1">
                  <c:v>152</c:v>
                </c:pt>
                <c:pt idx="2">
                  <c:v>146</c:v>
                </c:pt>
                <c:pt idx="3">
                  <c:v>160</c:v>
                </c:pt>
                <c:pt idx="4">
                  <c:v>156</c:v>
                </c:pt>
                <c:pt idx="5">
                  <c:v>168</c:v>
                </c:pt>
                <c:pt idx="6">
                  <c:v>172</c:v>
                </c:pt>
                <c:pt idx="7">
                  <c:v>164</c:v>
                </c:pt>
                <c:pt idx="8">
                  <c:v>178</c:v>
                </c:pt>
                <c:pt idx="9">
                  <c:v>170</c:v>
                </c:pt>
                <c:pt idx="10">
                  <c:v>174</c:v>
                </c:pt>
                <c:pt idx="11">
                  <c:v>168</c:v>
                </c:pt>
              </c:numCache>
            </c:numRef>
          </c:val>
          <c:smooth val="0"/>
        </c:ser>
        <c:ser>
          <c:idx val="1"/>
          <c:order val="1"/>
          <c:tx>
            <c:strRef>
              <c:f>Sheet1!$C$1</c:f>
              <c:strCache>
                <c:ptCount val="1"/>
                <c:pt idx="0">
                  <c:v>p95 latency</c:v>
                </c:pt>
              </c:strCache>
            </c:strRef>
          </c:tx>
          <c:spPr>
            <a:ln w="31750">
              <a:solidFill>
                <a:srgbClr val="D1495B"/>
              </a:solidFill>
            </a:ln>
          </c:spPr>
          <c:marker>
            <c:symbol val="none"/>
          </c:marker>
          <c:cat>
            <c:strRef>
              <c:f>Sheet1!$A$2:$A$13</c:f>
              <c:strCache>
                <c:ptCount val="12"/>
                <c:pt idx="0">
                  <c:v>12:00</c:v>
                </c:pt>
                <c:pt idx="1">
                  <c:v>12:10</c:v>
                </c:pt>
                <c:pt idx="2">
                  <c:v>12:20</c:v>
                </c:pt>
                <c:pt idx="3">
                  <c:v>12:30</c:v>
                </c:pt>
                <c:pt idx="4">
                  <c:v>12:40</c:v>
                </c:pt>
                <c:pt idx="5">
                  <c:v>12:50</c:v>
                </c:pt>
                <c:pt idx="6">
                  <c:v>13:00</c:v>
                </c:pt>
                <c:pt idx="7">
                  <c:v>13:10</c:v>
                </c:pt>
                <c:pt idx="8">
                  <c:v>13:20</c:v>
                </c:pt>
                <c:pt idx="9">
                  <c:v>13:30</c:v>
                </c:pt>
                <c:pt idx="10">
                  <c:v>13:40</c:v>
                </c:pt>
                <c:pt idx="11">
                  <c:v>13:50</c:v>
                </c:pt>
              </c:strCache>
            </c:strRef>
          </c:cat>
          <c:val>
            <c:numRef>
              <c:f>Sheet1!$C$2:$C$13</c:f>
              <c:numCache>
                <c:formatCode>General</c:formatCode>
                <c:ptCount val="12"/>
                <c:pt idx="0">
                  <c:v>420</c:v>
                </c:pt>
                <c:pt idx="1">
                  <c:v>432</c:v>
                </c:pt>
                <c:pt idx="2">
                  <c:v>415</c:v>
                </c:pt>
                <c:pt idx="3">
                  <c:v>455</c:v>
                </c:pt>
                <c:pt idx="4">
                  <c:v>700</c:v>
                </c:pt>
                <c:pt idx="5">
                  <c:v>980</c:v>
                </c:pt>
                <c:pt idx="6">
                  <c:v>1140</c:v>
                </c:pt>
                <c:pt idx="7">
                  <c:v>1240</c:v>
                </c:pt>
                <c:pt idx="8">
                  <c:v>1180</c:v>
                </c:pt>
                <c:pt idx="9">
                  <c:v>900</c:v>
                </c:pt>
                <c:pt idx="10">
                  <c:v>760</c:v>
                </c:pt>
                <c:pt idx="11">
                  <c:v>690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000">
          <a:solidFill>
            <a:srgbClr val="5B6B73"/>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200" b="0">
                <a:solidFill>
                  <a:srgbClr val="17262E"/>
                </a:solidFill>
              </a:rPr>
              <a:t>Error budget, day 18 of 30</a:t>
            </a:r>
          </a:p>
        </c:rich>
      </c:tx>
      <c:layout/>
      <c:overlay val="0"/>
    </c:title>
    <c:autoTitleDeleted val="0"/>
    <c:plotArea>
      <c:layout/>
      <c:doughnutChart>
        <c:varyColors val="1"/>
        <c:ser>
          <c:idx val="0"/>
          <c:order val="0"/>
          <c:tx>
            <c:strRef>
              <c:f>Sheet1!$B$1</c:f>
              <c:strCache>
                <c:ptCount val="1"/>
                <c:pt idx="0">
                  <c:v>s</c:v>
                </c:pt>
              </c:strCache>
            </c:strRef>
          </c:tx>
          <c:dPt>
            <c:idx val="0"/>
            <c:spPr>
              <a:solidFill>
                <a:srgbClr val="D1495B"/>
              </a:solidFill>
            </c:spPr>
          </c:dPt>
          <c:dPt>
            <c:idx val="1"/>
            <c:spPr>
              <a:solidFill>
                <a:srgbClr val="1D3A4C"/>
              </a:solidFill>
            </c:spPr>
          </c:dPt>
          <c:cat>
            <c:strRef>
              <c:f>Sheet1!$A$2:$A$3</c:f>
              <c:strCache>
                <c:ptCount val="2"/>
                <c:pt idx="0">
                  <c:v>Spent</c:v>
                </c:pt>
                <c:pt idx="1">
                  <c:v>Remaining</c:v>
                </c:pt>
              </c:strCache>
            </c:strRef>
          </c:cat>
          <c:val>
            <c:numRef>
              <c:f>Sheet1!$B$2:$B$3</c:f>
              <c:numCache>
                <c:formatCode>General</c:formatCode>
                <c:ptCount val="2"/>
                <c:pt idx="0">
                  <c:v>62</c:v>
                </c:pt>
                <c:pt idx="1">
                  <c:v>38</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000">
          <a:solidFill>
            <a:srgbClr val="5B6B73"/>
          </a:solidFill>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234440"/>
            <a:ext cx="9144000" cy="36576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D E V O P S   ·   S R E   ·   C L A S S   E D I T I O N</a:t>
            </a:r>
          </a:p>
        </p:txBody>
      </p:sp>
      <p:sp>
        <p:nvSpPr>
          <p:cNvPr id="4" name="TextBox 3"/>
          <p:cNvSpPr txBox="1"/>
          <p:nvPr/>
        </p:nvSpPr>
        <p:spPr>
          <a:xfrm>
            <a:off x="1024128" y="1691640"/>
            <a:ext cx="7315200" cy="2377440"/>
          </a:xfrm>
          <a:prstGeom prst="rect">
            <a:avLst/>
          </a:prstGeom>
          <a:noFill/>
        </p:spPr>
        <p:txBody>
          <a:bodyPr wrap="square" lIns="0" rIns="0" tIns="0" bIns="0">
            <a:spAutoFit/>
          </a:bodyPr>
          <a:lstStyle/>
          <a:p>
            <a:pPr>
              <a:spcBef>
                <a:spcPts val="0"/>
              </a:spcBef>
              <a:spcAft>
                <a:spcPts val="200"/>
              </a:spcAft>
            </a:pPr>
            <a:r>
              <a:rPr sz="4000" b="1" i="0">
                <a:solidFill>
                  <a:srgbClr val="FFFFFF"/>
                </a:solidFill>
                <a:latin typeface="Segoe UI"/>
              </a:rPr>
              <a:t>Monitoring</a:t>
            </a:r>
          </a:p>
          <a:p>
            <a:pPr>
              <a:spcBef>
                <a:spcPts val="0"/>
              </a:spcBef>
              <a:spcAft>
                <a:spcPts val="200"/>
              </a:spcAft>
            </a:pPr>
            <a:r>
              <a:rPr sz="4000" b="1" i="0">
                <a:solidFill>
                  <a:srgbClr val="FFFFFF"/>
                </a:solidFill>
                <a:latin typeface="Segoe UI"/>
              </a:rPr>
              <a:t>Observability</a:t>
            </a:r>
          </a:p>
          <a:p>
            <a:pPr>
              <a:spcBef>
                <a:spcPts val="0"/>
              </a:spcBef>
              <a:spcAft>
                <a:spcPts val="200"/>
              </a:spcAft>
            </a:pPr>
            <a:r>
              <a:rPr sz="4000" b="1" i="0">
                <a:solidFill>
                  <a:srgbClr val="FFFFFF"/>
                </a:solidFill>
                <a:latin typeface="Segoe UI"/>
              </a:rPr>
              <a:t>SRE</a:t>
            </a:r>
          </a:p>
        </p:txBody>
      </p:sp>
      <p:sp>
        <p:nvSpPr>
          <p:cNvPr id="5" name="Oval 4"/>
          <p:cNvSpPr/>
          <p:nvPr/>
        </p:nvSpPr>
        <p:spPr>
          <a:xfrm>
            <a:off x="566928" y="1847088"/>
            <a:ext cx="164592" cy="16459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66928" y="2505456"/>
            <a:ext cx="164592" cy="164592"/>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66928" y="3163824"/>
            <a:ext cx="164592" cy="164592"/>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86200"/>
            <a:ext cx="8229600" cy="548640"/>
          </a:xfrm>
          <a:prstGeom prst="rect">
            <a:avLst/>
          </a:prstGeom>
          <a:noFill/>
        </p:spPr>
        <p:txBody>
          <a:bodyPr wrap="square" lIns="0" rIns="0" tIns="0" bIns="0">
            <a:spAutoFit/>
          </a:bodyPr>
          <a:lstStyle/>
          <a:p>
            <a:pPr>
              <a:spcBef>
                <a:spcPts val="0"/>
              </a:spcBef>
              <a:spcAft>
                <a:spcPts val="0"/>
              </a:spcAft>
            </a:pPr>
            <a:r>
              <a:rPr sz="2600" b="1" i="0">
                <a:solidFill>
                  <a:srgbClr val="1F7A99"/>
                </a:solidFill>
                <a:latin typeface="Segoe UI"/>
              </a:rPr>
              <a:t>Hands-On Lab Guide</a:t>
            </a:r>
          </a:p>
        </p:txBody>
      </p:sp>
      <p:sp>
        <p:nvSpPr>
          <p:cNvPr id="9" name="TextBox 8"/>
          <p:cNvSpPr txBox="1"/>
          <p:nvPr/>
        </p:nvSpPr>
        <p:spPr>
          <a:xfrm>
            <a:off x="566928" y="4572000"/>
            <a:ext cx="8412480" cy="1097280"/>
          </a:xfrm>
          <a:prstGeom prst="rect">
            <a:avLst/>
          </a:prstGeom>
          <a:noFill/>
        </p:spPr>
        <p:txBody>
          <a:bodyPr wrap="square" lIns="0" rIns="0" tIns="0" bIns="0">
            <a:spAutoFit/>
          </a:bodyPr>
          <a:lstStyle/>
          <a:p>
            <a:pPr>
              <a:spcBef>
                <a:spcPts val="0"/>
              </a:spcBef>
              <a:spcAft>
                <a:spcPts val="0"/>
              </a:spcAft>
            </a:pPr>
            <a:r>
              <a:rPr sz="1300" b="0" i="0">
                <a:solidFill>
                  <a:srgbClr val="9FB3BD"/>
                </a:solidFill>
                <a:latin typeface="Segoe UI"/>
              </a:rPr>
              <a:t>Why we monitor  ·  how to run the lab  ·  how to break it  ·  how to talk about it in an interview</a:t>
            </a:r>
          </a:p>
          <a:p>
            <a:pPr>
              <a:spcBef>
                <a:spcPts val="800"/>
              </a:spcBef>
              <a:spcAft>
                <a:spcPts val="0"/>
              </a:spcAft>
            </a:pPr>
            <a:r>
              <a:rPr sz="1200" b="0" i="1">
                <a:solidFill>
                  <a:srgbClr val="9FB3BD"/>
                </a:solidFill>
                <a:latin typeface="Segoe UI"/>
              </a:rPr>
              <a:t>No deep IT background required. Follow along in class.</a:t>
            </a:r>
          </a:p>
        </p:txBody>
      </p:sp>
      <p:sp>
        <p:nvSpPr>
          <p:cNvPr id="10" name="Rectangle 9"/>
          <p:cNvSpPr/>
          <p:nvPr/>
        </p:nvSpPr>
        <p:spPr>
          <a:xfrm>
            <a:off x="7967167" y="1600200"/>
            <a:ext cx="3657600" cy="1188720"/>
          </a:xfrm>
          <a:prstGeom prst="rect">
            <a:avLst/>
          </a:prstGeom>
          <a:solidFill>
            <a:srgbClr val="18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23199" y="1947672"/>
            <a:ext cx="146304" cy="14630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15807" y="1801368"/>
            <a:ext cx="2743200" cy="457200"/>
          </a:xfrm>
          <a:prstGeom prst="rect">
            <a:avLst/>
          </a:prstGeom>
          <a:noFill/>
        </p:spPr>
        <p:txBody>
          <a:bodyPr wrap="square" lIns="0" rIns="0" tIns="0" bIns="0">
            <a:spAutoFit/>
          </a:bodyPr>
          <a:lstStyle/>
          <a:p>
            <a:pPr>
              <a:spcBef>
                <a:spcPts val="0"/>
              </a:spcBef>
              <a:spcAft>
                <a:spcPts val="0"/>
              </a:spcAft>
            </a:pPr>
            <a:r>
              <a:rPr sz="2400" b="1" i="0">
                <a:solidFill>
                  <a:srgbClr val="FFFFFF"/>
                </a:solidFill>
                <a:latin typeface="Segoe UI"/>
              </a:rPr>
              <a:t>12</a:t>
            </a:r>
          </a:p>
        </p:txBody>
      </p:sp>
      <p:sp>
        <p:nvSpPr>
          <p:cNvPr id="13" name="TextBox 12"/>
          <p:cNvSpPr txBox="1"/>
          <p:nvPr/>
        </p:nvSpPr>
        <p:spPr>
          <a:xfrm>
            <a:off x="8223199" y="2313432"/>
            <a:ext cx="3200400" cy="36576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failure modes you can inject</a:t>
            </a:r>
          </a:p>
        </p:txBody>
      </p:sp>
      <p:sp>
        <p:nvSpPr>
          <p:cNvPr id="14" name="Rectangle 13"/>
          <p:cNvSpPr/>
          <p:nvPr/>
        </p:nvSpPr>
        <p:spPr>
          <a:xfrm>
            <a:off x="7967167" y="3017520"/>
            <a:ext cx="3657600" cy="1188720"/>
          </a:xfrm>
          <a:prstGeom prst="rect">
            <a:avLst/>
          </a:prstGeom>
          <a:solidFill>
            <a:srgbClr val="18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3199" y="3364992"/>
            <a:ext cx="146304" cy="146304"/>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15807" y="3218688"/>
            <a:ext cx="2743200" cy="457200"/>
          </a:xfrm>
          <a:prstGeom prst="rect">
            <a:avLst/>
          </a:prstGeom>
          <a:noFill/>
        </p:spPr>
        <p:txBody>
          <a:bodyPr wrap="square" lIns="0" rIns="0" tIns="0" bIns="0">
            <a:spAutoFit/>
          </a:bodyPr>
          <a:lstStyle/>
          <a:p>
            <a:pPr>
              <a:spcBef>
                <a:spcPts val="0"/>
              </a:spcBef>
              <a:spcAft>
                <a:spcPts val="0"/>
              </a:spcAft>
            </a:pPr>
            <a:r>
              <a:rPr sz="2400" b="1" i="0">
                <a:solidFill>
                  <a:srgbClr val="FFFFFF"/>
                </a:solidFill>
                <a:latin typeface="Segoe UI"/>
              </a:rPr>
              <a:t>10</a:t>
            </a:r>
          </a:p>
        </p:txBody>
      </p:sp>
      <p:sp>
        <p:nvSpPr>
          <p:cNvPr id="17" name="TextBox 16"/>
          <p:cNvSpPr txBox="1"/>
          <p:nvPr/>
        </p:nvSpPr>
        <p:spPr>
          <a:xfrm>
            <a:off x="8223199" y="3730752"/>
            <a:ext cx="3200400" cy="36576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scripted incident scenarios</a:t>
            </a:r>
          </a:p>
        </p:txBody>
      </p:sp>
      <p:sp>
        <p:nvSpPr>
          <p:cNvPr id="18" name="Rectangle 17"/>
          <p:cNvSpPr/>
          <p:nvPr/>
        </p:nvSpPr>
        <p:spPr>
          <a:xfrm>
            <a:off x="7967167" y="4434840"/>
            <a:ext cx="3657600" cy="1188720"/>
          </a:xfrm>
          <a:prstGeom prst="rect">
            <a:avLst/>
          </a:prstGeom>
          <a:solidFill>
            <a:srgbClr val="18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3199" y="4782312"/>
            <a:ext cx="146304" cy="146304"/>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15807" y="4636008"/>
            <a:ext cx="2743200" cy="457200"/>
          </a:xfrm>
          <a:prstGeom prst="rect">
            <a:avLst/>
          </a:prstGeom>
          <a:noFill/>
        </p:spPr>
        <p:txBody>
          <a:bodyPr wrap="square" lIns="0" rIns="0" tIns="0" bIns="0">
            <a:spAutoFit/>
          </a:bodyPr>
          <a:lstStyle/>
          <a:p>
            <a:pPr>
              <a:spcBef>
                <a:spcPts val="0"/>
              </a:spcBef>
              <a:spcAft>
                <a:spcPts val="0"/>
              </a:spcAft>
            </a:pPr>
            <a:r>
              <a:rPr sz="2400" b="1" i="0">
                <a:solidFill>
                  <a:srgbClr val="FFFFFF"/>
                </a:solidFill>
                <a:latin typeface="Segoe UI"/>
              </a:rPr>
              <a:t>2</a:t>
            </a:r>
          </a:p>
        </p:txBody>
      </p:sp>
      <p:sp>
        <p:nvSpPr>
          <p:cNvPr id="21" name="TextBox 20"/>
          <p:cNvSpPr txBox="1"/>
          <p:nvPr/>
        </p:nvSpPr>
        <p:spPr>
          <a:xfrm>
            <a:off x="8223199" y="5148072"/>
            <a:ext cx="3200400" cy="36576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chairs: who ships it, who owns the SLO</a:t>
            </a:r>
          </a:p>
        </p:txBody>
      </p:sp>
      <p:sp>
        <p:nvSpPr>
          <p:cNvPr id="22" name="TextBox 21"/>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9FB3BD"/>
                </a:solidFill>
                <a:latin typeface="Segoe UI"/>
              </a:rPr>
              <a:t>Monitoring, Observability and SRE</a:t>
            </a:r>
          </a:p>
        </p:txBody>
      </p:sp>
      <p:sp>
        <p:nvSpPr>
          <p:cNvPr id="23" name="TextBox 22"/>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9FB3BD"/>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How to use this deck</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Four parts. Read one, do one, break one, practise one.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Monitoring, Observability and SRE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a:t>
            </a:r>
          </a:p>
        </p:txBody>
      </p:sp>
      <p:sp>
        <p:nvSpPr>
          <p:cNvPr id="7" name="Rectangle 6"/>
          <p:cNvSpPr/>
          <p:nvPr/>
        </p:nvSpPr>
        <p:spPr>
          <a:xfrm>
            <a:off x="566928" y="1682496"/>
            <a:ext cx="2624328" cy="28803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95528" y="1911096"/>
            <a:ext cx="420624" cy="42062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65960"/>
            <a:ext cx="420624" cy="420624"/>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1</a:t>
            </a:r>
          </a:p>
        </p:txBody>
      </p:sp>
      <p:sp>
        <p:nvSpPr>
          <p:cNvPr id="10" name="TextBox 9"/>
          <p:cNvSpPr txBox="1"/>
          <p:nvPr/>
        </p:nvSpPr>
        <p:spPr>
          <a:xfrm>
            <a:off x="795528" y="2505456"/>
            <a:ext cx="2167128" cy="365760"/>
          </a:xfrm>
          <a:prstGeom prst="rect">
            <a:avLst/>
          </a:prstGeom>
          <a:noFill/>
        </p:spPr>
        <p:txBody>
          <a:bodyPr wrap="square" lIns="0" rIns="0" tIns="0" bIns="0">
            <a:spAutoFit/>
          </a:bodyPr>
          <a:lstStyle/>
          <a:p>
            <a:pPr>
              <a:spcBef>
                <a:spcPts val="0"/>
              </a:spcBef>
              <a:spcAft>
                <a:spcPts val="0"/>
              </a:spcAft>
            </a:pPr>
            <a:r>
              <a:rPr sz="1600" b="1" i="0">
                <a:solidFill>
                  <a:srgbClr val="17262E"/>
                </a:solidFill>
                <a:latin typeface="Segoe UI"/>
              </a:rPr>
              <a:t>Concepts</a:t>
            </a:r>
          </a:p>
        </p:txBody>
      </p:sp>
      <p:sp>
        <p:nvSpPr>
          <p:cNvPr id="11" name="TextBox 10"/>
          <p:cNvSpPr txBox="1"/>
          <p:nvPr/>
        </p:nvSpPr>
        <p:spPr>
          <a:xfrm>
            <a:off x="795528" y="2962656"/>
            <a:ext cx="2167128" cy="1097280"/>
          </a:xfrm>
          <a:prstGeom prst="rect">
            <a:avLst/>
          </a:prstGeom>
          <a:noFill/>
        </p:spPr>
        <p:txBody>
          <a:bodyPr wrap="square" lIns="0" rIns="0" tIns="0" bIns="0">
            <a:spAutoFit/>
          </a:bodyPr>
          <a:lstStyle/>
          <a:p>
            <a:pPr>
              <a:spcBef>
                <a:spcPts val="0"/>
              </a:spcBef>
              <a:spcAft>
                <a:spcPts val="0"/>
              </a:spcAft>
            </a:pPr>
            <a:r>
              <a:rPr sz="1100" b="0" i="0">
                <a:solidFill>
                  <a:srgbClr val="17262E"/>
                </a:solidFill>
                <a:latin typeface="Segoe UI"/>
              </a:rPr>
              <a:t>Plain-language ideas: why we monitor, golden signals, SLOs, error budgets, alerts, and who gets paged.</a:t>
            </a:r>
          </a:p>
        </p:txBody>
      </p:sp>
      <p:sp>
        <p:nvSpPr>
          <p:cNvPr id="12" name="TextBox 11"/>
          <p:cNvSpPr txBox="1"/>
          <p:nvPr/>
        </p:nvSpPr>
        <p:spPr>
          <a:xfrm>
            <a:off x="795528" y="4059936"/>
            <a:ext cx="2167128" cy="365760"/>
          </a:xfrm>
          <a:prstGeom prst="rect">
            <a:avLst/>
          </a:prstGeom>
          <a:noFill/>
        </p:spPr>
        <p:txBody>
          <a:bodyPr wrap="square" lIns="0" rIns="0" tIns="0" bIns="0">
            <a:spAutoFit/>
          </a:bodyPr>
          <a:lstStyle/>
          <a:p>
            <a:pPr>
              <a:spcBef>
                <a:spcPts val="0"/>
              </a:spcBef>
              <a:spcAft>
                <a:spcPts val="0"/>
              </a:spcAft>
            </a:pPr>
            <a:r>
              <a:rPr sz="1050" b="0" i="1">
                <a:solidFill>
                  <a:srgbClr val="1F7A99"/>
                </a:solidFill>
                <a:latin typeface="Segoe UI"/>
              </a:rPr>
              <a:t>Read first, before you touch the cluster.</a:t>
            </a:r>
          </a:p>
        </p:txBody>
      </p:sp>
      <p:sp>
        <p:nvSpPr>
          <p:cNvPr id="13" name="Rectangle 12"/>
          <p:cNvSpPr/>
          <p:nvPr/>
        </p:nvSpPr>
        <p:spPr>
          <a:xfrm>
            <a:off x="3355848" y="1682496"/>
            <a:ext cx="2624328" cy="28803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4448" y="1911096"/>
            <a:ext cx="420624" cy="420624"/>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4448" y="1965960"/>
            <a:ext cx="420624" cy="420624"/>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2</a:t>
            </a:r>
          </a:p>
        </p:txBody>
      </p:sp>
      <p:sp>
        <p:nvSpPr>
          <p:cNvPr id="16" name="TextBox 15"/>
          <p:cNvSpPr txBox="1"/>
          <p:nvPr/>
        </p:nvSpPr>
        <p:spPr>
          <a:xfrm>
            <a:off x="3584448" y="2505456"/>
            <a:ext cx="2167128" cy="365760"/>
          </a:xfrm>
          <a:prstGeom prst="rect">
            <a:avLst/>
          </a:prstGeom>
          <a:noFill/>
        </p:spPr>
        <p:txBody>
          <a:bodyPr wrap="square" lIns="0" rIns="0" tIns="0" bIns="0">
            <a:spAutoFit/>
          </a:bodyPr>
          <a:lstStyle/>
          <a:p>
            <a:pPr>
              <a:spcBef>
                <a:spcPts val="0"/>
              </a:spcBef>
              <a:spcAft>
                <a:spcPts val="0"/>
              </a:spcAft>
            </a:pPr>
            <a:r>
              <a:rPr sz="1600" b="1" i="0">
                <a:solidFill>
                  <a:srgbClr val="17262E"/>
                </a:solidFill>
                <a:latin typeface="Segoe UI"/>
              </a:rPr>
              <a:t>The Lab</a:t>
            </a:r>
          </a:p>
        </p:txBody>
      </p:sp>
      <p:sp>
        <p:nvSpPr>
          <p:cNvPr id="17" name="TextBox 16"/>
          <p:cNvSpPr txBox="1"/>
          <p:nvPr/>
        </p:nvSpPr>
        <p:spPr>
          <a:xfrm>
            <a:off x="3584448" y="2962656"/>
            <a:ext cx="2167128" cy="1097280"/>
          </a:xfrm>
          <a:prstGeom prst="rect">
            <a:avLst/>
          </a:prstGeom>
          <a:noFill/>
        </p:spPr>
        <p:txBody>
          <a:bodyPr wrap="square" lIns="0" rIns="0" tIns="0" bIns="0">
            <a:spAutoFit/>
          </a:bodyPr>
          <a:lstStyle/>
          <a:p>
            <a:pPr>
              <a:spcBef>
                <a:spcPts val="0"/>
              </a:spcBef>
              <a:spcAft>
                <a:spcPts val="0"/>
              </a:spcAft>
            </a:pPr>
            <a:r>
              <a:rPr sz="1100" b="0" i="0">
                <a:solidFill>
                  <a:srgbClr val="17262E"/>
                </a:solidFill>
                <a:latin typeface="Segoe UI"/>
              </a:rPr>
              <a:t>Build the cluster, deploy the apps and monitoring, and write down what healthy looks like.</a:t>
            </a:r>
          </a:p>
        </p:txBody>
      </p:sp>
      <p:sp>
        <p:nvSpPr>
          <p:cNvPr id="18" name="TextBox 17"/>
          <p:cNvSpPr txBox="1"/>
          <p:nvPr/>
        </p:nvSpPr>
        <p:spPr>
          <a:xfrm>
            <a:off x="3584448" y="4059936"/>
            <a:ext cx="2167128" cy="365760"/>
          </a:xfrm>
          <a:prstGeom prst="rect">
            <a:avLst/>
          </a:prstGeom>
          <a:noFill/>
        </p:spPr>
        <p:txBody>
          <a:bodyPr wrap="square" lIns="0" rIns="0" tIns="0" bIns="0">
            <a:spAutoFit/>
          </a:bodyPr>
          <a:lstStyle/>
          <a:p>
            <a:pPr>
              <a:spcBef>
                <a:spcPts val="0"/>
              </a:spcBef>
              <a:spcAft>
                <a:spcPts val="0"/>
              </a:spcAft>
            </a:pPr>
            <a:r>
              <a:rPr sz="1050" b="0" i="1">
                <a:solidFill>
                  <a:srgbClr val="E8A020"/>
                </a:solidFill>
                <a:latin typeface="Segoe UI"/>
              </a:rPr>
              <a:t>Do this with the cluster in front of you.</a:t>
            </a:r>
          </a:p>
        </p:txBody>
      </p:sp>
      <p:sp>
        <p:nvSpPr>
          <p:cNvPr id="19" name="Rectangle 18"/>
          <p:cNvSpPr/>
          <p:nvPr/>
        </p:nvSpPr>
        <p:spPr>
          <a:xfrm>
            <a:off x="6144768" y="1682496"/>
            <a:ext cx="2624328" cy="28803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73368" y="1911096"/>
            <a:ext cx="420624" cy="42062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3368" y="1965960"/>
            <a:ext cx="420624" cy="420624"/>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3</a:t>
            </a:r>
          </a:p>
        </p:txBody>
      </p:sp>
      <p:sp>
        <p:nvSpPr>
          <p:cNvPr id="22" name="TextBox 21"/>
          <p:cNvSpPr txBox="1"/>
          <p:nvPr/>
        </p:nvSpPr>
        <p:spPr>
          <a:xfrm>
            <a:off x="6373368" y="2505456"/>
            <a:ext cx="2167128" cy="365760"/>
          </a:xfrm>
          <a:prstGeom prst="rect">
            <a:avLst/>
          </a:prstGeom>
          <a:noFill/>
        </p:spPr>
        <p:txBody>
          <a:bodyPr wrap="square" lIns="0" rIns="0" tIns="0" bIns="0">
            <a:spAutoFit/>
          </a:bodyPr>
          <a:lstStyle/>
          <a:p>
            <a:pPr>
              <a:spcBef>
                <a:spcPts val="0"/>
              </a:spcBef>
              <a:spcAft>
                <a:spcPts val="0"/>
              </a:spcAft>
            </a:pPr>
            <a:r>
              <a:rPr sz="1600" b="1" i="0">
                <a:solidFill>
                  <a:srgbClr val="17262E"/>
                </a:solidFill>
                <a:latin typeface="Segoe UI"/>
              </a:rPr>
              <a:t>Breaking it</a:t>
            </a:r>
          </a:p>
        </p:txBody>
      </p:sp>
      <p:sp>
        <p:nvSpPr>
          <p:cNvPr id="23" name="TextBox 22"/>
          <p:cNvSpPr txBox="1"/>
          <p:nvPr/>
        </p:nvSpPr>
        <p:spPr>
          <a:xfrm>
            <a:off x="6373368" y="2962656"/>
            <a:ext cx="2167128" cy="1097280"/>
          </a:xfrm>
          <a:prstGeom prst="rect">
            <a:avLst/>
          </a:prstGeom>
          <a:noFill/>
        </p:spPr>
        <p:txBody>
          <a:bodyPr wrap="square" lIns="0" rIns="0" tIns="0" bIns="0">
            <a:spAutoFit/>
          </a:bodyPr>
          <a:lstStyle/>
          <a:p>
            <a:pPr>
              <a:spcBef>
                <a:spcPts val="0"/>
              </a:spcBef>
              <a:spcAft>
                <a:spcPts val="0"/>
              </a:spcAft>
            </a:pPr>
            <a:r>
              <a:rPr sz="1100" b="0" i="0">
                <a:solidFill>
                  <a:srgbClr val="17262E"/>
                </a:solidFill>
                <a:latin typeface="Segoe UI"/>
              </a:rPr>
              <a:t>Twelve failure modes and ten scripted incidents. Find each one in Datadog before you reach for kubectl.</a:t>
            </a:r>
          </a:p>
        </p:txBody>
      </p:sp>
      <p:sp>
        <p:nvSpPr>
          <p:cNvPr id="24" name="TextBox 23"/>
          <p:cNvSpPr txBox="1"/>
          <p:nvPr/>
        </p:nvSpPr>
        <p:spPr>
          <a:xfrm>
            <a:off x="6373368" y="4059936"/>
            <a:ext cx="2167128" cy="365760"/>
          </a:xfrm>
          <a:prstGeom prst="rect">
            <a:avLst/>
          </a:prstGeom>
          <a:noFill/>
        </p:spPr>
        <p:txBody>
          <a:bodyPr wrap="square" lIns="0" rIns="0" tIns="0" bIns="0">
            <a:spAutoFit/>
          </a:bodyPr>
          <a:lstStyle/>
          <a:p>
            <a:pPr>
              <a:spcBef>
                <a:spcPts val="0"/>
              </a:spcBef>
              <a:spcAft>
                <a:spcPts val="0"/>
              </a:spcAft>
            </a:pPr>
            <a:r>
              <a:rPr sz="1050" b="0" i="1">
                <a:solidFill>
                  <a:srgbClr val="D1495B"/>
                </a:solidFill>
                <a:latin typeface="Segoe UI"/>
              </a:rPr>
              <a:t>The part that actually teaches.</a:t>
            </a:r>
          </a:p>
        </p:txBody>
      </p:sp>
      <p:sp>
        <p:nvSpPr>
          <p:cNvPr id="25" name="Rectangle 24"/>
          <p:cNvSpPr/>
          <p:nvPr/>
        </p:nvSpPr>
        <p:spPr>
          <a:xfrm>
            <a:off x="8933688" y="1682496"/>
            <a:ext cx="2624328" cy="28803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62288" y="1911096"/>
            <a:ext cx="420624" cy="420624"/>
          </a:xfrm>
          <a:prstGeom prst="ellipse">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62288" y="1965960"/>
            <a:ext cx="420624" cy="420624"/>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4</a:t>
            </a:r>
          </a:p>
        </p:txBody>
      </p:sp>
      <p:sp>
        <p:nvSpPr>
          <p:cNvPr id="28" name="TextBox 27"/>
          <p:cNvSpPr txBox="1"/>
          <p:nvPr/>
        </p:nvSpPr>
        <p:spPr>
          <a:xfrm>
            <a:off x="9162288" y="2505456"/>
            <a:ext cx="2167128" cy="365760"/>
          </a:xfrm>
          <a:prstGeom prst="rect">
            <a:avLst/>
          </a:prstGeom>
          <a:noFill/>
        </p:spPr>
        <p:txBody>
          <a:bodyPr wrap="square" lIns="0" rIns="0" tIns="0" bIns="0">
            <a:spAutoFit/>
          </a:bodyPr>
          <a:lstStyle/>
          <a:p>
            <a:pPr>
              <a:spcBef>
                <a:spcPts val="0"/>
              </a:spcBef>
              <a:spcAft>
                <a:spcPts val="0"/>
              </a:spcAft>
            </a:pPr>
            <a:r>
              <a:rPr sz="1600" b="1" i="0">
                <a:solidFill>
                  <a:srgbClr val="17262E"/>
                </a:solidFill>
                <a:latin typeface="Segoe UI"/>
              </a:rPr>
              <a:t>Interview</a:t>
            </a:r>
          </a:p>
        </p:txBody>
      </p:sp>
      <p:sp>
        <p:nvSpPr>
          <p:cNvPr id="29" name="TextBox 28"/>
          <p:cNvSpPr txBox="1"/>
          <p:nvPr/>
        </p:nvSpPr>
        <p:spPr>
          <a:xfrm>
            <a:off x="9162288" y="2962656"/>
            <a:ext cx="2167128" cy="1097280"/>
          </a:xfrm>
          <a:prstGeom prst="rect">
            <a:avLst/>
          </a:prstGeom>
          <a:noFill/>
        </p:spPr>
        <p:txBody>
          <a:bodyPr wrap="square" lIns="0" rIns="0" tIns="0" bIns="0">
            <a:spAutoFit/>
          </a:bodyPr>
          <a:lstStyle/>
          <a:p>
            <a:pPr>
              <a:spcBef>
                <a:spcPts val="0"/>
              </a:spcBef>
              <a:spcAft>
                <a:spcPts val="0"/>
              </a:spcAft>
            </a:pPr>
            <a:r>
              <a:rPr sz="1100" b="0" i="0">
                <a:solidFill>
                  <a:srgbClr val="17262E"/>
                </a:solidFill>
                <a:latin typeface="Segoe UI"/>
              </a:rPr>
              <a:t>Turn what you did into answers a hiring manager wants to hear — from either chair.</a:t>
            </a:r>
          </a:p>
        </p:txBody>
      </p:sp>
      <p:sp>
        <p:nvSpPr>
          <p:cNvPr id="30" name="TextBox 29"/>
          <p:cNvSpPr txBox="1"/>
          <p:nvPr/>
        </p:nvSpPr>
        <p:spPr>
          <a:xfrm>
            <a:off x="9162288" y="4059936"/>
            <a:ext cx="2167128" cy="365760"/>
          </a:xfrm>
          <a:prstGeom prst="rect">
            <a:avLst/>
          </a:prstGeom>
          <a:noFill/>
        </p:spPr>
        <p:txBody>
          <a:bodyPr wrap="square" lIns="0" rIns="0" tIns="0" bIns="0">
            <a:spAutoFit/>
          </a:bodyPr>
          <a:lstStyle/>
          <a:p>
            <a:pPr>
              <a:spcBef>
                <a:spcPts val="0"/>
              </a:spcBef>
              <a:spcAft>
                <a:spcPts val="0"/>
              </a:spcAft>
            </a:pPr>
            <a:r>
              <a:rPr sz="1050" b="0" i="1">
                <a:solidFill>
                  <a:srgbClr val="2E7D55"/>
                </a:solidFill>
                <a:latin typeface="Segoe UI"/>
              </a:rPr>
              <a:t>Practise out loud with a partner.</a:t>
            </a:r>
          </a:p>
        </p:txBody>
      </p:sp>
      <p:sp>
        <p:nvSpPr>
          <p:cNvPr id="31" name="Rectangle 30"/>
          <p:cNvSpPr/>
          <p:nvPr/>
        </p:nvSpPr>
        <p:spPr>
          <a:xfrm>
            <a:off x="566928" y="4745736"/>
            <a:ext cx="11064240" cy="9601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745736"/>
            <a:ext cx="44450" cy="96012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4901184"/>
            <a:ext cx="10625328" cy="66751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Companion documents in the repo</a:t>
            </a:r>
          </a:p>
          <a:p>
            <a:pPr>
              <a:spcBef>
                <a:spcPts val="0"/>
              </a:spcBef>
              <a:spcAft>
                <a:spcPts val="400"/>
              </a:spcAft>
            </a:pPr>
            <a:r>
              <a:rPr sz="1150" b="0" i="0">
                <a:solidFill>
                  <a:srgbClr val="17262E"/>
                </a:solidFill>
                <a:latin typeface="Segoe UI"/>
              </a:rPr>
              <a:t>student-guide.md · testing-the-lab.md · devops-vs-sre.md · slo-sla-sli.md · error-budget.md · architecture.md · runbooks/ · incident-scenarios/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81767" y="3063240"/>
            <a:ext cx="155448" cy="155448"/>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5815" y="3063240"/>
            <a:ext cx="155448" cy="155448"/>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49863" y="3063240"/>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148840"/>
            <a:ext cx="9144000" cy="36576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PART 1</a:t>
            </a:r>
          </a:p>
        </p:txBody>
      </p:sp>
      <p:sp>
        <p:nvSpPr>
          <p:cNvPr id="7" name="TextBox 6"/>
          <p:cNvSpPr txBox="1"/>
          <p:nvPr/>
        </p:nvSpPr>
        <p:spPr>
          <a:xfrm>
            <a:off x="566928" y="2560320"/>
            <a:ext cx="10058400" cy="1737360"/>
          </a:xfrm>
          <a:prstGeom prst="rect">
            <a:avLst/>
          </a:prstGeom>
          <a:noFill/>
        </p:spPr>
        <p:txBody>
          <a:bodyPr wrap="square" lIns="0" rIns="0" tIns="0" bIns="0">
            <a:spAutoFit/>
          </a:bodyPr>
          <a:lstStyle/>
          <a:p>
            <a:pPr>
              <a:spcBef>
                <a:spcPts val="0"/>
              </a:spcBef>
              <a:spcAft>
                <a:spcPts val="0"/>
              </a:spcAft>
            </a:pPr>
            <a:r>
              <a:rPr sz="4600" b="1" i="0">
                <a:solidFill>
                  <a:srgbClr val="FFFFFF"/>
                </a:solidFill>
                <a:latin typeface="Segoe UI"/>
              </a:rPr>
              <a:t>Concepts</a:t>
            </a:r>
          </a:p>
        </p:txBody>
      </p:sp>
      <p:sp>
        <p:nvSpPr>
          <p:cNvPr id="8" name="TextBox 7"/>
          <p:cNvSpPr txBox="1"/>
          <p:nvPr/>
        </p:nvSpPr>
        <p:spPr>
          <a:xfrm>
            <a:off x="566928" y="3355848"/>
            <a:ext cx="8961120" cy="914400"/>
          </a:xfrm>
          <a:prstGeom prst="rect">
            <a:avLst/>
          </a:prstGeom>
          <a:noFill/>
        </p:spPr>
        <p:txBody>
          <a:bodyPr wrap="square" lIns="0" rIns="0" tIns="0" bIns="0">
            <a:spAutoFit/>
          </a:bodyPr>
          <a:lstStyle/>
          <a:p>
            <a:pPr>
              <a:spcBef>
                <a:spcPts val="0"/>
              </a:spcBef>
              <a:spcAft>
                <a:spcPts val="0"/>
              </a:spcAft>
            </a:pPr>
            <a:r>
              <a:rPr sz="1500" b="0" i="0">
                <a:solidFill>
                  <a:srgbClr val="9FB3BD"/>
                </a:solidFill>
                <a:latin typeface="Segoe UI"/>
              </a:rPr>
              <a:t>The ideas behind every dashboard, alert and incident you will meet in the lab.</a:t>
            </a:r>
          </a:p>
        </p:txBody>
      </p:sp>
      <p:sp>
        <p:nvSpPr>
          <p:cNvPr id="9" name="TextBox 8"/>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9FB3BD"/>
                </a:solidFill>
                <a:latin typeface="Segoe UI"/>
              </a:rPr>
              <a:t>Monitoring, Observability and SRE</a:t>
            </a:r>
          </a:p>
        </p:txBody>
      </p:sp>
      <p:sp>
        <p:nvSpPr>
          <p:cNvPr id="10" name="TextBox 9"/>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9FB3BD"/>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Why monitoring exists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It is not because servers look interesting.</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a:t>
            </a:r>
          </a:p>
        </p:txBody>
      </p:sp>
      <p:sp>
        <p:nvSpPr>
          <p:cNvPr id="7" name="Rectangle 6"/>
          <p:cNvSpPr/>
          <p:nvPr/>
        </p:nvSpPr>
        <p:spPr>
          <a:xfrm>
            <a:off x="566928" y="1682496"/>
            <a:ext cx="6766560" cy="16002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6327648" cy="1307592"/>
          </a:xfrm>
          <a:prstGeom prst="rect">
            <a:avLst/>
          </a:prstGeom>
          <a:noFill/>
        </p:spPr>
        <p:txBody>
          <a:bodyPr wrap="square" lIns="0" rIns="0" tIns="0" bIns="0">
            <a:spAutoFit/>
          </a:bodyPr>
          <a:lstStyle/>
          <a:p>
            <a:pPr>
              <a:spcBef>
                <a:spcPts val="0"/>
              </a:spcBef>
              <a:spcAft>
                <a:spcPts val="400"/>
              </a:spcAft>
            </a:pPr>
            <a:r>
              <a:rPr sz="1900" b="0" i="0">
                <a:solidFill>
                  <a:srgbClr val="FFFFFF"/>
                </a:solidFill>
                <a:latin typeface="Segoe UI"/>
              </a:rPr>
              <a:t>Someone outside the company is trying to use the product.</a:t>
            </a:r>
          </a:p>
        </p:txBody>
      </p:sp>
      <p:sp>
        <p:nvSpPr>
          <p:cNvPr id="9" name="TextBox 8"/>
          <p:cNvSpPr txBox="1"/>
          <p:nvPr/>
        </p:nvSpPr>
        <p:spPr>
          <a:xfrm>
            <a:off x="786384" y="2734056"/>
            <a:ext cx="6309360" cy="457200"/>
          </a:xfrm>
          <a:prstGeom prst="rect">
            <a:avLst/>
          </a:prstGeom>
          <a:noFill/>
        </p:spPr>
        <p:txBody>
          <a:bodyPr wrap="square" lIns="0" rIns="0" tIns="0" bIns="0">
            <a:spAutoFit/>
          </a:bodyPr>
          <a:lstStyle/>
          <a:p>
            <a:pPr>
              <a:spcBef>
                <a:spcPts val="0"/>
              </a:spcBef>
              <a:spcAft>
                <a:spcPts val="0"/>
              </a:spcAft>
            </a:pPr>
            <a:r>
              <a:rPr sz="1150" b="0" i="0">
                <a:solidFill>
                  <a:srgbClr val="9FB3BD"/>
                </a:solidFill>
                <a:latin typeface="Segoe UI"/>
              </a:rPr>
              <a:t>If they cannot finish, the business has a problem, even if the CPU graphs look fine.</a:t>
            </a:r>
          </a:p>
        </p:txBody>
      </p:sp>
      <p:sp>
        <p:nvSpPr>
          <p:cNvPr id="10" name="TextBox 9"/>
          <p:cNvSpPr txBox="1"/>
          <p:nvPr/>
        </p:nvSpPr>
        <p:spPr>
          <a:xfrm>
            <a:off x="566928" y="3511296"/>
            <a:ext cx="548640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That person might be:</a:t>
            </a:r>
          </a:p>
        </p:txBody>
      </p:sp>
      <p:sp>
        <p:nvSpPr>
          <p:cNvPr id="11" name="Rectangle 10"/>
          <p:cNvSpPr/>
          <p:nvPr/>
        </p:nvSpPr>
        <p:spPr>
          <a:xfrm>
            <a:off x="566928" y="3895344"/>
            <a:ext cx="3246120" cy="4572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8096" y="4050792"/>
            <a:ext cx="137160" cy="13716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6" y="4014216"/>
            <a:ext cx="274320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buying something online</a:t>
            </a:r>
          </a:p>
        </p:txBody>
      </p:sp>
      <p:sp>
        <p:nvSpPr>
          <p:cNvPr id="14" name="Rectangle 13"/>
          <p:cNvSpPr/>
          <p:nvPr/>
        </p:nvSpPr>
        <p:spPr>
          <a:xfrm>
            <a:off x="3995928" y="3895344"/>
            <a:ext cx="3246120" cy="4572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197096" y="4050792"/>
            <a:ext cx="137160" cy="13716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1416" y="4014216"/>
            <a:ext cx="274320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transferring money</a:t>
            </a:r>
          </a:p>
        </p:txBody>
      </p:sp>
      <p:sp>
        <p:nvSpPr>
          <p:cNvPr id="17" name="Rectangle 16"/>
          <p:cNvSpPr/>
          <p:nvPr/>
        </p:nvSpPr>
        <p:spPr>
          <a:xfrm>
            <a:off x="566928" y="4462272"/>
            <a:ext cx="3246120" cy="4572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68096" y="4617720"/>
            <a:ext cx="137160" cy="13716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4581144"/>
            <a:ext cx="274320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checking grades</a:t>
            </a:r>
          </a:p>
        </p:txBody>
      </p:sp>
      <p:sp>
        <p:nvSpPr>
          <p:cNvPr id="20" name="Rectangle 19"/>
          <p:cNvSpPr/>
          <p:nvPr/>
        </p:nvSpPr>
        <p:spPr>
          <a:xfrm>
            <a:off x="3995928" y="4462272"/>
            <a:ext cx="3246120" cy="4572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197096" y="4617720"/>
            <a:ext cx="137160" cy="13716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1416" y="4581144"/>
            <a:ext cx="274320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filing a support ticket</a:t>
            </a:r>
          </a:p>
        </p:txBody>
      </p:sp>
      <p:sp>
        <p:nvSpPr>
          <p:cNvPr id="23" name="Rectangle 22"/>
          <p:cNvSpPr/>
          <p:nvPr/>
        </p:nvSpPr>
        <p:spPr>
          <a:xfrm>
            <a:off x="7607808" y="1682496"/>
            <a:ext cx="4023360" cy="16002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07808" y="1682496"/>
            <a:ext cx="44450" cy="16002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7264" y="1837944"/>
            <a:ext cx="3584448" cy="1307592"/>
          </a:xfrm>
          <a:prstGeom prst="rect">
            <a:avLst/>
          </a:prstGeom>
          <a:noFill/>
        </p:spPr>
        <p:txBody>
          <a:bodyPr wrap="square" lIns="0" rIns="0" tIns="0" bIns="0">
            <a:spAutoFit/>
          </a:bodyPr>
          <a:lstStyle/>
          <a:p>
            <a:pPr>
              <a:spcBef>
                <a:spcPts val="0"/>
              </a:spcBef>
              <a:spcAft>
                <a:spcPts val="600"/>
              </a:spcAft>
            </a:pPr>
            <a:r>
              <a:rPr sz="1000" b="1" i="0">
                <a:solidFill>
                  <a:srgbClr val="1F7A99"/>
                </a:solidFill>
                <a:latin typeface="Segoe UI"/>
              </a:rPr>
              <a:t>SIMPLE RULE</a:t>
            </a:r>
          </a:p>
          <a:p>
            <a:pPr>
              <a:spcBef>
                <a:spcPts val="0"/>
              </a:spcBef>
              <a:spcAft>
                <a:spcPts val="400"/>
              </a:spcAft>
            </a:pPr>
            <a:r>
              <a:rPr sz="1300" b="0" i="0">
                <a:solidFill>
                  <a:srgbClr val="17262E"/>
                </a:solidFill>
                <a:latin typeface="Segoe UI"/>
              </a:rPr>
              <a:t>We monitor so we know when real users cannot do the thing they came to do.</a:t>
            </a:r>
          </a:p>
        </p:txBody>
      </p:sp>
      <p:sp>
        <p:nvSpPr>
          <p:cNvPr id="26" name="Rectangle 25"/>
          <p:cNvSpPr/>
          <p:nvPr/>
        </p:nvSpPr>
        <p:spPr>
          <a:xfrm>
            <a:off x="7607808" y="3465576"/>
            <a:ext cx="4023360" cy="1874519"/>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607808" y="3465576"/>
            <a:ext cx="44450" cy="1874519"/>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7264" y="3621024"/>
            <a:ext cx="3584448" cy="1581911"/>
          </a:xfrm>
          <a:prstGeom prst="rect">
            <a:avLst/>
          </a:prstGeom>
          <a:noFill/>
        </p:spPr>
        <p:txBody>
          <a:bodyPr wrap="square" lIns="0" rIns="0" tIns="0" bIns="0">
            <a:spAutoFit/>
          </a:bodyPr>
          <a:lstStyle/>
          <a:p>
            <a:pPr>
              <a:spcBef>
                <a:spcPts val="0"/>
              </a:spcBef>
              <a:spcAft>
                <a:spcPts val="600"/>
              </a:spcAft>
            </a:pPr>
            <a:r>
              <a:rPr sz="1000" b="1" i="0">
                <a:solidFill>
                  <a:srgbClr val="B97708"/>
                </a:solidFill>
                <a:latin typeface="Segoe UI"/>
              </a:rPr>
              <a:t>INTERVIEW ONE-LINER</a:t>
            </a:r>
          </a:p>
          <a:p>
            <a:pPr>
              <a:spcBef>
                <a:spcPts val="0"/>
              </a:spcBef>
              <a:spcAft>
                <a:spcPts val="400"/>
              </a:spcAft>
            </a:pPr>
            <a:r>
              <a:rPr sz="1200" b="0" i="0">
                <a:solidFill>
                  <a:srgbClr val="17262E"/>
                </a:solidFill>
                <a:latin typeface="Segoe UI"/>
              </a:rPr>
              <a:t>"I set up monitoring based on whether customers can successfully use the product, not only on whether servers look busy."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Monitoring vs observability</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You need both. They answer different questions.</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a:t>
            </a:r>
          </a:p>
        </p:txBody>
      </p:sp>
      <p:sp>
        <p:nvSpPr>
          <p:cNvPr id="7" name="Rectangle 6"/>
          <p:cNvSpPr/>
          <p:nvPr/>
        </p:nvSpPr>
        <p:spPr>
          <a:xfrm>
            <a:off x="566928" y="1682496"/>
            <a:ext cx="5394960" cy="30632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8" y="1984248"/>
            <a:ext cx="173736" cy="173736"/>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33856" y="1883664"/>
            <a:ext cx="4480560" cy="365760"/>
          </a:xfrm>
          <a:prstGeom prst="rect">
            <a:avLst/>
          </a:prstGeom>
          <a:noFill/>
        </p:spPr>
        <p:txBody>
          <a:bodyPr wrap="square" lIns="0" rIns="0" tIns="0" bIns="0">
            <a:spAutoFit/>
          </a:bodyPr>
          <a:lstStyle/>
          <a:p>
            <a:pPr>
              <a:spcBef>
                <a:spcPts val="0"/>
              </a:spcBef>
              <a:spcAft>
                <a:spcPts val="0"/>
              </a:spcAft>
            </a:pPr>
            <a:r>
              <a:rPr sz="1900" b="1" i="0">
                <a:solidFill>
                  <a:srgbClr val="17262E"/>
                </a:solidFill>
                <a:latin typeface="Segoe UI"/>
              </a:rPr>
              <a:t>Monitoring</a:t>
            </a:r>
          </a:p>
        </p:txBody>
      </p:sp>
      <p:sp>
        <p:nvSpPr>
          <p:cNvPr id="10" name="TextBox 9"/>
          <p:cNvSpPr txBox="1"/>
          <p:nvPr/>
        </p:nvSpPr>
        <p:spPr>
          <a:xfrm>
            <a:off x="841248" y="2459736"/>
            <a:ext cx="4846320" cy="548640"/>
          </a:xfrm>
          <a:prstGeom prst="rect">
            <a:avLst/>
          </a:prstGeom>
          <a:noFill/>
        </p:spPr>
        <p:txBody>
          <a:bodyPr wrap="square" lIns="0" rIns="0" tIns="0" bIns="0">
            <a:spAutoFit/>
          </a:bodyPr>
          <a:lstStyle/>
          <a:p>
            <a:pPr>
              <a:spcBef>
                <a:spcPts val="0"/>
              </a:spcBef>
              <a:spcAft>
                <a:spcPts val="0"/>
              </a:spcAft>
            </a:pPr>
            <a:r>
              <a:rPr sz="1200" b="0" i="0">
                <a:solidFill>
                  <a:srgbClr val="17262E"/>
                </a:solidFill>
                <a:latin typeface="Segoe UI"/>
              </a:rPr>
              <a:t>Watching for known bad conditions and telling you about them.</a:t>
            </a:r>
          </a:p>
        </p:txBody>
      </p:sp>
      <p:sp>
        <p:nvSpPr>
          <p:cNvPr id="11" name="Rectangle 10"/>
          <p:cNvSpPr/>
          <p:nvPr/>
        </p:nvSpPr>
        <p:spPr>
          <a:xfrm>
            <a:off x="841248" y="3163824"/>
            <a:ext cx="484632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310128"/>
            <a:ext cx="4480560" cy="640080"/>
          </a:xfrm>
          <a:prstGeom prst="rect">
            <a:avLst/>
          </a:prstGeom>
          <a:noFill/>
        </p:spPr>
        <p:txBody>
          <a:bodyPr wrap="square" lIns="0" rIns="0" tIns="0" bIns="0">
            <a:spAutoFit/>
          </a:bodyPr>
          <a:lstStyle/>
          <a:p>
            <a:pPr>
              <a:spcBef>
                <a:spcPts val="0"/>
              </a:spcBef>
              <a:spcAft>
                <a:spcPts val="0"/>
              </a:spcAft>
            </a:pPr>
            <a:r>
              <a:rPr sz="1100" b="0" i="1">
                <a:solidFill>
                  <a:srgbClr val="5B6B73"/>
                </a:solidFill>
                <a:latin typeface="Segoe UI"/>
              </a:rPr>
              <a:t>"Error rate on checkout is above 5% for 10 minutes. Page the on-call."</a:t>
            </a:r>
          </a:p>
        </p:txBody>
      </p:sp>
      <p:sp>
        <p:nvSpPr>
          <p:cNvPr id="13" name="TextBox 12"/>
          <p:cNvSpPr txBox="1"/>
          <p:nvPr/>
        </p:nvSpPr>
        <p:spPr>
          <a:xfrm>
            <a:off x="841248" y="4197096"/>
            <a:ext cx="4846320" cy="365760"/>
          </a:xfrm>
          <a:prstGeom prst="rect">
            <a:avLst/>
          </a:prstGeom>
          <a:noFill/>
        </p:spPr>
        <p:txBody>
          <a:bodyPr wrap="square" lIns="0" rIns="0" tIns="0" bIns="0">
            <a:spAutoFit/>
          </a:bodyPr>
          <a:lstStyle/>
          <a:p>
            <a:pPr>
              <a:spcBef>
                <a:spcPts val="0"/>
              </a:spcBef>
              <a:spcAft>
                <a:spcPts val="0"/>
              </a:spcAft>
            </a:pPr>
            <a:r>
              <a:rPr sz="1300" b="1" i="0">
                <a:solidFill>
                  <a:srgbClr val="1F7A99"/>
                </a:solidFill>
                <a:latin typeface="Segoe UI"/>
              </a:rPr>
              <a:t>It wakes you up.</a:t>
            </a:r>
          </a:p>
        </p:txBody>
      </p:sp>
      <p:sp>
        <p:nvSpPr>
          <p:cNvPr id="14" name="Rectangle 13"/>
          <p:cNvSpPr/>
          <p:nvPr/>
        </p:nvSpPr>
        <p:spPr>
          <a:xfrm>
            <a:off x="6236208" y="1682496"/>
            <a:ext cx="5394960" cy="30632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10528" y="1984248"/>
            <a:ext cx="173736" cy="173736"/>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03136" y="1883664"/>
            <a:ext cx="4480560" cy="365760"/>
          </a:xfrm>
          <a:prstGeom prst="rect">
            <a:avLst/>
          </a:prstGeom>
          <a:noFill/>
        </p:spPr>
        <p:txBody>
          <a:bodyPr wrap="square" lIns="0" rIns="0" tIns="0" bIns="0">
            <a:spAutoFit/>
          </a:bodyPr>
          <a:lstStyle/>
          <a:p>
            <a:pPr>
              <a:spcBef>
                <a:spcPts val="0"/>
              </a:spcBef>
              <a:spcAft>
                <a:spcPts val="0"/>
              </a:spcAft>
            </a:pPr>
            <a:r>
              <a:rPr sz="1900" b="1" i="0">
                <a:solidFill>
                  <a:srgbClr val="17262E"/>
                </a:solidFill>
                <a:latin typeface="Segoe UI"/>
              </a:rPr>
              <a:t>Observability</a:t>
            </a:r>
          </a:p>
        </p:txBody>
      </p:sp>
      <p:sp>
        <p:nvSpPr>
          <p:cNvPr id="17" name="TextBox 16"/>
          <p:cNvSpPr txBox="1"/>
          <p:nvPr/>
        </p:nvSpPr>
        <p:spPr>
          <a:xfrm>
            <a:off x="6510528" y="2459736"/>
            <a:ext cx="4846320" cy="548640"/>
          </a:xfrm>
          <a:prstGeom prst="rect">
            <a:avLst/>
          </a:prstGeom>
          <a:noFill/>
        </p:spPr>
        <p:txBody>
          <a:bodyPr wrap="square" lIns="0" rIns="0" tIns="0" bIns="0">
            <a:spAutoFit/>
          </a:bodyPr>
          <a:lstStyle/>
          <a:p>
            <a:pPr>
              <a:spcBef>
                <a:spcPts val="0"/>
              </a:spcBef>
              <a:spcAft>
                <a:spcPts val="0"/>
              </a:spcAft>
            </a:pPr>
            <a:r>
              <a:rPr sz="1200" b="0" i="0">
                <a:solidFill>
                  <a:srgbClr val="17262E"/>
                </a:solidFill>
                <a:latin typeface="Segoe UI"/>
              </a:rPr>
              <a:t>Being able to ask new questions when something unfamiliar breaks.</a:t>
            </a:r>
          </a:p>
        </p:txBody>
      </p:sp>
      <p:sp>
        <p:nvSpPr>
          <p:cNvPr id="18" name="Rectangle 17"/>
          <p:cNvSpPr/>
          <p:nvPr/>
        </p:nvSpPr>
        <p:spPr>
          <a:xfrm>
            <a:off x="6510528" y="3163824"/>
            <a:ext cx="484632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93408" y="3310128"/>
            <a:ext cx="4480560" cy="640080"/>
          </a:xfrm>
          <a:prstGeom prst="rect">
            <a:avLst/>
          </a:prstGeom>
          <a:noFill/>
        </p:spPr>
        <p:txBody>
          <a:bodyPr wrap="square" lIns="0" rIns="0" tIns="0" bIns="0">
            <a:spAutoFit/>
          </a:bodyPr>
          <a:lstStyle/>
          <a:p>
            <a:pPr>
              <a:spcBef>
                <a:spcPts val="0"/>
              </a:spcBef>
              <a:spcAft>
                <a:spcPts val="0"/>
              </a:spcAft>
            </a:pPr>
            <a:r>
              <a:rPr sz="1100" b="0" i="1">
                <a:solidFill>
                  <a:srgbClr val="5B6B73"/>
                </a:solidFill>
                <a:latin typeface="Segoe UI"/>
              </a:rPr>
              <a:t>Metrics + logs + traces together, so you can follow a problem you have never seen before.</a:t>
            </a:r>
          </a:p>
        </p:txBody>
      </p:sp>
      <p:sp>
        <p:nvSpPr>
          <p:cNvPr id="20" name="TextBox 19"/>
          <p:cNvSpPr txBox="1"/>
          <p:nvPr/>
        </p:nvSpPr>
        <p:spPr>
          <a:xfrm>
            <a:off x="6510528" y="4197096"/>
            <a:ext cx="4846320" cy="365760"/>
          </a:xfrm>
          <a:prstGeom prst="rect">
            <a:avLst/>
          </a:prstGeom>
          <a:noFill/>
        </p:spPr>
        <p:txBody>
          <a:bodyPr wrap="square" lIns="0" rIns="0" tIns="0" bIns="0">
            <a:spAutoFit/>
          </a:bodyPr>
          <a:lstStyle/>
          <a:p>
            <a:pPr>
              <a:spcBef>
                <a:spcPts val="0"/>
              </a:spcBef>
              <a:spcAft>
                <a:spcPts val="0"/>
              </a:spcAft>
            </a:pPr>
            <a:r>
              <a:rPr sz="1300" b="1" i="0">
                <a:solidFill>
                  <a:srgbClr val="B97708"/>
                </a:solidFill>
                <a:latin typeface="Segoe UI"/>
              </a:rPr>
              <a:t>It tells you why.</a:t>
            </a:r>
          </a:p>
        </p:txBody>
      </p:sp>
      <p:sp>
        <p:nvSpPr>
          <p:cNvPr id="21" name="Rectangle 20"/>
          <p:cNvSpPr/>
          <p:nvPr/>
        </p:nvSpPr>
        <p:spPr>
          <a:xfrm>
            <a:off x="566928" y="4974336"/>
            <a:ext cx="11064240" cy="6858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129784"/>
            <a:ext cx="10625328" cy="393192"/>
          </a:xfrm>
          <a:prstGeom prst="rect">
            <a:avLst/>
          </a:prstGeom>
          <a:noFill/>
        </p:spPr>
        <p:txBody>
          <a:bodyPr wrap="square" lIns="0" rIns="0" tIns="0" bIns="0">
            <a:spAutoFit/>
          </a:bodyPr>
          <a:lstStyle/>
          <a:p>
            <a:pPr>
              <a:spcBef>
                <a:spcPts val="0"/>
              </a:spcBef>
              <a:spcAft>
                <a:spcPts val="400"/>
              </a:spcAft>
            </a:pPr>
            <a:r>
              <a:rPr sz="1300" b="0" i="0">
                <a:solidFill>
                  <a:srgbClr val="FFFFFF"/>
                </a:solidFill>
                <a:latin typeface="Segoe UI"/>
              </a:rPr>
              <a:t>An alert that fires with no way to investigate is a smoke alarm with no lights on in the house.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Metrics, logs and traces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Real incidents start with a complaint or an alert, never with "p95 is bad".</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6</a:t>
            </a:r>
          </a:p>
        </p:txBody>
      </p:sp>
      <p:sp>
        <p:nvSpPr>
          <p:cNvPr id="7" name="Rectangle 6"/>
          <p:cNvSpPr/>
          <p:nvPr/>
        </p:nvSpPr>
        <p:spPr>
          <a:xfrm>
            <a:off x="566928" y="1682496"/>
            <a:ext cx="3566160" cy="2286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956816"/>
            <a:ext cx="173736" cy="173736"/>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1856232"/>
            <a:ext cx="2743200" cy="365760"/>
          </a:xfrm>
          <a:prstGeom prst="rect">
            <a:avLst/>
          </a:prstGeom>
          <a:noFill/>
        </p:spPr>
        <p:txBody>
          <a:bodyPr wrap="square" lIns="0" rIns="0" tIns="0" bIns="0">
            <a:spAutoFit/>
          </a:bodyPr>
          <a:lstStyle/>
          <a:p>
            <a:pPr>
              <a:spcBef>
                <a:spcPts val="0"/>
              </a:spcBef>
              <a:spcAft>
                <a:spcPts val="0"/>
              </a:spcAft>
            </a:pPr>
            <a:r>
              <a:rPr sz="1800" b="1" i="0">
                <a:solidFill>
                  <a:srgbClr val="17262E"/>
                </a:solidFill>
                <a:latin typeface="Segoe UI"/>
              </a:rPr>
              <a:t>Metrics</a:t>
            </a:r>
          </a:p>
        </p:txBody>
      </p:sp>
      <p:sp>
        <p:nvSpPr>
          <p:cNvPr id="10" name="TextBox 9"/>
          <p:cNvSpPr txBox="1"/>
          <p:nvPr/>
        </p:nvSpPr>
        <p:spPr>
          <a:xfrm>
            <a:off x="822960" y="2414016"/>
            <a:ext cx="3054096"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Summary numbers over time: request count, error %, how slow.</a:t>
            </a:r>
          </a:p>
        </p:txBody>
      </p:sp>
      <p:sp>
        <p:nvSpPr>
          <p:cNvPr id="11" name="Rectangle 10"/>
          <p:cNvSpPr/>
          <p:nvPr/>
        </p:nvSpPr>
        <p:spPr>
          <a:xfrm>
            <a:off x="822960" y="3145536"/>
            <a:ext cx="3054096"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3291840"/>
            <a:ext cx="2743200" cy="457200"/>
          </a:xfrm>
          <a:prstGeom prst="rect">
            <a:avLst/>
          </a:prstGeom>
          <a:noFill/>
        </p:spPr>
        <p:txBody>
          <a:bodyPr wrap="square" lIns="0" rIns="0" tIns="0" bIns="0">
            <a:spAutoFit/>
          </a:bodyPr>
          <a:lstStyle/>
          <a:p>
            <a:pPr>
              <a:spcBef>
                <a:spcPts val="0"/>
              </a:spcBef>
              <a:spcAft>
                <a:spcPts val="0"/>
              </a:spcAft>
            </a:pPr>
            <a:r>
              <a:rPr sz="1150" b="1" i="0">
                <a:solidFill>
                  <a:srgbClr val="1F7A99"/>
                </a:solidFill>
                <a:latin typeface="Segoe UI"/>
              </a:rPr>
              <a:t>Confirm how big the problem is.</a:t>
            </a:r>
          </a:p>
        </p:txBody>
      </p:sp>
      <p:sp>
        <p:nvSpPr>
          <p:cNvPr id="13" name="Rectangle 12"/>
          <p:cNvSpPr/>
          <p:nvPr/>
        </p:nvSpPr>
        <p:spPr>
          <a:xfrm>
            <a:off x="4315968" y="1682496"/>
            <a:ext cx="3566160" cy="2286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72000" y="1956816"/>
            <a:ext cx="173736" cy="173736"/>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64608" y="1856232"/>
            <a:ext cx="2743200" cy="365760"/>
          </a:xfrm>
          <a:prstGeom prst="rect">
            <a:avLst/>
          </a:prstGeom>
          <a:noFill/>
        </p:spPr>
        <p:txBody>
          <a:bodyPr wrap="square" lIns="0" rIns="0" tIns="0" bIns="0">
            <a:spAutoFit/>
          </a:bodyPr>
          <a:lstStyle/>
          <a:p>
            <a:pPr>
              <a:spcBef>
                <a:spcPts val="0"/>
              </a:spcBef>
              <a:spcAft>
                <a:spcPts val="0"/>
              </a:spcAft>
            </a:pPr>
            <a:r>
              <a:rPr sz="1800" b="1" i="0">
                <a:solidFill>
                  <a:srgbClr val="17262E"/>
                </a:solidFill>
                <a:latin typeface="Segoe UI"/>
              </a:rPr>
              <a:t>Traces</a:t>
            </a:r>
          </a:p>
        </p:txBody>
      </p:sp>
      <p:sp>
        <p:nvSpPr>
          <p:cNvPr id="16" name="TextBox 15"/>
          <p:cNvSpPr txBox="1"/>
          <p:nvPr/>
        </p:nvSpPr>
        <p:spPr>
          <a:xfrm>
            <a:off x="4572000" y="2414016"/>
            <a:ext cx="3054096"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One request followed through the system, step by step.</a:t>
            </a:r>
          </a:p>
        </p:txBody>
      </p:sp>
      <p:sp>
        <p:nvSpPr>
          <p:cNvPr id="17" name="Rectangle 16"/>
          <p:cNvSpPr/>
          <p:nvPr/>
        </p:nvSpPr>
        <p:spPr>
          <a:xfrm>
            <a:off x="4572000" y="3145536"/>
            <a:ext cx="3054096"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27448" y="3291840"/>
            <a:ext cx="2743200" cy="457200"/>
          </a:xfrm>
          <a:prstGeom prst="rect">
            <a:avLst/>
          </a:prstGeom>
          <a:noFill/>
        </p:spPr>
        <p:txBody>
          <a:bodyPr wrap="square" lIns="0" rIns="0" tIns="0" bIns="0">
            <a:spAutoFit/>
          </a:bodyPr>
          <a:lstStyle/>
          <a:p>
            <a:pPr>
              <a:spcBef>
                <a:spcPts val="0"/>
              </a:spcBef>
              <a:spcAft>
                <a:spcPts val="0"/>
              </a:spcAft>
            </a:pPr>
            <a:r>
              <a:rPr sz="1150" b="1" i="0">
                <a:solidFill>
                  <a:srgbClr val="B97708"/>
                </a:solidFill>
                <a:latin typeface="Segoe UI"/>
              </a:rPr>
              <a:t>Find which step is slow or failing.</a:t>
            </a:r>
          </a:p>
        </p:txBody>
      </p:sp>
      <p:sp>
        <p:nvSpPr>
          <p:cNvPr id="19" name="Rectangle 18"/>
          <p:cNvSpPr/>
          <p:nvPr/>
        </p:nvSpPr>
        <p:spPr>
          <a:xfrm>
            <a:off x="8065008" y="1682496"/>
            <a:ext cx="3566160" cy="2286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21040" y="1956816"/>
            <a:ext cx="173736" cy="173736"/>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13648" y="1856232"/>
            <a:ext cx="2743200" cy="365760"/>
          </a:xfrm>
          <a:prstGeom prst="rect">
            <a:avLst/>
          </a:prstGeom>
          <a:noFill/>
        </p:spPr>
        <p:txBody>
          <a:bodyPr wrap="square" lIns="0" rIns="0" tIns="0" bIns="0">
            <a:spAutoFit/>
          </a:bodyPr>
          <a:lstStyle/>
          <a:p>
            <a:pPr>
              <a:spcBef>
                <a:spcPts val="0"/>
              </a:spcBef>
              <a:spcAft>
                <a:spcPts val="0"/>
              </a:spcAft>
            </a:pPr>
            <a:r>
              <a:rPr sz="1800" b="1" i="0">
                <a:solidFill>
                  <a:srgbClr val="17262E"/>
                </a:solidFill>
                <a:latin typeface="Segoe UI"/>
              </a:rPr>
              <a:t>Logs</a:t>
            </a:r>
          </a:p>
        </p:txBody>
      </p:sp>
      <p:sp>
        <p:nvSpPr>
          <p:cNvPr id="22" name="TextBox 21"/>
          <p:cNvSpPr txBox="1"/>
          <p:nvPr/>
        </p:nvSpPr>
        <p:spPr>
          <a:xfrm>
            <a:off x="8321040" y="2414016"/>
            <a:ext cx="3054096"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The detailed messages the application wrote.</a:t>
            </a:r>
          </a:p>
        </p:txBody>
      </p:sp>
      <p:sp>
        <p:nvSpPr>
          <p:cNvPr id="23" name="Rectangle 22"/>
          <p:cNvSpPr/>
          <p:nvPr/>
        </p:nvSpPr>
        <p:spPr>
          <a:xfrm>
            <a:off x="8321040" y="3145536"/>
            <a:ext cx="3054096"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76488" y="3291840"/>
            <a:ext cx="2743200" cy="457200"/>
          </a:xfrm>
          <a:prstGeom prst="rect">
            <a:avLst/>
          </a:prstGeom>
          <a:noFill/>
        </p:spPr>
        <p:txBody>
          <a:bodyPr wrap="square" lIns="0" rIns="0" tIns="0" bIns="0">
            <a:spAutoFit/>
          </a:bodyPr>
          <a:lstStyle/>
          <a:p>
            <a:pPr>
              <a:spcBef>
                <a:spcPts val="0"/>
              </a:spcBef>
              <a:spcAft>
                <a:spcPts val="0"/>
              </a:spcAft>
            </a:pPr>
            <a:r>
              <a:rPr sz="1150" b="1" i="0">
                <a:solidFill>
                  <a:srgbClr val="2E7D55"/>
                </a:solidFill>
                <a:latin typeface="Segoe UI"/>
              </a:rPr>
              <a:t>Get the exact error, once you know where to look.</a:t>
            </a:r>
          </a:p>
        </p:txBody>
      </p:sp>
      <p:sp>
        <p:nvSpPr>
          <p:cNvPr id="25" name="TextBox 24"/>
          <p:cNvSpPr txBox="1"/>
          <p:nvPr/>
        </p:nvSpPr>
        <p:spPr>
          <a:xfrm>
            <a:off x="566928" y="4151376"/>
            <a:ext cx="3657600" cy="274320"/>
          </a:xfrm>
          <a:prstGeom prst="rect">
            <a:avLst/>
          </a:prstGeom>
          <a:noFill/>
        </p:spPr>
        <p:txBody>
          <a:bodyPr wrap="square" lIns="0" rIns="0" tIns="0" bIns="0">
            <a:spAutoFit/>
          </a:bodyPr>
          <a:lstStyle/>
          <a:p>
            <a:pPr>
              <a:spcBef>
                <a:spcPts val="0"/>
              </a:spcBef>
              <a:spcAft>
                <a:spcPts val="0"/>
              </a:spcAft>
            </a:pPr>
            <a:r>
              <a:rPr sz="1300" b="1" i="0">
                <a:solidFill>
                  <a:srgbClr val="17262E"/>
                </a:solidFill>
                <a:latin typeface="Segoe UI"/>
              </a:rPr>
              <a:t>The usual order</a:t>
            </a:r>
          </a:p>
        </p:txBody>
      </p:sp>
      <p:sp>
        <p:nvSpPr>
          <p:cNvPr id="26" name="Rectangle 25"/>
          <p:cNvSpPr/>
          <p:nvPr/>
        </p:nvSpPr>
        <p:spPr>
          <a:xfrm>
            <a:off x="566928" y="4498848"/>
            <a:ext cx="2606040" cy="54864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4654296"/>
            <a:ext cx="2331720" cy="274320"/>
          </a:xfrm>
          <a:prstGeom prst="rect">
            <a:avLst/>
          </a:prstGeom>
          <a:noFill/>
        </p:spPr>
        <p:txBody>
          <a:bodyPr wrap="square" lIns="0" rIns="0" tIns="0" bIns="0">
            <a:spAutoFit/>
          </a:bodyPr>
          <a:lstStyle/>
          <a:p>
            <a:pPr algn="ctr">
              <a:spcBef>
                <a:spcPts val="0"/>
              </a:spcBef>
              <a:spcAft>
                <a:spcPts val="0"/>
              </a:spcAft>
            </a:pPr>
            <a:r>
              <a:rPr sz="1100" b="1" i="0">
                <a:solidFill>
                  <a:srgbClr val="FFFFFF"/>
                </a:solidFill>
                <a:latin typeface="Segoe UI"/>
              </a:rPr>
              <a:t>alert or user complaint</a:t>
            </a:r>
          </a:p>
        </p:txBody>
      </p:sp>
      <p:sp>
        <p:nvSpPr>
          <p:cNvPr id="28" name="TextBox 27"/>
          <p:cNvSpPr txBox="1"/>
          <p:nvPr/>
        </p:nvSpPr>
        <p:spPr>
          <a:xfrm>
            <a:off x="3200400" y="4645152"/>
            <a:ext cx="182880" cy="27432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a:t>
            </a:r>
          </a:p>
        </p:txBody>
      </p:sp>
      <p:sp>
        <p:nvSpPr>
          <p:cNvPr id="29" name="Rectangle 28"/>
          <p:cNvSpPr/>
          <p:nvPr/>
        </p:nvSpPr>
        <p:spPr>
          <a:xfrm>
            <a:off x="3374136" y="4498848"/>
            <a:ext cx="2606040" cy="548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11296" y="4654296"/>
            <a:ext cx="2331720" cy="274320"/>
          </a:xfrm>
          <a:prstGeom prst="rect">
            <a:avLst/>
          </a:prstGeom>
          <a:noFill/>
        </p:spPr>
        <p:txBody>
          <a:bodyPr wrap="square" lIns="0" rIns="0" tIns="0" bIns="0">
            <a:spAutoFit/>
          </a:bodyPr>
          <a:lstStyle/>
          <a:p>
            <a:pPr algn="ctr">
              <a:spcBef>
                <a:spcPts val="0"/>
              </a:spcBef>
              <a:spcAft>
                <a:spcPts val="0"/>
              </a:spcAft>
            </a:pPr>
            <a:r>
              <a:rPr sz="1100" b="1" i="0">
                <a:solidFill>
                  <a:srgbClr val="17262E"/>
                </a:solidFill>
                <a:latin typeface="Segoe UI"/>
              </a:rPr>
              <a:t>metrics: how big?</a:t>
            </a:r>
          </a:p>
        </p:txBody>
      </p:sp>
      <p:sp>
        <p:nvSpPr>
          <p:cNvPr id="31" name="TextBox 30"/>
          <p:cNvSpPr txBox="1"/>
          <p:nvPr/>
        </p:nvSpPr>
        <p:spPr>
          <a:xfrm>
            <a:off x="6007608" y="4645152"/>
            <a:ext cx="182880" cy="27432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a:t>
            </a:r>
          </a:p>
        </p:txBody>
      </p:sp>
      <p:sp>
        <p:nvSpPr>
          <p:cNvPr id="32" name="Rectangle 31"/>
          <p:cNvSpPr/>
          <p:nvPr/>
        </p:nvSpPr>
        <p:spPr>
          <a:xfrm>
            <a:off x="6181344" y="4498848"/>
            <a:ext cx="2606040" cy="548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18504" y="4654296"/>
            <a:ext cx="2331720" cy="274320"/>
          </a:xfrm>
          <a:prstGeom prst="rect">
            <a:avLst/>
          </a:prstGeom>
          <a:noFill/>
        </p:spPr>
        <p:txBody>
          <a:bodyPr wrap="square" lIns="0" rIns="0" tIns="0" bIns="0">
            <a:spAutoFit/>
          </a:bodyPr>
          <a:lstStyle/>
          <a:p>
            <a:pPr algn="ctr">
              <a:spcBef>
                <a:spcPts val="0"/>
              </a:spcBef>
              <a:spcAft>
                <a:spcPts val="0"/>
              </a:spcAft>
            </a:pPr>
            <a:r>
              <a:rPr sz="1100" b="1" i="0">
                <a:solidFill>
                  <a:srgbClr val="17262E"/>
                </a:solidFill>
                <a:latin typeface="Segoe UI"/>
              </a:rPr>
              <a:t>traces: where?</a:t>
            </a:r>
          </a:p>
        </p:txBody>
      </p:sp>
      <p:sp>
        <p:nvSpPr>
          <p:cNvPr id="34" name="TextBox 33"/>
          <p:cNvSpPr txBox="1"/>
          <p:nvPr/>
        </p:nvSpPr>
        <p:spPr>
          <a:xfrm>
            <a:off x="8814816" y="4645152"/>
            <a:ext cx="182880" cy="27432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a:t>
            </a:r>
          </a:p>
        </p:txBody>
      </p:sp>
      <p:sp>
        <p:nvSpPr>
          <p:cNvPr id="35" name="Rectangle 34"/>
          <p:cNvSpPr/>
          <p:nvPr/>
        </p:nvSpPr>
        <p:spPr>
          <a:xfrm>
            <a:off x="8988552" y="4498848"/>
            <a:ext cx="2606040" cy="548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25712" y="4654296"/>
            <a:ext cx="2331720" cy="274320"/>
          </a:xfrm>
          <a:prstGeom prst="rect">
            <a:avLst/>
          </a:prstGeom>
          <a:noFill/>
        </p:spPr>
        <p:txBody>
          <a:bodyPr wrap="square" lIns="0" rIns="0" tIns="0" bIns="0">
            <a:spAutoFit/>
          </a:bodyPr>
          <a:lstStyle/>
          <a:p>
            <a:pPr algn="ctr">
              <a:spcBef>
                <a:spcPts val="0"/>
              </a:spcBef>
              <a:spcAft>
                <a:spcPts val="0"/>
              </a:spcAft>
            </a:pPr>
            <a:r>
              <a:rPr sz="1100" b="1" i="0">
                <a:solidFill>
                  <a:srgbClr val="17262E"/>
                </a:solidFill>
                <a:latin typeface="Segoe UI"/>
              </a:rPr>
              <a:t>logs: exact detail</a:t>
            </a:r>
          </a:p>
        </p:txBody>
      </p:sp>
      <p:sp>
        <p:nvSpPr>
          <p:cNvPr id="37" name="Rectangle 36"/>
          <p:cNvSpPr/>
          <p:nvPr/>
        </p:nvSpPr>
        <p:spPr>
          <a:xfrm>
            <a:off x="566928" y="5202936"/>
            <a:ext cx="1106424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5358384"/>
            <a:ext cx="10625328" cy="274320"/>
          </a:xfrm>
          <a:prstGeom prst="rect">
            <a:avLst/>
          </a:prstGeom>
          <a:noFill/>
        </p:spPr>
        <p:txBody>
          <a:bodyPr wrap="square" lIns="0" rIns="0" tIns="0" bIns="0">
            <a:spAutoFit/>
          </a:bodyPr>
          <a:lstStyle/>
          <a:p>
            <a:pPr>
              <a:spcAft>
                <a:spcPts val="400"/>
              </a:spcAft>
            </a:pPr>
            <a:r>
              <a:rPr sz="1150" b="1">
                <a:solidFill>
                  <a:srgbClr val="1F7A99"/>
                </a:solidFill>
                <a:latin typeface="Segoe UI"/>
              </a:rPr>
              <a:t>In this lab:  </a:t>
            </a:r>
            <a:r>
              <a:rPr sz="1150" b="0">
                <a:solidFill>
                  <a:srgbClr val="17262E"/>
                </a:solidFill>
                <a:latin typeface="Segoe UI"/>
              </a:rPr>
              <a:t>Datadog carries all three. dd-trace links a trace from the browser through the backend to the Postgres query that was slow.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The four golden signals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Ask these four questions of every important service.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7</a:t>
            </a:r>
          </a:p>
        </p:txBody>
      </p:sp>
      <p:sp>
        <p:nvSpPr>
          <p:cNvPr id="7" name="Rectangle 6"/>
          <p:cNvSpPr/>
          <p:nvPr/>
        </p:nvSpPr>
        <p:spPr>
          <a:xfrm>
            <a:off x="566928" y="1682496"/>
            <a:ext cx="3657600" cy="1691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938528"/>
            <a:ext cx="457200" cy="45720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93392"/>
            <a:ext cx="457200" cy="457200"/>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1</a:t>
            </a:r>
          </a:p>
        </p:txBody>
      </p:sp>
      <p:sp>
        <p:nvSpPr>
          <p:cNvPr id="10" name="TextBox 9"/>
          <p:cNvSpPr txBox="1"/>
          <p:nvPr/>
        </p:nvSpPr>
        <p:spPr>
          <a:xfrm>
            <a:off x="1435608" y="2011680"/>
            <a:ext cx="2560320" cy="365760"/>
          </a:xfrm>
          <a:prstGeom prst="rect">
            <a:avLst/>
          </a:prstGeom>
          <a:noFill/>
        </p:spPr>
        <p:txBody>
          <a:bodyPr wrap="square" lIns="0" rIns="0" tIns="0" bIns="0">
            <a:spAutoFit/>
          </a:bodyPr>
          <a:lstStyle/>
          <a:p>
            <a:pPr>
              <a:spcBef>
                <a:spcPts val="0"/>
              </a:spcBef>
              <a:spcAft>
                <a:spcPts val="0"/>
              </a:spcAft>
            </a:pPr>
            <a:r>
              <a:rPr sz="1700" b="1" i="0">
                <a:solidFill>
                  <a:srgbClr val="17262E"/>
                </a:solidFill>
                <a:latin typeface="Segoe UI"/>
              </a:rPr>
              <a:t>Traffic</a:t>
            </a:r>
          </a:p>
        </p:txBody>
      </p:sp>
      <p:sp>
        <p:nvSpPr>
          <p:cNvPr id="11" name="TextBox 10"/>
          <p:cNvSpPr txBox="1"/>
          <p:nvPr/>
        </p:nvSpPr>
        <p:spPr>
          <a:xfrm>
            <a:off x="822960" y="2596896"/>
            <a:ext cx="3145536" cy="36576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How many requests are we getting?</a:t>
            </a:r>
          </a:p>
        </p:txBody>
      </p:sp>
      <p:sp>
        <p:nvSpPr>
          <p:cNvPr id="12" name="TextBox 11"/>
          <p:cNvSpPr txBox="1"/>
          <p:nvPr/>
        </p:nvSpPr>
        <p:spPr>
          <a:xfrm>
            <a:off x="822960" y="2944368"/>
            <a:ext cx="3145536" cy="32004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Consolas"/>
              </a:rPr>
              <a:t>requests per second, by endpoint</a:t>
            </a:r>
          </a:p>
        </p:txBody>
      </p:sp>
      <p:sp>
        <p:nvSpPr>
          <p:cNvPr id="13" name="Rectangle 12"/>
          <p:cNvSpPr/>
          <p:nvPr/>
        </p:nvSpPr>
        <p:spPr>
          <a:xfrm>
            <a:off x="4425696" y="1682496"/>
            <a:ext cx="3657600" cy="1691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81728" y="1938528"/>
            <a:ext cx="457200" cy="45720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1993392"/>
            <a:ext cx="457200" cy="457200"/>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2</a:t>
            </a:r>
          </a:p>
        </p:txBody>
      </p:sp>
      <p:sp>
        <p:nvSpPr>
          <p:cNvPr id="16" name="TextBox 15"/>
          <p:cNvSpPr txBox="1"/>
          <p:nvPr/>
        </p:nvSpPr>
        <p:spPr>
          <a:xfrm>
            <a:off x="5294376" y="2011680"/>
            <a:ext cx="2560320" cy="365760"/>
          </a:xfrm>
          <a:prstGeom prst="rect">
            <a:avLst/>
          </a:prstGeom>
          <a:noFill/>
        </p:spPr>
        <p:txBody>
          <a:bodyPr wrap="square" lIns="0" rIns="0" tIns="0" bIns="0">
            <a:spAutoFit/>
          </a:bodyPr>
          <a:lstStyle/>
          <a:p>
            <a:pPr>
              <a:spcBef>
                <a:spcPts val="0"/>
              </a:spcBef>
              <a:spcAft>
                <a:spcPts val="0"/>
              </a:spcAft>
            </a:pPr>
            <a:r>
              <a:rPr sz="1700" b="1" i="0">
                <a:solidFill>
                  <a:srgbClr val="17262E"/>
                </a:solidFill>
                <a:latin typeface="Segoe UI"/>
              </a:rPr>
              <a:t>Errors</a:t>
            </a:r>
          </a:p>
        </p:txBody>
      </p:sp>
      <p:sp>
        <p:nvSpPr>
          <p:cNvPr id="17" name="TextBox 16"/>
          <p:cNvSpPr txBox="1"/>
          <p:nvPr/>
        </p:nvSpPr>
        <p:spPr>
          <a:xfrm>
            <a:off x="4681728" y="2596896"/>
            <a:ext cx="3145536" cy="36576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What fraction of them are failing?</a:t>
            </a:r>
          </a:p>
        </p:txBody>
      </p:sp>
      <p:sp>
        <p:nvSpPr>
          <p:cNvPr id="18" name="TextBox 17"/>
          <p:cNvSpPr txBox="1"/>
          <p:nvPr/>
        </p:nvSpPr>
        <p:spPr>
          <a:xfrm>
            <a:off x="4681728" y="2944368"/>
            <a:ext cx="3145536" cy="32004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Consolas"/>
              </a:rPr>
              <a:t>5xx rate, failed checkouts</a:t>
            </a:r>
          </a:p>
        </p:txBody>
      </p:sp>
      <p:sp>
        <p:nvSpPr>
          <p:cNvPr id="19" name="Rectangle 18"/>
          <p:cNvSpPr/>
          <p:nvPr/>
        </p:nvSpPr>
        <p:spPr>
          <a:xfrm>
            <a:off x="566928" y="3557015"/>
            <a:ext cx="3657600" cy="1691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3813047"/>
            <a:ext cx="457200" cy="45720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867911"/>
            <a:ext cx="457200" cy="457200"/>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3</a:t>
            </a:r>
          </a:p>
        </p:txBody>
      </p:sp>
      <p:sp>
        <p:nvSpPr>
          <p:cNvPr id="22" name="TextBox 21"/>
          <p:cNvSpPr txBox="1"/>
          <p:nvPr/>
        </p:nvSpPr>
        <p:spPr>
          <a:xfrm>
            <a:off x="1435608" y="3886199"/>
            <a:ext cx="2560320" cy="365760"/>
          </a:xfrm>
          <a:prstGeom prst="rect">
            <a:avLst/>
          </a:prstGeom>
          <a:noFill/>
        </p:spPr>
        <p:txBody>
          <a:bodyPr wrap="square" lIns="0" rIns="0" tIns="0" bIns="0">
            <a:spAutoFit/>
          </a:bodyPr>
          <a:lstStyle/>
          <a:p>
            <a:pPr>
              <a:spcBef>
                <a:spcPts val="0"/>
              </a:spcBef>
              <a:spcAft>
                <a:spcPts val="0"/>
              </a:spcAft>
            </a:pPr>
            <a:r>
              <a:rPr sz="1700" b="1" i="0">
                <a:solidFill>
                  <a:srgbClr val="17262E"/>
                </a:solidFill>
                <a:latin typeface="Segoe UI"/>
              </a:rPr>
              <a:t>Latency</a:t>
            </a:r>
          </a:p>
        </p:txBody>
      </p:sp>
      <p:sp>
        <p:nvSpPr>
          <p:cNvPr id="23" name="TextBox 22"/>
          <p:cNvSpPr txBox="1"/>
          <p:nvPr/>
        </p:nvSpPr>
        <p:spPr>
          <a:xfrm>
            <a:off x="822960" y="4471415"/>
            <a:ext cx="3145536" cy="36576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How slow are the slower typical requests?</a:t>
            </a:r>
          </a:p>
        </p:txBody>
      </p:sp>
      <p:sp>
        <p:nvSpPr>
          <p:cNvPr id="24" name="TextBox 23"/>
          <p:cNvSpPr txBox="1"/>
          <p:nvPr/>
        </p:nvSpPr>
        <p:spPr>
          <a:xfrm>
            <a:off x="822960" y="4818887"/>
            <a:ext cx="3145536" cy="32004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Consolas"/>
              </a:rPr>
              <a:t>p95 response time (not average)</a:t>
            </a:r>
          </a:p>
        </p:txBody>
      </p:sp>
      <p:sp>
        <p:nvSpPr>
          <p:cNvPr id="25" name="Rectangle 24"/>
          <p:cNvSpPr/>
          <p:nvPr/>
        </p:nvSpPr>
        <p:spPr>
          <a:xfrm>
            <a:off x="4425696" y="3557015"/>
            <a:ext cx="3657600" cy="1691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681728" y="3813047"/>
            <a:ext cx="457200" cy="457200"/>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1728" y="3867911"/>
            <a:ext cx="457200" cy="457200"/>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4</a:t>
            </a:r>
          </a:p>
        </p:txBody>
      </p:sp>
      <p:sp>
        <p:nvSpPr>
          <p:cNvPr id="28" name="TextBox 27"/>
          <p:cNvSpPr txBox="1"/>
          <p:nvPr/>
        </p:nvSpPr>
        <p:spPr>
          <a:xfrm>
            <a:off x="5294376" y="3886199"/>
            <a:ext cx="2560320" cy="365760"/>
          </a:xfrm>
          <a:prstGeom prst="rect">
            <a:avLst/>
          </a:prstGeom>
          <a:noFill/>
        </p:spPr>
        <p:txBody>
          <a:bodyPr wrap="square" lIns="0" rIns="0" tIns="0" bIns="0">
            <a:spAutoFit/>
          </a:bodyPr>
          <a:lstStyle/>
          <a:p>
            <a:pPr>
              <a:spcBef>
                <a:spcPts val="0"/>
              </a:spcBef>
              <a:spcAft>
                <a:spcPts val="0"/>
              </a:spcAft>
            </a:pPr>
            <a:r>
              <a:rPr sz="1700" b="1" i="0">
                <a:solidFill>
                  <a:srgbClr val="17262E"/>
                </a:solidFill>
                <a:latin typeface="Segoe UI"/>
              </a:rPr>
              <a:t>Saturation</a:t>
            </a:r>
          </a:p>
        </p:txBody>
      </p:sp>
      <p:sp>
        <p:nvSpPr>
          <p:cNvPr id="29" name="TextBox 28"/>
          <p:cNvSpPr txBox="1"/>
          <p:nvPr/>
        </p:nvSpPr>
        <p:spPr>
          <a:xfrm>
            <a:off x="4681728" y="4471415"/>
            <a:ext cx="3145536" cy="36576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Are we close to a resource limit?</a:t>
            </a:r>
          </a:p>
        </p:txBody>
      </p:sp>
      <p:sp>
        <p:nvSpPr>
          <p:cNvPr id="30" name="TextBox 29"/>
          <p:cNvSpPr txBox="1"/>
          <p:nvPr/>
        </p:nvSpPr>
        <p:spPr>
          <a:xfrm>
            <a:off x="4681728" y="4818887"/>
            <a:ext cx="3145536" cy="32004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Consolas"/>
              </a:rPr>
              <a:t>CPU, memory, restarts, queue depth</a:t>
            </a:r>
          </a:p>
        </p:txBody>
      </p:sp>
      <p:sp>
        <p:nvSpPr>
          <p:cNvPr id="31" name="Rectangle 30"/>
          <p:cNvSpPr/>
          <p:nvPr/>
        </p:nvSpPr>
        <p:spPr>
          <a:xfrm>
            <a:off x="8284464" y="1682496"/>
            <a:ext cx="3346704" cy="356616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03920" y="1837944"/>
            <a:ext cx="2907792" cy="3273552"/>
          </a:xfrm>
          <a:prstGeom prst="rect">
            <a:avLst/>
          </a:prstGeom>
          <a:noFill/>
        </p:spPr>
        <p:txBody>
          <a:bodyPr wrap="square" lIns="0" rIns="0" tIns="0" bIns="0">
            <a:spAutoFit/>
          </a:bodyPr>
          <a:lstStyle/>
          <a:p>
            <a:pPr>
              <a:spcBef>
                <a:spcPts val="0"/>
              </a:spcBef>
              <a:spcAft>
                <a:spcPts val="600"/>
              </a:spcAft>
            </a:pPr>
            <a:r>
              <a:rPr sz="1100" b="1" i="0">
                <a:solidFill>
                  <a:srgbClr val="E8A020"/>
                </a:solidFill>
                <a:latin typeface="Segoe UI"/>
              </a:rPr>
              <a:t>WHY NOT JUST AVERAGES?</a:t>
            </a:r>
          </a:p>
          <a:p>
            <a:pPr>
              <a:spcBef>
                <a:spcPts val="0"/>
              </a:spcBef>
              <a:spcAft>
                <a:spcPts val="400"/>
              </a:spcAft>
            </a:pPr>
            <a:r>
              <a:rPr sz="1200" b="0" i="0">
                <a:solidFill>
                  <a:srgbClr val="9FB3BD"/>
                </a:solidFill>
                <a:latin typeface="Segoe UI"/>
              </a:rPr>
              <a:t>An average hides a bad tail. Most users can be fine while a large group is very slow, and the mean barely moves.</a:t>
            </a:r>
          </a:p>
          <a:p>
            <a:pPr>
              <a:spcBef>
                <a:spcPts val="0"/>
              </a:spcBef>
              <a:spcAft>
                <a:spcPts val="400"/>
              </a:spcAft>
            </a:pPr>
            <a:r>
              <a:rPr sz="1200" b="0" i="0">
                <a:solidFill>
                  <a:srgbClr val="9FB3BD"/>
                </a:solidFill>
                <a:latin typeface="Segoe UI"/>
              </a:rPr>
              <a:t/>
            </a:r>
          </a:p>
          <a:p>
            <a:pPr>
              <a:spcBef>
                <a:spcPts val="0"/>
              </a:spcBef>
              <a:spcAft>
                <a:spcPts val="400"/>
              </a:spcAft>
            </a:pPr>
            <a:r>
              <a:rPr sz="1200" b="0" i="0">
                <a:solidFill>
                  <a:srgbClr val="9FB3BD"/>
                </a:solidFill>
                <a:latin typeface="Segoe UI"/>
              </a:rPr>
              <a:t>p95 answers:</a:t>
            </a:r>
          </a:p>
          <a:p>
            <a:pPr>
              <a:spcBef>
                <a:spcPts val="0"/>
              </a:spcBef>
              <a:spcAft>
                <a:spcPts val="400"/>
              </a:spcAft>
            </a:pPr>
            <a:r>
              <a:rPr sz="1200" b="0" i="0">
                <a:solidFill>
                  <a:srgbClr val="9FB3BD"/>
                </a:solidFill>
                <a:latin typeface="Segoe UI"/>
              </a:rPr>
              <a:t/>
            </a:r>
          </a:p>
          <a:p>
            <a:pPr>
              <a:spcBef>
                <a:spcPts val="0"/>
              </a:spcBef>
              <a:spcAft>
                <a:spcPts val="400"/>
              </a:spcAft>
            </a:pPr>
            <a:r>
              <a:rPr sz="1200" b="0" i="0">
                <a:solidFill>
                  <a:srgbClr val="9FB3BD"/>
                </a:solidFill>
                <a:latin typeface="Segoe UI"/>
              </a:rPr>
              <a:t>"For the slower typical requests, how bad is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What an average hides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Same service, same afternoon, two very different stories.</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8</a:t>
            </a:r>
          </a:p>
        </p:txBody>
      </p:sp>
      <p:graphicFrame>
        <p:nvGraphicFramePr>
          <p:cNvPr id="7" name="Chart 6"/>
          <p:cNvGraphicFramePr>
            <a:graphicFrameLocks noGrp="1"/>
          </p:cNvGraphicFramePr>
          <p:nvPr/>
        </p:nvGraphicFramePr>
        <p:xfrm>
          <a:off x="566928" y="1682496"/>
          <a:ext cx="6949440" cy="3794760"/>
        </p:xfrm>
        <a:graphic>
          <a:graphicData uri="http://schemas.openxmlformats.org/drawingml/2006/chart">
            <c:chart xmlns:c="http://schemas.openxmlformats.org/drawingml/2006/chart" r:id="rId2"/>
          </a:graphicData>
        </a:graphic>
      </p:graphicFrame>
      <p:sp>
        <p:nvSpPr>
          <p:cNvPr id="8" name="Rectangle 7"/>
          <p:cNvSpPr/>
          <p:nvPr/>
        </p:nvSpPr>
        <p:spPr>
          <a:xfrm>
            <a:off x="7790688" y="1682496"/>
            <a:ext cx="3840480" cy="17830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28432" y="1865376"/>
            <a:ext cx="3383280" cy="27432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The average says</a:t>
            </a:r>
          </a:p>
        </p:txBody>
      </p:sp>
      <p:sp>
        <p:nvSpPr>
          <p:cNvPr id="10" name="TextBox 9"/>
          <p:cNvSpPr txBox="1"/>
          <p:nvPr/>
        </p:nvSpPr>
        <p:spPr>
          <a:xfrm>
            <a:off x="8028432" y="2157984"/>
            <a:ext cx="3383280" cy="548640"/>
          </a:xfrm>
          <a:prstGeom prst="rect">
            <a:avLst/>
          </a:prstGeom>
          <a:noFill/>
        </p:spPr>
        <p:txBody>
          <a:bodyPr wrap="square" lIns="0" rIns="0" tIns="0" bIns="0">
            <a:spAutoFit/>
          </a:bodyPr>
          <a:lstStyle/>
          <a:p>
            <a:pPr>
              <a:spcBef>
                <a:spcPts val="0"/>
              </a:spcBef>
              <a:spcAft>
                <a:spcPts val="0"/>
              </a:spcAft>
            </a:pPr>
            <a:r>
              <a:rPr sz="3000" b="1" i="0">
                <a:solidFill>
                  <a:srgbClr val="1F7A99"/>
                </a:solidFill>
                <a:latin typeface="Segoe UI"/>
              </a:rPr>
              <a:t>"fine"</a:t>
            </a:r>
          </a:p>
        </p:txBody>
      </p:sp>
      <p:sp>
        <p:nvSpPr>
          <p:cNvPr id="11" name="TextBox 10"/>
          <p:cNvSpPr txBox="1"/>
          <p:nvPr/>
        </p:nvSpPr>
        <p:spPr>
          <a:xfrm>
            <a:off x="8028432" y="2798064"/>
            <a:ext cx="338328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It moved from 140 ms to 175 ms. Nobody would page for that.</a:t>
            </a:r>
          </a:p>
        </p:txBody>
      </p:sp>
      <p:sp>
        <p:nvSpPr>
          <p:cNvPr id="12" name="Rectangle 11"/>
          <p:cNvSpPr/>
          <p:nvPr/>
        </p:nvSpPr>
        <p:spPr>
          <a:xfrm>
            <a:off x="7790688" y="3694176"/>
            <a:ext cx="3840480" cy="17830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8432" y="3877056"/>
            <a:ext cx="3383280" cy="27432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The p95 says</a:t>
            </a:r>
          </a:p>
        </p:txBody>
      </p:sp>
      <p:sp>
        <p:nvSpPr>
          <p:cNvPr id="14" name="TextBox 13"/>
          <p:cNvSpPr txBox="1"/>
          <p:nvPr/>
        </p:nvSpPr>
        <p:spPr>
          <a:xfrm>
            <a:off x="8028432" y="4169664"/>
            <a:ext cx="3383280" cy="548640"/>
          </a:xfrm>
          <a:prstGeom prst="rect">
            <a:avLst/>
          </a:prstGeom>
          <a:noFill/>
        </p:spPr>
        <p:txBody>
          <a:bodyPr wrap="square" lIns="0" rIns="0" tIns="0" bIns="0">
            <a:spAutoFit/>
          </a:bodyPr>
          <a:lstStyle/>
          <a:p>
            <a:pPr>
              <a:spcBef>
                <a:spcPts val="0"/>
              </a:spcBef>
              <a:spcAft>
                <a:spcPts val="0"/>
              </a:spcAft>
            </a:pPr>
            <a:r>
              <a:rPr sz="1700" b="1" i="0">
                <a:solidFill>
                  <a:srgbClr val="FFFFFF"/>
                </a:solidFill>
                <a:latin typeface="Segoe UI"/>
              </a:rPr>
              <a:t>"1 in 20 users waited 1.2 s"</a:t>
            </a:r>
          </a:p>
        </p:txBody>
      </p:sp>
      <p:sp>
        <p:nvSpPr>
          <p:cNvPr id="15" name="TextBox 14"/>
          <p:cNvSpPr txBox="1"/>
          <p:nvPr/>
        </p:nvSpPr>
        <p:spPr>
          <a:xfrm>
            <a:off x="8028432" y="4809744"/>
            <a:ext cx="3383280" cy="640080"/>
          </a:xfrm>
          <a:prstGeom prst="rect">
            <a:avLst/>
          </a:prstGeom>
          <a:noFill/>
        </p:spPr>
        <p:txBody>
          <a:bodyPr wrap="square" lIns="0" rIns="0" tIns="0" bIns="0">
            <a:spAutoFit/>
          </a:bodyPr>
          <a:lstStyle/>
          <a:p>
            <a:pPr>
              <a:spcBef>
                <a:spcPts val="0"/>
              </a:spcBef>
              <a:spcAft>
                <a:spcPts val="0"/>
              </a:spcAft>
            </a:pPr>
            <a:r>
              <a:rPr sz="1150" b="0" i="0">
                <a:solidFill>
                  <a:srgbClr val="9FB3BD"/>
                </a:solidFill>
                <a:latin typeface="Segoe UI"/>
              </a:rPr>
              <a:t>That is the group filing tickets and abandoning carts. Alert on the tail.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SLI, SLO, SLA</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Measure it, set a bar, promise it to the customer.</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 · see slo-sla-sli.md for per-app examples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9</a:t>
            </a:r>
          </a:p>
        </p:txBody>
      </p:sp>
      <p:sp>
        <p:nvSpPr>
          <p:cNvPr id="7" name="Rectangle 6"/>
          <p:cNvSpPr/>
          <p:nvPr/>
        </p:nvSpPr>
        <p:spPr>
          <a:xfrm>
            <a:off x="566928" y="1682496"/>
            <a:ext cx="11064240" cy="987552"/>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1051560" cy="694944"/>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1051560" cy="365760"/>
          </a:xfrm>
          <a:prstGeom prst="rect">
            <a:avLst/>
          </a:prstGeom>
          <a:noFill/>
        </p:spPr>
        <p:txBody>
          <a:bodyPr wrap="square" lIns="0" rIns="0" tIns="0" bIns="0">
            <a:spAutoFit/>
          </a:bodyPr>
          <a:lstStyle/>
          <a:p>
            <a:pPr algn="ctr">
              <a:spcBef>
                <a:spcPts val="0"/>
              </a:spcBef>
              <a:spcAft>
                <a:spcPts val="0"/>
              </a:spcAft>
            </a:pPr>
            <a:r>
              <a:rPr sz="1700" b="1" i="0">
                <a:solidFill>
                  <a:srgbClr val="FFFFFF"/>
                </a:solidFill>
                <a:latin typeface="Segoe UI"/>
              </a:rPr>
              <a:t>SLI</a:t>
            </a:r>
          </a:p>
        </p:txBody>
      </p:sp>
      <p:sp>
        <p:nvSpPr>
          <p:cNvPr id="10" name="TextBox 9"/>
          <p:cNvSpPr txBox="1"/>
          <p:nvPr/>
        </p:nvSpPr>
        <p:spPr>
          <a:xfrm>
            <a:off x="2029968" y="1847088"/>
            <a:ext cx="3108960" cy="3200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Service Level Indicator</a:t>
            </a:r>
          </a:p>
        </p:txBody>
      </p:sp>
      <p:sp>
        <p:nvSpPr>
          <p:cNvPr id="11" name="TextBox 10"/>
          <p:cNvSpPr txBox="1"/>
          <p:nvPr/>
        </p:nvSpPr>
        <p:spPr>
          <a:xfrm>
            <a:off x="2029968" y="2185416"/>
            <a:ext cx="3200400" cy="41148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What you measure.</a:t>
            </a:r>
          </a:p>
        </p:txBody>
      </p:sp>
      <p:sp>
        <p:nvSpPr>
          <p:cNvPr id="12" name="TextBox 11"/>
          <p:cNvSpPr txBox="1"/>
          <p:nvPr/>
        </p:nvSpPr>
        <p:spPr>
          <a:xfrm>
            <a:off x="5413248" y="2011680"/>
            <a:ext cx="5943600" cy="457200"/>
          </a:xfrm>
          <a:prstGeom prst="rect">
            <a:avLst/>
          </a:prstGeom>
          <a:noFill/>
        </p:spPr>
        <p:txBody>
          <a:bodyPr wrap="square" lIns="0" rIns="0" tIns="0" bIns="0">
            <a:spAutoFit/>
          </a:bodyPr>
          <a:lstStyle/>
          <a:p>
            <a:pPr>
              <a:spcBef>
                <a:spcPts val="0"/>
              </a:spcBef>
              <a:spcAft>
                <a:spcPts val="0"/>
              </a:spcAft>
            </a:pPr>
            <a:r>
              <a:rPr sz="1150" b="0" i="1">
                <a:solidFill>
                  <a:srgbClr val="17262E"/>
                </a:solidFill>
                <a:latin typeface="Segoe UI"/>
              </a:rPr>
              <a:t>"Can users complete a purchase successfully and quickly?"</a:t>
            </a:r>
          </a:p>
        </p:txBody>
      </p:sp>
      <p:sp>
        <p:nvSpPr>
          <p:cNvPr id="13" name="Rectangle 12"/>
          <p:cNvSpPr/>
          <p:nvPr/>
        </p:nvSpPr>
        <p:spPr>
          <a:xfrm>
            <a:off x="566928" y="2825496"/>
            <a:ext cx="11064240" cy="987552"/>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 y="2971800"/>
            <a:ext cx="1051560" cy="694944"/>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127248"/>
            <a:ext cx="1051560" cy="365760"/>
          </a:xfrm>
          <a:prstGeom prst="rect">
            <a:avLst/>
          </a:prstGeom>
          <a:noFill/>
        </p:spPr>
        <p:txBody>
          <a:bodyPr wrap="square" lIns="0" rIns="0" tIns="0" bIns="0">
            <a:spAutoFit/>
          </a:bodyPr>
          <a:lstStyle/>
          <a:p>
            <a:pPr algn="ctr">
              <a:spcBef>
                <a:spcPts val="0"/>
              </a:spcBef>
              <a:spcAft>
                <a:spcPts val="0"/>
              </a:spcAft>
            </a:pPr>
            <a:r>
              <a:rPr sz="1700" b="1" i="0">
                <a:solidFill>
                  <a:srgbClr val="FFFFFF"/>
                </a:solidFill>
                <a:latin typeface="Segoe UI"/>
              </a:rPr>
              <a:t>SLO</a:t>
            </a:r>
          </a:p>
        </p:txBody>
      </p:sp>
      <p:sp>
        <p:nvSpPr>
          <p:cNvPr id="16" name="TextBox 15"/>
          <p:cNvSpPr txBox="1"/>
          <p:nvPr/>
        </p:nvSpPr>
        <p:spPr>
          <a:xfrm>
            <a:off x="2029968" y="2990088"/>
            <a:ext cx="3108960" cy="3200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Service Level Objective</a:t>
            </a:r>
          </a:p>
        </p:txBody>
      </p:sp>
      <p:sp>
        <p:nvSpPr>
          <p:cNvPr id="17" name="TextBox 16"/>
          <p:cNvSpPr txBox="1"/>
          <p:nvPr/>
        </p:nvSpPr>
        <p:spPr>
          <a:xfrm>
            <a:off x="2029968" y="3328416"/>
            <a:ext cx="3200400" cy="41148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Your internal goal for that measurement.</a:t>
            </a:r>
          </a:p>
        </p:txBody>
      </p:sp>
      <p:sp>
        <p:nvSpPr>
          <p:cNvPr id="18" name="TextBox 17"/>
          <p:cNvSpPr txBox="1"/>
          <p:nvPr/>
        </p:nvSpPr>
        <p:spPr>
          <a:xfrm>
            <a:off x="5413248" y="3154680"/>
            <a:ext cx="5943600" cy="457200"/>
          </a:xfrm>
          <a:prstGeom prst="rect">
            <a:avLst/>
          </a:prstGeom>
          <a:noFill/>
        </p:spPr>
        <p:txBody>
          <a:bodyPr wrap="square" lIns="0" rIns="0" tIns="0" bIns="0">
            <a:spAutoFit/>
          </a:bodyPr>
          <a:lstStyle/>
          <a:p>
            <a:pPr>
              <a:spcBef>
                <a:spcPts val="0"/>
              </a:spcBef>
              <a:spcAft>
                <a:spcPts val="0"/>
              </a:spcAft>
            </a:pPr>
            <a:r>
              <a:rPr sz="1150" b="0" i="1">
                <a:solidFill>
                  <a:srgbClr val="17262E"/>
                </a:solidFill>
                <a:latin typeface="Segoe UI"/>
              </a:rPr>
              <a:t>"99.5% of purchases complete under 500 ms, measured over 30 days."</a:t>
            </a:r>
          </a:p>
        </p:txBody>
      </p:sp>
      <p:sp>
        <p:nvSpPr>
          <p:cNvPr id="19" name="Rectangle 18"/>
          <p:cNvSpPr/>
          <p:nvPr/>
        </p:nvSpPr>
        <p:spPr>
          <a:xfrm>
            <a:off x="566928" y="3968496"/>
            <a:ext cx="11064240" cy="987552"/>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 y="4114800"/>
            <a:ext cx="1051560" cy="69494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270248"/>
            <a:ext cx="1051560" cy="365760"/>
          </a:xfrm>
          <a:prstGeom prst="rect">
            <a:avLst/>
          </a:prstGeom>
          <a:noFill/>
        </p:spPr>
        <p:txBody>
          <a:bodyPr wrap="square" lIns="0" rIns="0" tIns="0" bIns="0">
            <a:spAutoFit/>
          </a:bodyPr>
          <a:lstStyle/>
          <a:p>
            <a:pPr algn="ctr">
              <a:spcBef>
                <a:spcPts val="0"/>
              </a:spcBef>
              <a:spcAft>
                <a:spcPts val="0"/>
              </a:spcAft>
            </a:pPr>
            <a:r>
              <a:rPr sz="1700" b="1" i="0">
                <a:solidFill>
                  <a:srgbClr val="FFFFFF"/>
                </a:solidFill>
                <a:latin typeface="Segoe UI"/>
              </a:rPr>
              <a:t>SLA</a:t>
            </a:r>
          </a:p>
        </p:txBody>
      </p:sp>
      <p:sp>
        <p:nvSpPr>
          <p:cNvPr id="22" name="TextBox 21"/>
          <p:cNvSpPr txBox="1"/>
          <p:nvPr/>
        </p:nvSpPr>
        <p:spPr>
          <a:xfrm>
            <a:off x="2029968" y="4133088"/>
            <a:ext cx="3108960" cy="3200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Service Level Agreement</a:t>
            </a:r>
          </a:p>
        </p:txBody>
      </p:sp>
      <p:sp>
        <p:nvSpPr>
          <p:cNvPr id="23" name="TextBox 22"/>
          <p:cNvSpPr txBox="1"/>
          <p:nvPr/>
        </p:nvSpPr>
        <p:spPr>
          <a:xfrm>
            <a:off x="2029968" y="4471416"/>
            <a:ext cx="3200400" cy="41148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The external promise to customers, often with credits attached.</a:t>
            </a:r>
          </a:p>
        </p:txBody>
      </p:sp>
      <p:sp>
        <p:nvSpPr>
          <p:cNvPr id="24" name="TextBox 23"/>
          <p:cNvSpPr txBox="1"/>
          <p:nvPr/>
        </p:nvSpPr>
        <p:spPr>
          <a:xfrm>
            <a:off x="5413248" y="4297680"/>
            <a:ext cx="5943600" cy="457200"/>
          </a:xfrm>
          <a:prstGeom prst="rect">
            <a:avLst/>
          </a:prstGeom>
          <a:noFill/>
        </p:spPr>
        <p:txBody>
          <a:bodyPr wrap="square" lIns="0" rIns="0" tIns="0" bIns="0">
            <a:spAutoFit/>
          </a:bodyPr>
          <a:lstStyle/>
          <a:p>
            <a:pPr>
              <a:spcBef>
                <a:spcPts val="0"/>
              </a:spcBef>
              <a:spcAft>
                <a:spcPts val="0"/>
              </a:spcAft>
            </a:pPr>
            <a:r>
              <a:rPr sz="1150" b="0" i="1">
                <a:solidFill>
                  <a:srgbClr val="17262E"/>
                </a:solidFill>
                <a:latin typeface="Segoe UI"/>
              </a:rPr>
              <a:t>Usually set looser than the SLO, so you have room to react.</a:t>
            </a:r>
          </a:p>
        </p:txBody>
      </p:sp>
      <p:sp>
        <p:nvSpPr>
          <p:cNvPr id="25" name="Rectangle 24"/>
          <p:cNvSpPr/>
          <p:nvPr/>
        </p:nvSpPr>
        <p:spPr>
          <a:xfrm>
            <a:off x="566928" y="5248656"/>
            <a:ext cx="6492240" cy="658368"/>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404104"/>
            <a:ext cx="6053328" cy="365760"/>
          </a:xfrm>
          <a:prstGeom prst="rect">
            <a:avLst/>
          </a:prstGeom>
          <a:noFill/>
        </p:spPr>
        <p:txBody>
          <a:bodyPr wrap="square" lIns="0" rIns="0" tIns="0" bIns="0">
            <a:spAutoFit/>
          </a:bodyPr>
          <a:lstStyle/>
          <a:p>
            <a:pPr>
              <a:spcBef>
                <a:spcPts val="0"/>
              </a:spcBef>
              <a:spcAft>
                <a:spcPts val="400"/>
              </a:spcAft>
            </a:pPr>
            <a:r>
              <a:rPr sz="1350" b="0" i="0">
                <a:solidFill>
                  <a:srgbClr val="FFFFFF"/>
                </a:solidFill>
                <a:latin typeface="Segoe UI"/>
              </a:rPr>
              <a:t>SLI = measure   ·   SLO = our bar   ·   SLA = customer contract</a:t>
            </a:r>
          </a:p>
        </p:txBody>
      </p:sp>
      <p:sp>
        <p:nvSpPr>
          <p:cNvPr id="27" name="TextBox 26"/>
          <p:cNvSpPr txBox="1"/>
          <p:nvPr/>
        </p:nvSpPr>
        <p:spPr>
          <a:xfrm>
            <a:off x="7333488" y="5294376"/>
            <a:ext cx="4297680" cy="64008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In an incident people only say "buying is broken." Mapping that onto the SLI is what makes the impact measurable.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Error budget</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If 99.5% must be good, then 0.5% is allowed to be bad. That allowance has a name.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 · worked example in error-budget.md</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10</a:t>
            </a:r>
          </a:p>
        </p:txBody>
      </p:sp>
      <p:sp>
        <p:nvSpPr>
          <p:cNvPr id="7" name="Rectangle 6"/>
          <p:cNvSpPr/>
          <p:nvPr/>
        </p:nvSpPr>
        <p:spPr>
          <a:xfrm>
            <a:off x="566928" y="1682496"/>
            <a:ext cx="6309360" cy="1627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0512"/>
            <a:ext cx="5943600" cy="1371600"/>
          </a:xfrm>
          <a:prstGeom prst="rect">
            <a:avLst/>
          </a:prstGeom>
          <a:noFill/>
        </p:spPr>
        <p:txBody>
          <a:bodyPr wrap="square" lIns="0" rIns="0" tIns="0" bIns="0">
            <a:spAutoFit/>
          </a:bodyPr>
          <a:lstStyle/>
          <a:p>
            <a:pPr>
              <a:spcBef>
                <a:spcPts val="0"/>
              </a:spcBef>
              <a:spcAft>
                <a:spcPts val="200"/>
              </a:spcAft>
            </a:pPr>
            <a:r>
              <a:rPr sz="1100" b="0" i="0">
                <a:solidFill>
                  <a:srgbClr val="9FB3BD"/>
                </a:solidFill>
                <a:latin typeface="Consolas"/>
              </a:rPr>
              <a:t># 30-day window, 2,000,000 checkout requests</a:t>
            </a:r>
          </a:p>
          <a:p>
            <a:pPr>
              <a:spcBef>
                <a:spcPts val="0"/>
              </a:spcBef>
              <a:spcAft>
                <a:spcPts val="200"/>
              </a:spcAft>
            </a:pPr>
            <a:r>
              <a:rPr sz="1100" b="0" i="0">
                <a:solidFill>
                  <a:srgbClr val="D7E3EA"/>
                </a:solidFill>
                <a:latin typeface="Consolas"/>
              </a:rPr>
              <a:t>SLO          = 99.5% good</a:t>
            </a:r>
          </a:p>
          <a:p>
            <a:pPr>
              <a:spcBef>
                <a:spcPts val="0"/>
              </a:spcBef>
              <a:spcAft>
                <a:spcPts val="200"/>
              </a:spcAft>
            </a:pPr>
            <a:r>
              <a:rPr sz="1100" b="0" i="0">
                <a:solidFill>
                  <a:srgbClr val="D7E3EA"/>
                </a:solidFill>
                <a:latin typeface="Consolas"/>
              </a:rPr>
              <a:t>allowed bad  = 0.5%  x  2,000,000  =  10,000 requests</a:t>
            </a:r>
          </a:p>
          <a:p>
            <a:pPr>
              <a:spcBef>
                <a:spcPts val="0"/>
              </a:spcBef>
              <a:spcAft>
                <a:spcPts val="200"/>
              </a:spcAft>
            </a:pPr>
            <a:r>
              <a:rPr sz="1100" b="0" i="0">
                <a:solidFill>
                  <a:srgbClr val="D7E3EA"/>
                </a:solidFill>
                <a:latin typeface="Consolas"/>
              </a:rPr>
              <a:t/>
            </a:r>
          </a:p>
          <a:p>
            <a:pPr>
              <a:spcBef>
                <a:spcPts val="0"/>
              </a:spcBef>
              <a:spcAft>
                <a:spcPts val="200"/>
              </a:spcAft>
            </a:pPr>
            <a:r>
              <a:rPr sz="1100" b="0" i="0">
                <a:solidFill>
                  <a:srgbClr val="9FB3BD"/>
                </a:solidFill>
                <a:latin typeface="Consolas"/>
              </a:rPr>
              <a:t># day 18: 6,200 requests already bad or too slow</a:t>
            </a:r>
          </a:p>
          <a:p>
            <a:pPr>
              <a:spcBef>
                <a:spcPts val="0"/>
              </a:spcBef>
              <a:spcAft>
                <a:spcPts val="200"/>
              </a:spcAft>
            </a:pPr>
            <a:r>
              <a:rPr sz="1100" b="0" i="0">
                <a:solidFill>
                  <a:srgbClr val="D7E3EA"/>
                </a:solidFill>
                <a:latin typeface="Consolas"/>
              </a:rPr>
              <a:t>budget spent = 6,200 / 10,000  =  62%</a:t>
            </a:r>
          </a:p>
        </p:txBody>
      </p:sp>
      <p:sp>
        <p:nvSpPr>
          <p:cNvPr id="9" name="Rectangle 8"/>
          <p:cNvSpPr/>
          <p:nvPr/>
        </p:nvSpPr>
        <p:spPr>
          <a:xfrm>
            <a:off x="566928" y="3557015"/>
            <a:ext cx="630936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3557015"/>
            <a:ext cx="44450" cy="868680"/>
          </a:xfrm>
          <a:prstGeom prst="rect">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3712463"/>
            <a:ext cx="5870448" cy="576072"/>
          </a:xfrm>
          <a:prstGeom prst="rect">
            <a:avLst/>
          </a:prstGeom>
          <a:noFill/>
        </p:spPr>
        <p:txBody>
          <a:bodyPr wrap="square" lIns="0" rIns="0" tIns="0" bIns="0">
            <a:spAutoFit/>
          </a:bodyPr>
          <a:lstStyle/>
          <a:p/>
        </p:txBody>
      </p:sp>
      <p:sp>
        <p:nvSpPr>
          <p:cNvPr id="12" name="Oval 11"/>
          <p:cNvSpPr/>
          <p:nvPr/>
        </p:nvSpPr>
        <p:spPr>
          <a:xfrm>
            <a:off x="822960" y="3767327"/>
            <a:ext cx="155448" cy="155448"/>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3675888"/>
            <a:ext cx="5486400" cy="274320"/>
          </a:xfrm>
          <a:prstGeom prst="rect">
            <a:avLst/>
          </a:prstGeom>
          <a:noFill/>
        </p:spPr>
        <p:txBody>
          <a:bodyPr wrap="square" lIns="0" rIns="0" tIns="0" bIns="0">
            <a:spAutoFit/>
          </a:bodyPr>
          <a:lstStyle/>
          <a:p>
            <a:pPr>
              <a:spcBef>
                <a:spcPts val="0"/>
              </a:spcBef>
              <a:spcAft>
                <a:spcPts val="0"/>
              </a:spcAft>
            </a:pPr>
            <a:r>
              <a:rPr sz="1300" b="1" i="0">
                <a:solidFill>
                  <a:srgbClr val="17262E"/>
                </a:solidFill>
                <a:latin typeface="Segoe UI"/>
              </a:rPr>
              <a:t>Budget healthy</a:t>
            </a:r>
          </a:p>
        </p:txBody>
      </p:sp>
      <p:sp>
        <p:nvSpPr>
          <p:cNvPr id="14" name="TextBox 13"/>
          <p:cNvSpPr txBox="1"/>
          <p:nvPr/>
        </p:nvSpPr>
        <p:spPr>
          <a:xfrm>
            <a:off x="1115568" y="4014216"/>
            <a:ext cx="5486400" cy="274320"/>
          </a:xfrm>
          <a:prstGeom prst="rect">
            <a:avLst/>
          </a:prstGeom>
          <a:noFill/>
        </p:spPr>
        <p:txBody>
          <a:bodyPr wrap="square" lIns="0" rIns="0" tIns="0" bIns="0">
            <a:spAutoFit/>
          </a:bodyPr>
          <a:lstStyle/>
          <a:p>
            <a:pPr>
              <a:spcBef>
                <a:spcPts val="0"/>
              </a:spcBef>
              <a:spcAft>
                <a:spcPts val="0"/>
              </a:spcAft>
            </a:pPr>
            <a:r>
              <a:rPr sz="1100" b="0" i="0">
                <a:solidFill>
                  <a:srgbClr val="17262E"/>
                </a:solidFill>
                <a:latin typeface="Segoe UI"/>
              </a:rPr>
              <a:t>Ship features. Take calculated risks. Deploy on a Friday if you want.</a:t>
            </a:r>
          </a:p>
        </p:txBody>
      </p:sp>
      <p:sp>
        <p:nvSpPr>
          <p:cNvPr id="15" name="Rectangle 14"/>
          <p:cNvSpPr/>
          <p:nvPr/>
        </p:nvSpPr>
        <p:spPr>
          <a:xfrm>
            <a:off x="566928" y="4562856"/>
            <a:ext cx="630936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562856"/>
            <a:ext cx="44450" cy="86868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718304"/>
            <a:ext cx="5870448" cy="576072"/>
          </a:xfrm>
          <a:prstGeom prst="rect">
            <a:avLst/>
          </a:prstGeom>
          <a:noFill/>
        </p:spPr>
        <p:txBody>
          <a:bodyPr wrap="square" lIns="0" rIns="0" tIns="0" bIns="0">
            <a:spAutoFit/>
          </a:bodyPr>
          <a:lstStyle/>
          <a:p/>
        </p:txBody>
      </p:sp>
      <p:sp>
        <p:nvSpPr>
          <p:cNvPr id="18" name="Oval 17"/>
          <p:cNvSpPr/>
          <p:nvPr/>
        </p:nvSpPr>
        <p:spPr>
          <a:xfrm>
            <a:off x="822960" y="4773168"/>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5568" y="4681728"/>
            <a:ext cx="5486400" cy="274320"/>
          </a:xfrm>
          <a:prstGeom prst="rect">
            <a:avLst/>
          </a:prstGeom>
          <a:noFill/>
        </p:spPr>
        <p:txBody>
          <a:bodyPr wrap="square" lIns="0" rIns="0" tIns="0" bIns="0">
            <a:spAutoFit/>
          </a:bodyPr>
          <a:lstStyle/>
          <a:p>
            <a:pPr>
              <a:spcBef>
                <a:spcPts val="0"/>
              </a:spcBef>
              <a:spcAft>
                <a:spcPts val="0"/>
              </a:spcAft>
            </a:pPr>
            <a:r>
              <a:rPr sz="1300" b="1" i="0">
                <a:solidFill>
                  <a:srgbClr val="17262E"/>
                </a:solidFill>
                <a:latin typeface="Segoe UI"/>
              </a:rPr>
              <a:t>Budget burning fast</a:t>
            </a:r>
          </a:p>
        </p:txBody>
      </p:sp>
      <p:sp>
        <p:nvSpPr>
          <p:cNvPr id="20" name="TextBox 19"/>
          <p:cNvSpPr txBox="1"/>
          <p:nvPr/>
        </p:nvSpPr>
        <p:spPr>
          <a:xfrm>
            <a:off x="1115568" y="5020056"/>
            <a:ext cx="5486400" cy="274320"/>
          </a:xfrm>
          <a:prstGeom prst="rect">
            <a:avLst/>
          </a:prstGeom>
          <a:noFill/>
        </p:spPr>
        <p:txBody>
          <a:bodyPr wrap="square" lIns="0" rIns="0" tIns="0" bIns="0">
            <a:spAutoFit/>
          </a:bodyPr>
          <a:lstStyle/>
          <a:p>
            <a:pPr>
              <a:spcBef>
                <a:spcPts val="0"/>
              </a:spcBef>
              <a:spcAft>
                <a:spcPts val="0"/>
              </a:spcAft>
            </a:pPr>
            <a:r>
              <a:rPr sz="1100" b="0" i="0">
                <a:solidFill>
                  <a:srgbClr val="17262E"/>
                </a:solidFill>
                <a:latin typeface="Segoe UI"/>
              </a:rPr>
              <a:t>Slow risky changes. Spend the sprint on reliability instead.</a:t>
            </a:r>
          </a:p>
        </p:txBody>
      </p:sp>
      <p:graphicFrame>
        <p:nvGraphicFramePr>
          <p:cNvPr id="21" name="Chart 20"/>
          <p:cNvGraphicFramePr>
            <a:graphicFrameLocks noGrp="1"/>
          </p:cNvGraphicFramePr>
          <p:nvPr/>
        </p:nvGraphicFramePr>
        <p:xfrm>
          <a:off x="7150608" y="1591056"/>
          <a:ext cx="4480560" cy="2926080"/>
        </p:xfrm>
        <a:graphic>
          <a:graphicData uri="http://schemas.openxmlformats.org/drawingml/2006/chart">
            <c:chart xmlns:c="http://schemas.openxmlformats.org/drawingml/2006/chart" r:id="rId2"/>
          </a:graphicData>
        </a:graphic>
      </p:graphicFrame>
      <p:sp>
        <p:nvSpPr>
          <p:cNvPr id="22" name="Rectangle 21"/>
          <p:cNvSpPr/>
          <p:nvPr/>
        </p:nvSpPr>
        <p:spPr>
          <a:xfrm>
            <a:off x="7150608" y="4654296"/>
            <a:ext cx="4480560" cy="77724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70064" y="4809744"/>
            <a:ext cx="4041648" cy="484632"/>
          </a:xfrm>
          <a:prstGeom prst="rect">
            <a:avLst/>
          </a:prstGeom>
          <a:noFill/>
        </p:spPr>
        <p:txBody>
          <a:bodyPr wrap="square" lIns="0" rIns="0" tIns="0" bIns="0">
            <a:spAutoFit/>
          </a:bodyPr>
          <a:lstStyle/>
          <a:p>
            <a:pPr>
              <a:spcBef>
                <a:spcPts val="0"/>
              </a:spcBef>
              <a:spcAft>
                <a:spcPts val="400"/>
              </a:spcAft>
            </a:pPr>
            <a:r>
              <a:rPr sz="1150" b="0" i="0">
                <a:solidFill>
                  <a:srgbClr val="9FB3BD"/>
                </a:solidFill>
                <a:latin typeface="Segoe UI"/>
              </a:rPr>
              <a:t>Error budgets turn monitoring into a shared decision between engineering and product, not just another page.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Good alerts vs noisy alerts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Every alert should cost somebody sleep only if it deserves to.</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11</a:t>
            </a:r>
          </a:p>
        </p:txBody>
      </p:sp>
      <p:sp>
        <p:nvSpPr>
          <p:cNvPr id="7" name="Rectangle 6"/>
          <p:cNvSpPr/>
          <p:nvPr/>
        </p:nvSpPr>
        <p:spPr>
          <a:xfrm>
            <a:off x="566928" y="1682496"/>
            <a:ext cx="5394960" cy="23317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8" y="1975104"/>
            <a:ext cx="173736" cy="173736"/>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1288" y="1865376"/>
            <a:ext cx="4480560" cy="365760"/>
          </a:xfrm>
          <a:prstGeom prst="rect">
            <a:avLst/>
          </a:prstGeom>
          <a:noFill/>
        </p:spPr>
        <p:txBody>
          <a:bodyPr wrap="square" lIns="0" rIns="0" tIns="0" bIns="0">
            <a:spAutoFit/>
          </a:bodyPr>
          <a:lstStyle/>
          <a:p>
            <a:pPr>
              <a:spcBef>
                <a:spcPts val="0"/>
              </a:spcBef>
              <a:spcAft>
                <a:spcPts val="0"/>
              </a:spcAft>
            </a:pPr>
            <a:r>
              <a:rPr sz="1800" b="1" i="0">
                <a:solidFill>
                  <a:srgbClr val="17262E"/>
                </a:solidFill>
                <a:latin typeface="Segoe UI"/>
              </a:rPr>
              <a:t>Good alert</a:t>
            </a:r>
          </a:p>
        </p:txBody>
      </p:sp>
      <p:sp>
        <p:nvSpPr>
          <p:cNvPr id="10" name="TextBox 9"/>
          <p:cNvSpPr txBox="1"/>
          <p:nvPr/>
        </p:nvSpPr>
        <p:spPr>
          <a:xfrm>
            <a:off x="859536" y="2459736"/>
            <a:ext cx="4754880" cy="1371600"/>
          </a:xfrm>
          <a:prstGeom prst="rect">
            <a:avLst/>
          </a:prstGeom>
          <a:noFill/>
        </p:spPr>
        <p:txBody>
          <a:bodyPr wrap="square" lIns="0" rIns="0" tIns="0" bIns="0">
            <a:spAutoFit/>
          </a:bodyPr>
          <a:lstStyle/>
          <a:p>
            <a:pPr>
              <a:spcAft>
                <a:spcPts val="700"/>
              </a:spcAft>
            </a:pPr>
            <a:r>
              <a:rPr sz="1150" b="0">
                <a:solidFill>
                  <a:srgbClr val="1F7A99"/>
                </a:solidFill>
                <a:latin typeface="Segoe UI"/>
              </a:rPr>
              <a:t>•  </a:t>
            </a:r>
            <a:r>
              <a:rPr sz="1150" b="0">
                <a:solidFill>
                  <a:srgbClr val="17262E"/>
                </a:solidFill>
                <a:latin typeface="Segoe UI"/>
              </a:rPr>
              <a:t>A human should act on it</a:t>
            </a:r>
          </a:p>
          <a:p>
            <a:pPr>
              <a:spcAft>
                <a:spcPts val="700"/>
              </a:spcAft>
            </a:pPr>
            <a:r>
              <a:rPr sz="1150" b="0">
                <a:solidFill>
                  <a:srgbClr val="1F7A99"/>
                </a:solidFill>
                <a:latin typeface="Segoe UI"/>
              </a:rPr>
              <a:t>•  </a:t>
            </a:r>
            <a:r>
              <a:rPr sz="1150" b="0">
                <a:solidFill>
                  <a:srgbClr val="17262E"/>
                </a:solidFill>
                <a:latin typeface="Segoe UI"/>
              </a:rPr>
              <a:t>Tied to customer impact or fast budget burn</a:t>
            </a:r>
          </a:p>
          <a:p>
            <a:pPr>
              <a:spcAft>
                <a:spcPts val="700"/>
              </a:spcAft>
            </a:pPr>
            <a:r>
              <a:rPr sz="1150" b="0">
                <a:solidFill>
                  <a:srgbClr val="1F7A99"/>
                </a:solidFill>
                <a:latin typeface="Segoe UI"/>
              </a:rPr>
              <a:t>•  </a:t>
            </a:r>
            <a:r>
              <a:rPr sz="1150" b="0">
                <a:solidFill>
                  <a:srgbClr val="17262E"/>
                </a:solidFill>
                <a:latin typeface="Segoe UI"/>
              </a:rPr>
              <a:t>Has a clear first-check path, a runbook</a:t>
            </a:r>
          </a:p>
          <a:p>
            <a:pPr>
              <a:spcAft>
                <a:spcPts val="700"/>
              </a:spcAft>
            </a:pPr>
            <a:r>
              <a:rPr sz="1150" b="0">
                <a:solidFill>
                  <a:srgbClr val="1F7A99"/>
                </a:solidFill>
                <a:latin typeface="Segoe UI"/>
              </a:rPr>
              <a:t>•  </a:t>
            </a:r>
            <a:r>
              <a:rPr sz="1150" b="0">
                <a:solidFill>
                  <a:srgbClr val="17262E"/>
                </a:solidFill>
                <a:latin typeface="Segoe UI"/>
              </a:rPr>
              <a:t>Fires rarely enough that people still trust it</a:t>
            </a:r>
          </a:p>
        </p:txBody>
      </p:sp>
      <p:sp>
        <p:nvSpPr>
          <p:cNvPr id="11" name="Rectangle 10"/>
          <p:cNvSpPr/>
          <p:nvPr/>
        </p:nvSpPr>
        <p:spPr>
          <a:xfrm>
            <a:off x="6236208" y="1682496"/>
            <a:ext cx="5394960" cy="23317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10528" y="1975104"/>
            <a:ext cx="173736" cy="17373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30568" y="1865376"/>
            <a:ext cx="4480560" cy="365760"/>
          </a:xfrm>
          <a:prstGeom prst="rect">
            <a:avLst/>
          </a:prstGeom>
          <a:noFill/>
        </p:spPr>
        <p:txBody>
          <a:bodyPr wrap="square" lIns="0" rIns="0" tIns="0" bIns="0">
            <a:spAutoFit/>
          </a:bodyPr>
          <a:lstStyle/>
          <a:p>
            <a:pPr>
              <a:spcBef>
                <a:spcPts val="0"/>
              </a:spcBef>
              <a:spcAft>
                <a:spcPts val="0"/>
              </a:spcAft>
            </a:pPr>
            <a:r>
              <a:rPr sz="1800" b="1" i="0">
                <a:solidFill>
                  <a:srgbClr val="17262E"/>
                </a:solidFill>
                <a:latin typeface="Segoe UI"/>
              </a:rPr>
              <a:t>Noisy alert</a:t>
            </a:r>
          </a:p>
        </p:txBody>
      </p:sp>
      <p:sp>
        <p:nvSpPr>
          <p:cNvPr id="14" name="TextBox 13"/>
          <p:cNvSpPr txBox="1"/>
          <p:nvPr/>
        </p:nvSpPr>
        <p:spPr>
          <a:xfrm>
            <a:off x="6528816" y="2459736"/>
            <a:ext cx="4754880" cy="1371600"/>
          </a:xfrm>
          <a:prstGeom prst="rect">
            <a:avLst/>
          </a:prstGeom>
          <a:noFill/>
        </p:spPr>
        <p:txBody>
          <a:bodyPr wrap="square" lIns="0" rIns="0" tIns="0" bIns="0">
            <a:spAutoFit/>
          </a:bodyPr>
          <a:lstStyle/>
          <a:p>
            <a:pPr>
              <a:spcAft>
                <a:spcPts val="700"/>
              </a:spcAft>
            </a:pPr>
            <a:r>
              <a:rPr sz="1150" b="0">
                <a:solidFill>
                  <a:srgbClr val="1F7A99"/>
                </a:solidFill>
                <a:latin typeface="Segoe UI"/>
              </a:rPr>
              <a:t>•  </a:t>
            </a:r>
            <a:r>
              <a:rPr sz="1150" b="0">
                <a:solidFill>
                  <a:srgbClr val="17262E"/>
                </a:solidFill>
                <a:latin typeface="Segoe UI"/>
              </a:rPr>
              <a:t>Fires on a small blip no user noticed</a:t>
            </a:r>
          </a:p>
          <a:p>
            <a:pPr>
              <a:spcAft>
                <a:spcPts val="700"/>
              </a:spcAft>
            </a:pPr>
            <a:r>
              <a:rPr sz="1150" b="0">
                <a:solidFill>
                  <a:srgbClr val="1F7A99"/>
                </a:solidFill>
                <a:latin typeface="Segoe UI"/>
              </a:rPr>
              <a:t>•  </a:t>
            </a:r>
            <a:r>
              <a:rPr sz="1150" b="0">
                <a:solidFill>
                  <a:srgbClr val="17262E"/>
                </a:solidFill>
                <a:latin typeface="Segoe UI"/>
              </a:rPr>
              <a:t>Pages so often the team mutes the channel</a:t>
            </a:r>
          </a:p>
          <a:p>
            <a:pPr>
              <a:spcAft>
                <a:spcPts val="700"/>
              </a:spcAft>
            </a:pPr>
            <a:r>
              <a:rPr sz="1150" b="0">
                <a:solidFill>
                  <a:srgbClr val="1F7A99"/>
                </a:solidFill>
                <a:latin typeface="Segoe UI"/>
              </a:rPr>
              <a:t>•  </a:t>
            </a:r>
            <a:r>
              <a:rPr sz="1150" b="0">
                <a:solidFill>
                  <a:srgbClr val="17262E"/>
                </a:solidFill>
                <a:latin typeface="Segoe UI"/>
              </a:rPr>
              <a:t>Nobody knows what to do when it arrives</a:t>
            </a:r>
          </a:p>
          <a:p>
            <a:pPr>
              <a:spcAft>
                <a:spcPts val="700"/>
              </a:spcAft>
            </a:pPr>
            <a:r>
              <a:rPr sz="1150" b="0">
                <a:solidFill>
                  <a:srgbClr val="1F7A99"/>
                </a:solidFill>
                <a:latin typeface="Segoe UI"/>
              </a:rPr>
              <a:t>•  </a:t>
            </a:r>
            <a:r>
              <a:rPr sz="1150" b="0">
                <a:solidFill>
                  <a:srgbClr val="17262E"/>
                </a:solidFill>
                <a:latin typeface="Segoe UI"/>
              </a:rPr>
              <a:t>Measures a server, not an outcome</a:t>
            </a:r>
          </a:p>
        </p:txBody>
      </p:sp>
      <p:sp>
        <p:nvSpPr>
          <p:cNvPr id="15" name="Rectangle 14"/>
          <p:cNvSpPr/>
          <p:nvPr/>
        </p:nvSpPr>
        <p:spPr>
          <a:xfrm>
            <a:off x="566928" y="4242816"/>
            <a:ext cx="11064240" cy="658368"/>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398264"/>
            <a:ext cx="10625328" cy="365760"/>
          </a:xfrm>
          <a:prstGeom prst="rect">
            <a:avLst/>
          </a:prstGeom>
          <a:noFill/>
        </p:spPr>
        <p:txBody>
          <a:bodyPr wrap="square" lIns="0" rIns="0" tIns="0" bIns="0">
            <a:spAutoFit/>
          </a:bodyPr>
          <a:lstStyle/>
          <a:p>
            <a:pPr>
              <a:spcBef>
                <a:spcPts val="0"/>
              </a:spcBef>
              <a:spcAft>
                <a:spcPts val="400"/>
              </a:spcAft>
            </a:pPr>
            <a:r>
              <a:rPr sz="1350" b="0" i="0">
                <a:solidFill>
                  <a:srgbClr val="FFFFFF"/>
                </a:solidFill>
                <a:latin typeface="Segoe UI"/>
              </a:rPr>
              <a:t>If customers notice outages before the team does, the alerts are not good enough yet.</a:t>
            </a:r>
          </a:p>
        </p:txBody>
      </p:sp>
      <p:sp>
        <p:nvSpPr>
          <p:cNvPr id="17" name="TextBox 16"/>
          <p:cNvSpPr txBox="1"/>
          <p:nvPr/>
        </p:nvSpPr>
        <p:spPr>
          <a:xfrm>
            <a:off x="566928" y="5084064"/>
            <a:ext cx="11064240" cy="457200"/>
          </a:xfrm>
          <a:prstGeom prst="rect">
            <a:avLst/>
          </a:prstGeom>
          <a:noFill/>
        </p:spPr>
        <p:txBody>
          <a:bodyPr wrap="square" lIns="0" rIns="0" tIns="0" bIns="0">
            <a:spAutoFit/>
          </a:bodyPr>
          <a:lstStyle/>
          <a:p>
            <a:pPr>
              <a:spcBef>
                <a:spcPts val="0"/>
              </a:spcBef>
              <a:spcAft>
                <a:spcPts val="0"/>
              </a:spcAft>
            </a:pPr>
            <a:r>
              <a:rPr sz="1100" b="0" i="1">
                <a:solidFill>
                  <a:srgbClr val="5B6B73"/>
                </a:solidFill>
                <a:latin typeface="Segoe UI"/>
              </a:rPr>
              <a:t>In this lab: four monitors ship with it — high error rate, high latency, pod restarts and memory saturation. Part 3 shows you three failure modes none of them can see.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Monitoring Kubernetes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Two layers, and one trap that catches almost everyone.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12</a:t>
            </a:r>
          </a:p>
        </p:txBody>
      </p:sp>
      <p:sp>
        <p:nvSpPr>
          <p:cNvPr id="7" name="Rectangle 6"/>
          <p:cNvSpPr/>
          <p:nvPr/>
        </p:nvSpPr>
        <p:spPr>
          <a:xfrm>
            <a:off x="566928" y="1682496"/>
            <a:ext cx="3703320" cy="3200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956816"/>
            <a:ext cx="164592" cy="16459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1856232"/>
            <a:ext cx="2880360" cy="365760"/>
          </a:xfrm>
          <a:prstGeom prst="rect">
            <a:avLst/>
          </a:prstGeom>
          <a:noFill/>
        </p:spPr>
        <p:txBody>
          <a:bodyPr wrap="square" lIns="0" rIns="0" tIns="0" bIns="0">
            <a:spAutoFit/>
          </a:bodyPr>
          <a:lstStyle/>
          <a:p>
            <a:pPr>
              <a:spcBef>
                <a:spcPts val="0"/>
              </a:spcBef>
              <a:spcAft>
                <a:spcPts val="0"/>
              </a:spcAft>
            </a:pPr>
            <a:r>
              <a:rPr sz="1600" b="1" i="0">
                <a:solidFill>
                  <a:srgbClr val="17262E"/>
                </a:solidFill>
                <a:latin typeface="Segoe UI"/>
              </a:rPr>
              <a:t>Platform layer</a:t>
            </a:r>
          </a:p>
        </p:txBody>
      </p:sp>
      <p:sp>
        <p:nvSpPr>
          <p:cNvPr id="10" name="TextBox 9"/>
          <p:cNvSpPr txBox="1"/>
          <p:nvPr/>
        </p:nvSpPr>
        <p:spPr>
          <a:xfrm>
            <a:off x="822960" y="2368296"/>
            <a:ext cx="3191256" cy="274320"/>
          </a:xfrm>
          <a:prstGeom prst="rect">
            <a:avLst/>
          </a:prstGeom>
          <a:noFill/>
        </p:spPr>
        <p:txBody>
          <a:bodyPr wrap="square" lIns="0" rIns="0" tIns="0" bIns="0">
            <a:spAutoFit/>
          </a:bodyPr>
          <a:lstStyle/>
          <a:p>
            <a:pPr>
              <a:spcBef>
                <a:spcPts val="0"/>
              </a:spcBef>
              <a:spcAft>
                <a:spcPts val="0"/>
              </a:spcAft>
            </a:pPr>
            <a:r>
              <a:rPr sz="1100" b="0" i="1">
                <a:solidFill>
                  <a:srgbClr val="5B6B73"/>
                </a:solidFill>
                <a:latin typeface="Segoe UI"/>
              </a:rPr>
              <a:t>Is the cluster able to run the workload?</a:t>
            </a:r>
          </a:p>
        </p:txBody>
      </p:sp>
      <p:sp>
        <p:nvSpPr>
          <p:cNvPr id="11" name="TextBox 10"/>
          <p:cNvSpPr txBox="1"/>
          <p:nvPr/>
        </p:nvSpPr>
        <p:spPr>
          <a:xfrm>
            <a:off x="822960" y="2734056"/>
            <a:ext cx="3154680" cy="1371600"/>
          </a:xfrm>
          <a:prstGeom prst="rect">
            <a:avLst/>
          </a:prstGeom>
          <a:noFill/>
        </p:spPr>
        <p:txBody>
          <a:bodyPr wrap="square" lIns="0" rIns="0" tIns="0" bIns="0">
            <a:spAutoFit/>
          </a:bodyPr>
          <a:lstStyle/>
          <a:p>
            <a:pPr>
              <a:spcAft>
                <a:spcPts val="600"/>
              </a:spcAft>
            </a:pPr>
            <a:r>
              <a:rPr sz="1100" b="0">
                <a:solidFill>
                  <a:srgbClr val="1F7A99"/>
                </a:solidFill>
                <a:latin typeface="Segoe UI"/>
              </a:rPr>
              <a:t>•  </a:t>
            </a:r>
            <a:r>
              <a:rPr sz="1100" b="0">
                <a:solidFill>
                  <a:srgbClr val="17262E"/>
                </a:solidFill>
                <a:latin typeface="Segoe UI"/>
              </a:rPr>
              <a:t>Nodes: ready, capacity, pressure</a:t>
            </a:r>
          </a:p>
          <a:p>
            <a:pPr>
              <a:spcAft>
                <a:spcPts val="600"/>
              </a:spcAft>
            </a:pPr>
            <a:r>
              <a:rPr sz="1100" b="0">
                <a:solidFill>
                  <a:srgbClr val="1F7A99"/>
                </a:solidFill>
                <a:latin typeface="Segoe UI"/>
              </a:rPr>
              <a:t>•  </a:t>
            </a:r>
            <a:r>
              <a:rPr sz="1100" b="0">
                <a:solidFill>
                  <a:srgbClr val="17262E"/>
                </a:solidFill>
                <a:latin typeface="Segoe UI"/>
              </a:rPr>
              <a:t>Container restarts and OOMKill events</a:t>
            </a:r>
          </a:p>
          <a:p>
            <a:pPr>
              <a:spcAft>
                <a:spcPts val="600"/>
              </a:spcAft>
            </a:pPr>
            <a:r>
              <a:rPr sz="1100" b="0">
                <a:solidFill>
                  <a:srgbClr val="1F7A99"/>
                </a:solidFill>
                <a:latin typeface="Segoe UI"/>
              </a:rPr>
              <a:t>•  </a:t>
            </a:r>
            <a:r>
              <a:rPr sz="1100" b="0">
                <a:solidFill>
                  <a:srgbClr val="17262E"/>
                </a:solidFill>
                <a:latin typeface="Segoe UI"/>
              </a:rPr>
              <a:t>Pods that cannot be scheduled</a:t>
            </a:r>
          </a:p>
          <a:p>
            <a:pPr>
              <a:spcAft>
                <a:spcPts val="600"/>
              </a:spcAft>
            </a:pPr>
            <a:r>
              <a:rPr sz="1100" b="0">
                <a:solidFill>
                  <a:srgbClr val="1F7A99"/>
                </a:solidFill>
                <a:latin typeface="Segoe UI"/>
              </a:rPr>
              <a:t>•  </a:t>
            </a:r>
            <a:r>
              <a:rPr sz="1100" b="0">
                <a:solidFill>
                  <a:srgbClr val="17262E"/>
                </a:solidFill>
                <a:latin typeface="Segoe UI"/>
              </a:rPr>
              <a:t>Rollouts that never became healthy</a:t>
            </a:r>
          </a:p>
        </p:txBody>
      </p:sp>
      <p:sp>
        <p:nvSpPr>
          <p:cNvPr id="12" name="Rectangle 11"/>
          <p:cNvSpPr/>
          <p:nvPr/>
        </p:nvSpPr>
        <p:spPr>
          <a:xfrm>
            <a:off x="822960" y="4197096"/>
            <a:ext cx="3191256"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4306824"/>
            <a:ext cx="2880360" cy="411480"/>
          </a:xfrm>
          <a:prstGeom prst="rect">
            <a:avLst/>
          </a:prstGeom>
          <a:noFill/>
        </p:spPr>
        <p:txBody>
          <a:bodyPr wrap="square" lIns="0" rIns="0" tIns="0" bIns="0">
            <a:spAutoFit/>
          </a:bodyPr>
          <a:lstStyle/>
          <a:p>
            <a:pPr>
              <a:spcBef>
                <a:spcPts val="0"/>
              </a:spcBef>
              <a:spcAft>
                <a:spcPts val="0"/>
              </a:spcAft>
            </a:pPr>
            <a:r>
              <a:rPr sz="1050" b="0" i="1">
                <a:solidFill>
                  <a:srgbClr val="5B6B73"/>
                </a:solidFill>
                <a:latin typeface="Segoe UI"/>
              </a:rPr>
              <a:t>Example monitor: more than three restarts in ten minutes.</a:t>
            </a:r>
          </a:p>
        </p:txBody>
      </p:sp>
      <p:sp>
        <p:nvSpPr>
          <p:cNvPr id="14" name="Rectangle 13"/>
          <p:cNvSpPr/>
          <p:nvPr/>
        </p:nvSpPr>
        <p:spPr>
          <a:xfrm>
            <a:off x="4453128" y="1682496"/>
            <a:ext cx="3703320" cy="3200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09160" y="1956816"/>
            <a:ext cx="164592" cy="164592"/>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1856232"/>
            <a:ext cx="2880360" cy="365760"/>
          </a:xfrm>
          <a:prstGeom prst="rect">
            <a:avLst/>
          </a:prstGeom>
          <a:noFill/>
        </p:spPr>
        <p:txBody>
          <a:bodyPr wrap="square" lIns="0" rIns="0" tIns="0" bIns="0">
            <a:spAutoFit/>
          </a:bodyPr>
          <a:lstStyle/>
          <a:p>
            <a:pPr>
              <a:spcBef>
                <a:spcPts val="0"/>
              </a:spcBef>
              <a:spcAft>
                <a:spcPts val="0"/>
              </a:spcAft>
            </a:pPr>
            <a:r>
              <a:rPr sz="1600" b="1" i="0">
                <a:solidFill>
                  <a:srgbClr val="17262E"/>
                </a:solidFill>
                <a:latin typeface="Segoe UI"/>
              </a:rPr>
              <a:t>Application layer</a:t>
            </a:r>
          </a:p>
        </p:txBody>
      </p:sp>
      <p:sp>
        <p:nvSpPr>
          <p:cNvPr id="17" name="TextBox 16"/>
          <p:cNvSpPr txBox="1"/>
          <p:nvPr/>
        </p:nvSpPr>
        <p:spPr>
          <a:xfrm>
            <a:off x="4709160" y="2368296"/>
            <a:ext cx="3191256" cy="274320"/>
          </a:xfrm>
          <a:prstGeom prst="rect">
            <a:avLst/>
          </a:prstGeom>
          <a:noFill/>
        </p:spPr>
        <p:txBody>
          <a:bodyPr wrap="square" lIns="0" rIns="0" tIns="0" bIns="0">
            <a:spAutoFit/>
          </a:bodyPr>
          <a:lstStyle/>
          <a:p>
            <a:pPr>
              <a:spcBef>
                <a:spcPts val="0"/>
              </a:spcBef>
              <a:spcAft>
                <a:spcPts val="0"/>
              </a:spcAft>
            </a:pPr>
            <a:r>
              <a:rPr sz="1100" b="0" i="1">
                <a:solidFill>
                  <a:srgbClr val="5B6B73"/>
                </a:solidFill>
                <a:latin typeface="Segoe UI"/>
              </a:rPr>
              <a:t>Is each service serving users?</a:t>
            </a:r>
          </a:p>
        </p:txBody>
      </p:sp>
      <p:sp>
        <p:nvSpPr>
          <p:cNvPr id="18" name="TextBox 17"/>
          <p:cNvSpPr txBox="1"/>
          <p:nvPr/>
        </p:nvSpPr>
        <p:spPr>
          <a:xfrm>
            <a:off x="4709160" y="2734056"/>
            <a:ext cx="3154680" cy="1371600"/>
          </a:xfrm>
          <a:prstGeom prst="rect">
            <a:avLst/>
          </a:prstGeom>
          <a:noFill/>
        </p:spPr>
        <p:txBody>
          <a:bodyPr wrap="square" lIns="0" rIns="0" tIns="0" bIns="0">
            <a:spAutoFit/>
          </a:bodyPr>
          <a:lstStyle/>
          <a:p>
            <a:pPr>
              <a:spcAft>
                <a:spcPts val="600"/>
              </a:spcAft>
            </a:pPr>
            <a:r>
              <a:rPr sz="1100" b="0">
                <a:solidFill>
                  <a:srgbClr val="1F7A99"/>
                </a:solidFill>
                <a:latin typeface="Segoe UI"/>
              </a:rPr>
              <a:t>•  </a:t>
            </a:r>
            <a:r>
              <a:rPr sz="1100" b="0">
                <a:solidFill>
                  <a:srgbClr val="17262E"/>
                </a:solidFill>
                <a:latin typeface="Segoe UI"/>
              </a:rPr>
              <a:t>Traffic per service and endpoint</a:t>
            </a:r>
          </a:p>
          <a:p>
            <a:pPr>
              <a:spcAft>
                <a:spcPts val="600"/>
              </a:spcAft>
            </a:pPr>
            <a:r>
              <a:rPr sz="1100" b="0">
                <a:solidFill>
                  <a:srgbClr val="1F7A99"/>
                </a:solidFill>
                <a:latin typeface="Segoe UI"/>
              </a:rPr>
              <a:t>•  </a:t>
            </a:r>
            <a:r>
              <a:rPr sz="1100" b="0">
                <a:solidFill>
                  <a:srgbClr val="17262E"/>
                </a:solidFill>
                <a:latin typeface="Segoe UI"/>
              </a:rPr>
              <a:t>Error rate per service</a:t>
            </a:r>
          </a:p>
          <a:p>
            <a:pPr>
              <a:spcAft>
                <a:spcPts val="600"/>
              </a:spcAft>
            </a:pPr>
            <a:r>
              <a:rPr sz="1100" b="0">
                <a:solidFill>
                  <a:srgbClr val="1F7A99"/>
                </a:solidFill>
                <a:latin typeface="Segoe UI"/>
              </a:rPr>
              <a:t>•  </a:t>
            </a:r>
            <a:r>
              <a:rPr sz="1100" b="0">
                <a:solidFill>
                  <a:srgbClr val="17262E"/>
                </a:solidFill>
                <a:latin typeface="Segoe UI"/>
              </a:rPr>
              <a:t>p95 latency per service</a:t>
            </a:r>
          </a:p>
          <a:p>
            <a:pPr>
              <a:spcAft>
                <a:spcPts val="600"/>
              </a:spcAft>
            </a:pPr>
            <a:r>
              <a:rPr sz="1100" b="0">
                <a:solidFill>
                  <a:srgbClr val="1F7A99"/>
                </a:solidFill>
                <a:latin typeface="Segoe UI"/>
              </a:rPr>
              <a:t>•  </a:t>
            </a:r>
            <a:r>
              <a:rPr sz="1100" b="0">
                <a:solidFill>
                  <a:srgbClr val="17262E"/>
                </a:solidFill>
                <a:latin typeface="Segoe UI"/>
              </a:rPr>
              <a:t>Dependency health (database, cache, queue)</a:t>
            </a:r>
          </a:p>
        </p:txBody>
      </p:sp>
      <p:sp>
        <p:nvSpPr>
          <p:cNvPr id="19" name="Rectangle 18"/>
          <p:cNvSpPr/>
          <p:nvPr/>
        </p:nvSpPr>
        <p:spPr>
          <a:xfrm>
            <a:off x="4709160" y="4197096"/>
            <a:ext cx="3191256"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64608" y="4306824"/>
            <a:ext cx="2880360" cy="411480"/>
          </a:xfrm>
          <a:prstGeom prst="rect">
            <a:avLst/>
          </a:prstGeom>
          <a:noFill/>
        </p:spPr>
        <p:txBody>
          <a:bodyPr wrap="square" lIns="0" rIns="0" tIns="0" bIns="0">
            <a:spAutoFit/>
          </a:bodyPr>
          <a:lstStyle/>
          <a:p>
            <a:pPr>
              <a:spcBef>
                <a:spcPts val="0"/>
              </a:spcBef>
              <a:spcAft>
                <a:spcPts val="0"/>
              </a:spcAft>
            </a:pPr>
            <a:r>
              <a:rPr sz="1050" b="0" i="1">
                <a:solidFill>
                  <a:srgbClr val="5B6B73"/>
                </a:solidFill>
                <a:latin typeface="Segoe UI"/>
              </a:rPr>
              <a:t>Example monitor: 5xx rate above 5% for five minutes.</a:t>
            </a:r>
          </a:p>
        </p:txBody>
      </p:sp>
      <p:sp>
        <p:nvSpPr>
          <p:cNvPr id="21" name="Rectangle 20"/>
          <p:cNvSpPr/>
          <p:nvPr/>
        </p:nvSpPr>
        <p:spPr>
          <a:xfrm>
            <a:off x="8339328" y="1682496"/>
            <a:ext cx="3291840" cy="17830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58784" y="1837944"/>
            <a:ext cx="2852928" cy="1490472"/>
          </a:xfrm>
          <a:prstGeom prst="rect">
            <a:avLst/>
          </a:prstGeom>
          <a:noFill/>
        </p:spPr>
        <p:txBody>
          <a:bodyPr wrap="square" lIns="0" rIns="0" tIns="0" bIns="0">
            <a:spAutoFit/>
          </a:bodyPr>
          <a:lstStyle/>
          <a:p>
            <a:pPr>
              <a:spcBef>
                <a:spcPts val="0"/>
              </a:spcBef>
              <a:spcAft>
                <a:spcPts val="600"/>
              </a:spcAft>
            </a:pPr>
            <a:r>
              <a:rPr sz="1100" b="1" i="0">
                <a:solidFill>
                  <a:srgbClr val="D1495B"/>
                </a:solidFill>
                <a:latin typeface="Segoe UI"/>
              </a:rPr>
              <a:t>THE TRAP</a:t>
            </a:r>
          </a:p>
          <a:p>
            <a:pPr>
              <a:spcBef>
                <a:spcPts val="0"/>
              </a:spcBef>
              <a:spcAft>
                <a:spcPts val="400"/>
              </a:spcAft>
            </a:pPr>
            <a:r>
              <a:rPr sz="1100" b="0" i="0">
                <a:solidFill>
                  <a:srgbClr val="9FB3BD"/>
                </a:solidFill>
                <a:latin typeface="Segoe UI"/>
              </a:rPr>
              <a:t>Pod status says Running, and users still fail.</a:t>
            </a:r>
          </a:p>
          <a:p>
            <a:pPr>
              <a:spcBef>
                <a:spcPts val="0"/>
              </a:spcBef>
              <a:spcAft>
                <a:spcPts val="400"/>
              </a:spcAft>
            </a:pPr>
            <a:r>
              <a:rPr sz="1100" b="0" i="0">
                <a:solidFill>
                  <a:srgbClr val="9FB3BD"/>
                </a:solidFill>
                <a:latin typeface="Segoe UI"/>
              </a:rPr>
              <a:t>Readiness must fail when a hard dependency is unreachable. In this lab /readyz runs a real SELECT 1, so a pod that loses Postgres leaves the Service.</a:t>
            </a:r>
          </a:p>
        </p:txBody>
      </p:sp>
      <p:sp>
        <p:nvSpPr>
          <p:cNvPr id="23" name="Rectangle 22"/>
          <p:cNvSpPr/>
          <p:nvPr/>
        </p:nvSpPr>
        <p:spPr>
          <a:xfrm>
            <a:off x="8339328" y="3602736"/>
            <a:ext cx="3291840" cy="12801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39328" y="3602736"/>
            <a:ext cx="44450" cy="128016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58784" y="3758184"/>
            <a:ext cx="2852928" cy="98755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Tag everything consistently</a:t>
            </a:r>
          </a:p>
          <a:p>
            <a:pPr>
              <a:spcBef>
                <a:spcPts val="0"/>
              </a:spcBef>
              <a:spcAft>
                <a:spcPts val="400"/>
              </a:spcAft>
            </a:pPr>
            <a:r>
              <a:rPr sz="1050" b="0" i="0">
                <a:solidFill>
                  <a:srgbClr val="17262E"/>
                </a:solidFill>
                <a:latin typeface="Segoe UI"/>
              </a:rPr>
              <a:t>env · service · version</a:t>
            </a:r>
          </a:p>
          <a:p>
            <a:pPr>
              <a:spcBef>
                <a:spcPts val="0"/>
              </a:spcBef>
              <a:spcAft>
                <a:spcPts val="400"/>
              </a:spcAft>
            </a:pPr>
            <a:r>
              <a:rPr sz="1050" b="0" i="0">
                <a:solidFill>
                  <a:srgbClr val="17262E"/>
                </a:solidFill>
                <a:latin typeface="Segoe UI"/>
              </a:rPr>
              <a:t>It is what joins metrics, logs and traces — and it must reach cluster-level data too.</a:t>
            </a:r>
          </a:p>
        </p:txBody>
      </p:sp>
      <p:sp>
        <p:nvSpPr>
          <p:cNvPr id="26" name="Rectangle 25"/>
          <p:cNvSpPr/>
          <p:nvPr/>
        </p:nvSpPr>
        <p:spPr>
          <a:xfrm>
            <a:off x="566928" y="5065776"/>
            <a:ext cx="11064240" cy="548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221224"/>
            <a:ext cx="10625328" cy="256032"/>
          </a:xfrm>
          <a:prstGeom prst="rect">
            <a:avLst/>
          </a:prstGeom>
          <a:noFill/>
        </p:spPr>
        <p:txBody>
          <a:bodyPr wrap="square" lIns="0" rIns="0" tIns="0" bIns="0">
            <a:spAutoFit/>
          </a:bodyPr>
          <a:lstStyle/>
          <a:p>
            <a:pPr>
              <a:spcAft>
                <a:spcPts val="400"/>
              </a:spcAft>
            </a:pPr>
            <a:r>
              <a:rPr sz="1150" b="1">
                <a:solidFill>
                  <a:srgbClr val="1F7A99"/>
                </a:solidFill>
                <a:latin typeface="Segoe UI"/>
              </a:rPr>
              <a:t>Check both layers, in this order:  </a:t>
            </a:r>
            <a:r>
              <a:rPr sz="1150" b="0">
                <a:solidFill>
                  <a:srgbClr val="17262E"/>
                </a:solidFill>
                <a:latin typeface="Segoe UI"/>
              </a:rPr>
              <a:t>kubectl get pods → describe pod → service dashboard → trace → logs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Incidents, runbooks, postmortems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The three words that show up in every SRE job description.</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13</a:t>
            </a:r>
          </a:p>
        </p:txBody>
      </p:sp>
      <p:sp>
        <p:nvSpPr>
          <p:cNvPr id="7" name="Rectangle 6"/>
          <p:cNvSpPr/>
          <p:nvPr/>
        </p:nvSpPr>
        <p:spPr>
          <a:xfrm>
            <a:off x="566928" y="1682496"/>
            <a:ext cx="5852160" cy="987552"/>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901952"/>
            <a:ext cx="164592" cy="164592"/>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1810512"/>
            <a:ext cx="4572000" cy="320040"/>
          </a:xfrm>
          <a:prstGeom prst="rect">
            <a:avLst/>
          </a:prstGeom>
          <a:noFill/>
        </p:spPr>
        <p:txBody>
          <a:bodyPr wrap="square" lIns="0" rIns="0" tIns="0" bIns="0">
            <a:spAutoFit/>
          </a:bodyPr>
          <a:lstStyle/>
          <a:p>
            <a:pPr>
              <a:spcBef>
                <a:spcPts val="0"/>
              </a:spcBef>
              <a:spcAft>
                <a:spcPts val="0"/>
              </a:spcAft>
            </a:pPr>
            <a:r>
              <a:rPr sz="1500" b="1" i="0">
                <a:solidFill>
                  <a:srgbClr val="17262E"/>
                </a:solidFill>
                <a:latin typeface="Segoe UI"/>
              </a:rPr>
              <a:t>Incident</a:t>
            </a:r>
          </a:p>
        </p:txBody>
      </p:sp>
      <p:sp>
        <p:nvSpPr>
          <p:cNvPr id="10" name="TextBox 9"/>
          <p:cNvSpPr txBox="1"/>
          <p:nvPr/>
        </p:nvSpPr>
        <p:spPr>
          <a:xfrm>
            <a:off x="1115568" y="2185416"/>
            <a:ext cx="5029200" cy="4114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Something is wrong for users, or is about to be.</a:t>
            </a:r>
          </a:p>
        </p:txBody>
      </p:sp>
      <p:sp>
        <p:nvSpPr>
          <p:cNvPr id="11" name="Rectangle 10"/>
          <p:cNvSpPr/>
          <p:nvPr/>
        </p:nvSpPr>
        <p:spPr>
          <a:xfrm>
            <a:off x="566928" y="2825496"/>
            <a:ext cx="5852160" cy="987552"/>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044952"/>
            <a:ext cx="164592" cy="16459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953512"/>
            <a:ext cx="4572000" cy="320040"/>
          </a:xfrm>
          <a:prstGeom prst="rect">
            <a:avLst/>
          </a:prstGeom>
          <a:noFill/>
        </p:spPr>
        <p:txBody>
          <a:bodyPr wrap="square" lIns="0" rIns="0" tIns="0" bIns="0">
            <a:spAutoFit/>
          </a:bodyPr>
          <a:lstStyle/>
          <a:p>
            <a:pPr>
              <a:spcBef>
                <a:spcPts val="0"/>
              </a:spcBef>
              <a:spcAft>
                <a:spcPts val="0"/>
              </a:spcAft>
            </a:pPr>
            <a:r>
              <a:rPr sz="1500" b="1" i="0">
                <a:solidFill>
                  <a:srgbClr val="17262E"/>
                </a:solidFill>
                <a:latin typeface="Segoe UI"/>
              </a:rPr>
              <a:t>Runbook</a:t>
            </a:r>
          </a:p>
        </p:txBody>
      </p:sp>
      <p:sp>
        <p:nvSpPr>
          <p:cNvPr id="14" name="TextBox 13"/>
          <p:cNvSpPr txBox="1"/>
          <p:nvPr/>
        </p:nvSpPr>
        <p:spPr>
          <a:xfrm>
            <a:off x="1115568" y="3328416"/>
            <a:ext cx="5029200" cy="4114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A short checklist of what to check first for a known failure mode.</a:t>
            </a:r>
          </a:p>
        </p:txBody>
      </p:sp>
      <p:sp>
        <p:nvSpPr>
          <p:cNvPr id="15" name="Rectangle 14"/>
          <p:cNvSpPr/>
          <p:nvPr/>
        </p:nvSpPr>
        <p:spPr>
          <a:xfrm>
            <a:off x="566928" y="3968496"/>
            <a:ext cx="5852160" cy="987552"/>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 y="4187952"/>
            <a:ext cx="164592" cy="164592"/>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4096512"/>
            <a:ext cx="4572000" cy="320040"/>
          </a:xfrm>
          <a:prstGeom prst="rect">
            <a:avLst/>
          </a:prstGeom>
          <a:noFill/>
        </p:spPr>
        <p:txBody>
          <a:bodyPr wrap="square" lIns="0" rIns="0" tIns="0" bIns="0">
            <a:spAutoFit/>
          </a:bodyPr>
          <a:lstStyle/>
          <a:p>
            <a:pPr>
              <a:spcBef>
                <a:spcPts val="0"/>
              </a:spcBef>
              <a:spcAft>
                <a:spcPts val="0"/>
              </a:spcAft>
            </a:pPr>
            <a:r>
              <a:rPr sz="1500" b="1" i="0">
                <a:solidFill>
                  <a:srgbClr val="17262E"/>
                </a:solidFill>
                <a:latin typeface="Segoe UI"/>
              </a:rPr>
              <a:t>Postmortem</a:t>
            </a:r>
          </a:p>
        </p:txBody>
      </p:sp>
      <p:sp>
        <p:nvSpPr>
          <p:cNvPr id="18" name="TextBox 17"/>
          <p:cNvSpPr txBox="1"/>
          <p:nvPr/>
        </p:nvSpPr>
        <p:spPr>
          <a:xfrm>
            <a:off x="1115568" y="4471416"/>
            <a:ext cx="5029200" cy="4114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What we write afterwards so the next person is faster than we were.</a:t>
            </a:r>
          </a:p>
        </p:txBody>
      </p:sp>
      <p:sp>
        <p:nvSpPr>
          <p:cNvPr id="19" name="TextBox 18"/>
          <p:cNvSpPr txBox="1"/>
          <p:nvPr/>
        </p:nvSpPr>
        <p:spPr>
          <a:xfrm>
            <a:off x="566928" y="5202936"/>
            <a:ext cx="5852160" cy="27432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Consolas"/>
              </a:rPr>
              <a:t>Runbooks for this lab live in  docs/runbooks/</a:t>
            </a:r>
          </a:p>
        </p:txBody>
      </p:sp>
      <p:sp>
        <p:nvSpPr>
          <p:cNvPr id="20" name="Rectangle 19"/>
          <p:cNvSpPr/>
          <p:nvPr/>
        </p:nvSpPr>
        <p:spPr>
          <a:xfrm>
            <a:off x="6876288" y="1682496"/>
            <a:ext cx="4754880" cy="379476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50608" y="1883664"/>
            <a:ext cx="4206240" cy="365760"/>
          </a:xfrm>
          <a:prstGeom prst="rect">
            <a:avLst/>
          </a:prstGeom>
          <a:noFill/>
        </p:spPr>
        <p:txBody>
          <a:bodyPr wrap="square" lIns="0" rIns="0" tIns="0" bIns="0">
            <a:spAutoFit/>
          </a:bodyPr>
          <a:lstStyle/>
          <a:p>
            <a:pPr>
              <a:spcBef>
                <a:spcPts val="0"/>
              </a:spcBef>
              <a:spcAft>
                <a:spcPts val="0"/>
              </a:spcAft>
            </a:pPr>
            <a:r>
              <a:rPr sz="1500" b="1" i="0">
                <a:solidFill>
                  <a:srgbClr val="FFFFFF"/>
                </a:solidFill>
                <a:latin typeface="Segoe UI"/>
              </a:rPr>
              <a:t>The postmortem, in six lines</a:t>
            </a:r>
          </a:p>
        </p:txBody>
      </p:sp>
      <p:sp>
        <p:nvSpPr>
          <p:cNvPr id="22" name="Oval 21"/>
          <p:cNvSpPr/>
          <p:nvPr/>
        </p:nvSpPr>
        <p:spPr>
          <a:xfrm>
            <a:off x="7150608" y="2368296"/>
            <a:ext cx="292608" cy="292608"/>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50608" y="2423160"/>
            <a:ext cx="292608" cy="292608"/>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1</a:t>
            </a:r>
          </a:p>
        </p:txBody>
      </p:sp>
      <p:sp>
        <p:nvSpPr>
          <p:cNvPr id="24" name="TextBox 23"/>
          <p:cNvSpPr txBox="1"/>
          <p:nvPr/>
        </p:nvSpPr>
        <p:spPr>
          <a:xfrm>
            <a:off x="7589520" y="2395728"/>
            <a:ext cx="3840480" cy="36576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How we found out: alert, support ticket, or user report</a:t>
            </a:r>
          </a:p>
        </p:txBody>
      </p:sp>
      <p:sp>
        <p:nvSpPr>
          <p:cNvPr id="25" name="Oval 24"/>
          <p:cNvSpPr/>
          <p:nvPr/>
        </p:nvSpPr>
        <p:spPr>
          <a:xfrm>
            <a:off x="7150608" y="2807208"/>
            <a:ext cx="292608" cy="292608"/>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50608" y="2862072"/>
            <a:ext cx="292608" cy="292608"/>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2</a:t>
            </a:r>
          </a:p>
        </p:txBody>
      </p:sp>
      <p:sp>
        <p:nvSpPr>
          <p:cNvPr id="27" name="TextBox 26"/>
          <p:cNvSpPr txBox="1"/>
          <p:nvPr/>
        </p:nvSpPr>
        <p:spPr>
          <a:xfrm>
            <a:off x="7589520" y="2834640"/>
            <a:ext cx="3840480" cy="36576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What customers could not do</a:t>
            </a:r>
          </a:p>
        </p:txBody>
      </p:sp>
      <p:sp>
        <p:nvSpPr>
          <p:cNvPr id="28" name="Oval 27"/>
          <p:cNvSpPr/>
          <p:nvPr/>
        </p:nvSpPr>
        <p:spPr>
          <a:xfrm>
            <a:off x="7150608" y="3246120"/>
            <a:ext cx="292608" cy="292608"/>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50608" y="3300984"/>
            <a:ext cx="292608" cy="292608"/>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3</a:t>
            </a:r>
          </a:p>
        </p:txBody>
      </p:sp>
      <p:sp>
        <p:nvSpPr>
          <p:cNvPr id="30" name="TextBox 29"/>
          <p:cNvSpPr txBox="1"/>
          <p:nvPr/>
        </p:nvSpPr>
        <p:spPr>
          <a:xfrm>
            <a:off x="7589520" y="3273552"/>
            <a:ext cx="3840480" cy="36576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How we diagnosed it</a:t>
            </a:r>
          </a:p>
        </p:txBody>
      </p:sp>
      <p:sp>
        <p:nvSpPr>
          <p:cNvPr id="31" name="Oval 30"/>
          <p:cNvSpPr/>
          <p:nvPr/>
        </p:nvSpPr>
        <p:spPr>
          <a:xfrm>
            <a:off x="7150608" y="3685032"/>
            <a:ext cx="292608" cy="292608"/>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50608" y="3739896"/>
            <a:ext cx="292608" cy="292608"/>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4</a:t>
            </a:r>
          </a:p>
        </p:txBody>
      </p:sp>
      <p:sp>
        <p:nvSpPr>
          <p:cNvPr id="33" name="TextBox 32"/>
          <p:cNvSpPr txBox="1"/>
          <p:nvPr/>
        </p:nvSpPr>
        <p:spPr>
          <a:xfrm>
            <a:off x="7589520" y="3712464"/>
            <a:ext cx="3840480" cy="36576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What actually fixed it</a:t>
            </a:r>
          </a:p>
        </p:txBody>
      </p:sp>
      <p:sp>
        <p:nvSpPr>
          <p:cNvPr id="34" name="Oval 33"/>
          <p:cNvSpPr/>
          <p:nvPr/>
        </p:nvSpPr>
        <p:spPr>
          <a:xfrm>
            <a:off x="7150608" y="4123944"/>
            <a:ext cx="292608" cy="292608"/>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50608" y="4178808"/>
            <a:ext cx="292608" cy="292608"/>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5</a:t>
            </a:r>
          </a:p>
        </p:txBody>
      </p:sp>
      <p:sp>
        <p:nvSpPr>
          <p:cNvPr id="36" name="TextBox 35"/>
          <p:cNvSpPr txBox="1"/>
          <p:nvPr/>
        </p:nvSpPr>
        <p:spPr>
          <a:xfrm>
            <a:off x="7589520" y="4151376"/>
            <a:ext cx="3840480" cy="36576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Impact, including error budget if you can estimate it</a:t>
            </a:r>
          </a:p>
        </p:txBody>
      </p:sp>
      <p:sp>
        <p:nvSpPr>
          <p:cNvPr id="37" name="Oval 36"/>
          <p:cNvSpPr/>
          <p:nvPr/>
        </p:nvSpPr>
        <p:spPr>
          <a:xfrm>
            <a:off x="7150608" y="4562856"/>
            <a:ext cx="292608" cy="292608"/>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50608" y="4617720"/>
            <a:ext cx="292608" cy="292608"/>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6</a:t>
            </a:r>
          </a:p>
        </p:txBody>
      </p:sp>
      <p:sp>
        <p:nvSpPr>
          <p:cNvPr id="39" name="TextBox 38"/>
          <p:cNvSpPr txBox="1"/>
          <p:nvPr/>
        </p:nvSpPr>
        <p:spPr>
          <a:xfrm>
            <a:off x="7589520" y="4590288"/>
            <a:ext cx="3840480" cy="365760"/>
          </a:xfrm>
          <a:prstGeom prst="rect">
            <a:avLst/>
          </a:prstGeom>
          <a:noFill/>
        </p:spPr>
        <p:txBody>
          <a:bodyPr wrap="square" lIns="0" rIns="0" tIns="0" bIns="0">
            <a:spAutoFit/>
          </a:bodyPr>
          <a:lstStyle/>
          <a:p>
            <a:pPr>
              <a:spcBef>
                <a:spcPts val="0"/>
              </a:spcBef>
              <a:spcAft>
                <a:spcPts val="0"/>
              </a:spcAft>
            </a:pPr>
            <a:r>
              <a:rPr sz="1100" b="0" i="0">
                <a:solidFill>
                  <a:srgbClr val="9FB3BD"/>
                </a:solidFill>
                <a:latin typeface="Segoe UI"/>
              </a:rPr>
              <a:t>One prevention improvement</a:t>
            </a:r>
          </a:p>
        </p:txBody>
      </p:sp>
      <p:sp>
        <p:nvSpPr>
          <p:cNvPr id="40" name="Rectangle 39"/>
          <p:cNvSpPr/>
          <p:nvPr/>
        </p:nvSpPr>
        <p:spPr>
          <a:xfrm>
            <a:off x="7150608" y="4992624"/>
            <a:ext cx="4206240" cy="384048"/>
          </a:xfrm>
          <a:prstGeom prst="rect">
            <a:avLst/>
          </a:prstGeom>
          <a:solidFill>
            <a:srgbClr val="18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33488" y="5065776"/>
            <a:ext cx="3931920" cy="274320"/>
          </a:xfrm>
          <a:prstGeom prst="rect">
            <a:avLst/>
          </a:prstGeom>
          <a:noFill/>
        </p:spPr>
        <p:txBody>
          <a:bodyPr wrap="square" lIns="0" rIns="0" tIns="0" bIns="0">
            <a:spAutoFit/>
          </a:bodyPr>
          <a:lstStyle/>
          <a:p>
            <a:pPr>
              <a:spcBef>
                <a:spcPts val="0"/>
              </a:spcBef>
              <a:spcAft>
                <a:spcPts val="0"/>
              </a:spcAft>
            </a:pPr>
            <a:r>
              <a:rPr sz="1050" b="1" i="1">
                <a:solidFill>
                  <a:srgbClr val="E8A020"/>
                </a:solidFill>
                <a:latin typeface="Segoe UI"/>
              </a:rPr>
              <a:t>Blameless: fix the system and the detection, never the person.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Who actually gets paged first?</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It depends on the operating model, not on the job title.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14</a:t>
            </a:r>
          </a:p>
        </p:txBody>
      </p:sp>
      <p:sp>
        <p:nvSpPr>
          <p:cNvPr id="7" name="Rectangle 6"/>
          <p:cNvSpPr/>
          <p:nvPr/>
        </p:nvSpPr>
        <p:spPr>
          <a:xfrm>
            <a:off x="566928" y="1682496"/>
            <a:ext cx="3566160" cy="23317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938528"/>
            <a:ext cx="164592" cy="16459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9424"/>
            <a:ext cx="3054096" cy="548640"/>
          </a:xfrm>
          <a:prstGeom prst="rect">
            <a:avLst/>
          </a:prstGeom>
          <a:noFill/>
        </p:spPr>
        <p:txBody>
          <a:bodyPr wrap="square" lIns="0" rIns="0" tIns="0" bIns="0">
            <a:spAutoFit/>
          </a:bodyPr>
          <a:lstStyle/>
          <a:p>
            <a:pPr>
              <a:spcBef>
                <a:spcPts val="0"/>
              </a:spcBef>
              <a:spcAft>
                <a:spcPts val="0"/>
              </a:spcAft>
            </a:pPr>
            <a:r>
              <a:rPr sz="1450" b="1" i="0">
                <a:solidFill>
                  <a:srgbClr val="17262E"/>
                </a:solidFill>
                <a:latin typeface="Segoe UI"/>
              </a:rPr>
              <a:t>Dedicated SRE team</a:t>
            </a:r>
          </a:p>
        </p:txBody>
      </p:sp>
      <p:sp>
        <p:nvSpPr>
          <p:cNvPr id="10" name="TextBox 9"/>
          <p:cNvSpPr txBox="1"/>
          <p:nvPr/>
        </p:nvSpPr>
        <p:spPr>
          <a:xfrm>
            <a:off x="822960" y="2852928"/>
            <a:ext cx="3054096" cy="8229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SRE holds the primary pager for services they have onboarded. The development team is secondary. Common where formal error budgets exist.</a:t>
            </a:r>
          </a:p>
        </p:txBody>
      </p:sp>
      <p:sp>
        <p:nvSpPr>
          <p:cNvPr id="11" name="TextBox 10"/>
          <p:cNvSpPr txBox="1"/>
          <p:nvPr/>
        </p:nvSpPr>
        <p:spPr>
          <a:xfrm>
            <a:off x="822960" y="3648456"/>
            <a:ext cx="3054096" cy="274320"/>
          </a:xfrm>
          <a:prstGeom prst="rect">
            <a:avLst/>
          </a:prstGeom>
          <a:noFill/>
        </p:spPr>
        <p:txBody>
          <a:bodyPr wrap="square" lIns="0" rIns="0" tIns="0" bIns="0">
            <a:spAutoFit/>
          </a:bodyPr>
          <a:lstStyle/>
          <a:p>
            <a:pPr>
              <a:spcBef>
                <a:spcPts val="0"/>
              </a:spcBef>
              <a:spcAft>
                <a:spcPts val="0"/>
              </a:spcAft>
            </a:pPr>
            <a:r>
              <a:rPr sz="1100" b="1" i="0">
                <a:solidFill>
                  <a:srgbClr val="1F7A99"/>
                </a:solidFill>
                <a:latin typeface="Segoe UI"/>
              </a:rPr>
              <a:t>First responder: SRE</a:t>
            </a:r>
          </a:p>
        </p:txBody>
      </p:sp>
      <p:sp>
        <p:nvSpPr>
          <p:cNvPr id="12" name="Rectangle 11"/>
          <p:cNvSpPr/>
          <p:nvPr/>
        </p:nvSpPr>
        <p:spPr>
          <a:xfrm>
            <a:off x="4315968" y="1682496"/>
            <a:ext cx="3566160" cy="23317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72000" y="1938528"/>
            <a:ext cx="164592" cy="164592"/>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249424"/>
            <a:ext cx="3054096" cy="548640"/>
          </a:xfrm>
          <a:prstGeom prst="rect">
            <a:avLst/>
          </a:prstGeom>
          <a:noFill/>
        </p:spPr>
        <p:txBody>
          <a:bodyPr wrap="square" lIns="0" rIns="0" tIns="0" bIns="0">
            <a:spAutoFit/>
          </a:bodyPr>
          <a:lstStyle/>
          <a:p>
            <a:pPr>
              <a:spcBef>
                <a:spcPts val="0"/>
              </a:spcBef>
              <a:spcAft>
                <a:spcPts val="0"/>
              </a:spcAft>
            </a:pPr>
            <a:r>
              <a:rPr sz="1450" b="1" i="0">
                <a:solidFill>
                  <a:srgbClr val="17262E"/>
                </a:solidFill>
                <a:latin typeface="Segoe UI"/>
              </a:rPr>
              <a:t>You build it, you run it</a:t>
            </a:r>
          </a:p>
        </p:txBody>
      </p:sp>
      <p:sp>
        <p:nvSpPr>
          <p:cNvPr id="15" name="TextBox 14"/>
          <p:cNvSpPr txBox="1"/>
          <p:nvPr/>
        </p:nvSpPr>
        <p:spPr>
          <a:xfrm>
            <a:off x="4572000" y="2852928"/>
            <a:ext cx="3054096" cy="8229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team that wrote the service carries its own pager. No separate first line; the platform team is a supplier, not a responder.</a:t>
            </a:r>
          </a:p>
        </p:txBody>
      </p:sp>
      <p:sp>
        <p:nvSpPr>
          <p:cNvPr id="16" name="TextBox 15"/>
          <p:cNvSpPr txBox="1"/>
          <p:nvPr/>
        </p:nvSpPr>
        <p:spPr>
          <a:xfrm>
            <a:off x="4572000" y="3648456"/>
            <a:ext cx="3054096" cy="274320"/>
          </a:xfrm>
          <a:prstGeom prst="rect">
            <a:avLst/>
          </a:prstGeom>
          <a:noFill/>
        </p:spPr>
        <p:txBody>
          <a:bodyPr wrap="square" lIns="0" rIns="0" tIns="0" bIns="0">
            <a:spAutoFit/>
          </a:bodyPr>
          <a:lstStyle/>
          <a:p>
            <a:pPr>
              <a:spcBef>
                <a:spcPts val="0"/>
              </a:spcBef>
              <a:spcAft>
                <a:spcPts val="0"/>
              </a:spcAft>
            </a:pPr>
            <a:r>
              <a:rPr sz="1100" b="1" i="0">
                <a:solidFill>
                  <a:srgbClr val="B97708"/>
                </a:solidFill>
                <a:latin typeface="Segoe UI"/>
              </a:rPr>
              <a:t>First responder: the service team</a:t>
            </a:r>
          </a:p>
        </p:txBody>
      </p:sp>
      <p:sp>
        <p:nvSpPr>
          <p:cNvPr id="17" name="Rectangle 16"/>
          <p:cNvSpPr/>
          <p:nvPr/>
        </p:nvSpPr>
        <p:spPr>
          <a:xfrm>
            <a:off x="8065008" y="1682496"/>
            <a:ext cx="3566160" cy="23317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21040" y="1938528"/>
            <a:ext cx="164592" cy="164592"/>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2249424"/>
            <a:ext cx="3054096" cy="548640"/>
          </a:xfrm>
          <a:prstGeom prst="rect">
            <a:avLst/>
          </a:prstGeom>
          <a:noFill/>
        </p:spPr>
        <p:txBody>
          <a:bodyPr wrap="square" lIns="0" rIns="0" tIns="0" bIns="0">
            <a:spAutoFit/>
          </a:bodyPr>
          <a:lstStyle/>
          <a:p>
            <a:pPr>
              <a:spcBef>
                <a:spcPts val="0"/>
              </a:spcBef>
              <a:spcAft>
                <a:spcPts val="0"/>
              </a:spcAft>
            </a:pPr>
            <a:r>
              <a:rPr sz="1450" b="1" i="0">
                <a:solidFill>
                  <a:srgbClr val="17262E"/>
                </a:solidFill>
                <a:latin typeface="Segoe UI"/>
              </a:rPr>
              <a:t>Platform team owns the plumbing</a:t>
            </a:r>
          </a:p>
        </p:txBody>
      </p:sp>
      <p:sp>
        <p:nvSpPr>
          <p:cNvPr id="20" name="TextBox 19"/>
          <p:cNvSpPr txBox="1"/>
          <p:nvPr/>
        </p:nvSpPr>
        <p:spPr>
          <a:xfrm>
            <a:off x="8321040" y="2852928"/>
            <a:ext cx="3054096" cy="8229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usual shape where the title is DevOps and there is no SRE function. The pager covers cluster, pipeline and infrastructure.</a:t>
            </a:r>
          </a:p>
        </p:txBody>
      </p:sp>
      <p:sp>
        <p:nvSpPr>
          <p:cNvPr id="21" name="TextBox 20"/>
          <p:cNvSpPr txBox="1"/>
          <p:nvPr/>
        </p:nvSpPr>
        <p:spPr>
          <a:xfrm>
            <a:off x="8321040" y="3648456"/>
            <a:ext cx="3054096" cy="274320"/>
          </a:xfrm>
          <a:prstGeom prst="rect">
            <a:avLst/>
          </a:prstGeom>
          <a:noFill/>
        </p:spPr>
        <p:txBody>
          <a:bodyPr wrap="square" lIns="0" rIns="0" tIns="0" bIns="0">
            <a:spAutoFit/>
          </a:bodyPr>
          <a:lstStyle/>
          <a:p>
            <a:pPr>
              <a:spcBef>
                <a:spcPts val="0"/>
              </a:spcBef>
              <a:spcAft>
                <a:spcPts val="0"/>
              </a:spcAft>
            </a:pPr>
            <a:r>
              <a:rPr sz="1100" b="1" i="0">
                <a:solidFill>
                  <a:srgbClr val="2E9E63"/>
                </a:solidFill>
                <a:latin typeface="Segoe UI"/>
              </a:rPr>
              <a:t>First responder: split by layer</a:t>
            </a:r>
          </a:p>
        </p:txBody>
      </p:sp>
      <p:sp>
        <p:nvSpPr>
          <p:cNvPr id="22" name="Rectangle 21"/>
          <p:cNvSpPr/>
          <p:nvPr/>
        </p:nvSpPr>
        <p:spPr>
          <a:xfrm>
            <a:off x="566928" y="4242816"/>
            <a:ext cx="5440680" cy="13716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4242816"/>
            <a:ext cx="44450" cy="13716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4398264"/>
            <a:ext cx="5001768" cy="10789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rule that survives every org chart</a:t>
            </a:r>
          </a:p>
          <a:p>
            <a:pPr>
              <a:spcBef>
                <a:spcPts val="0"/>
              </a:spcBef>
              <a:spcAft>
                <a:spcPts val="400"/>
              </a:spcAft>
            </a:pPr>
            <a:r>
              <a:rPr sz="1100" b="0" i="0">
                <a:solidFill>
                  <a:srgbClr val="17262E"/>
                </a:solidFill>
                <a:latin typeface="Segoe UI"/>
              </a:rPr>
              <a:t>Ownership follows the layer, not the title. Where there is no SRE function, the DevOps engineer is page number one for the cluster, the pipeline and the infrastructure — and that is triage.</a:t>
            </a:r>
          </a:p>
        </p:txBody>
      </p:sp>
      <p:sp>
        <p:nvSpPr>
          <p:cNvPr id="25" name="Rectangle 24"/>
          <p:cNvSpPr/>
          <p:nvPr/>
        </p:nvSpPr>
        <p:spPr>
          <a:xfrm>
            <a:off x="6190488" y="4242816"/>
            <a:ext cx="5440680" cy="13716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4398264"/>
            <a:ext cx="5001768" cy="1078992"/>
          </a:xfrm>
          <a:prstGeom prst="rect">
            <a:avLst/>
          </a:prstGeom>
          <a:noFill/>
        </p:spPr>
        <p:txBody>
          <a:bodyPr wrap="square" lIns="0" rIns="0" tIns="0" bIns="0">
            <a:spAutoFit/>
          </a:bodyPr>
          <a:lstStyle/>
          <a:p>
            <a:pPr>
              <a:spcBef>
                <a:spcPts val="0"/>
              </a:spcBef>
              <a:spcAft>
                <a:spcPts val="600"/>
              </a:spcAft>
            </a:pPr>
            <a:r>
              <a:rPr sz="1000" b="1" i="0">
                <a:solidFill>
                  <a:srgbClr val="D1495B"/>
                </a:solidFill>
                <a:latin typeface="Segoe UI"/>
              </a:rPr>
              <a:t>DO NOT SAY THIS IN AN INTERVIEW</a:t>
            </a:r>
          </a:p>
          <a:p>
            <a:pPr>
              <a:spcBef>
                <a:spcPts val="0"/>
              </a:spcBef>
              <a:spcAft>
                <a:spcPts val="400"/>
              </a:spcAft>
            </a:pPr>
            <a:r>
              <a:rPr sz="1050" b="0" i="0">
                <a:solidFill>
                  <a:srgbClr val="9FB3BD"/>
                </a:solidFill>
                <a:latin typeface="Segoe UI"/>
              </a:rPr>
              <a:t>"Triage is not my job." Say instead: "I own the platform layer and the observability the service teams depend on. For an application incident I am the escalation path, not the first responder, and I can still read the trace."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B97708"/>
                </a:solidFill>
                <a:latin typeface="Segoe UI"/>
              </a:rPr>
              <a:t>NEW IN THIS EDITION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Two chairs, one incident</a:t>
            </a:r>
          </a:p>
        </p:txBody>
      </p:sp>
      <p:sp>
        <p:nvSpPr>
          <p:cNvPr id="5" name="TextBox 4"/>
          <p:cNvSpPr txBox="1"/>
          <p:nvPr/>
        </p:nvSpPr>
        <p:spPr>
          <a:xfrm>
            <a:off x="566928" y="140817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Titles vary by company. Ownership follows the layer — and the two chairs ask different first questions about the same facts.</a:t>
            </a:r>
          </a:p>
        </p:txBody>
      </p:sp>
      <p:sp>
        <p:nvSpPr>
          <p:cNvPr id="6" name="TextBox 5"/>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7" name="TextBox 6"/>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15</a:t>
            </a:r>
          </a:p>
        </p:txBody>
      </p:sp>
      <p:sp>
        <p:nvSpPr>
          <p:cNvPr id="8" name="Oval 7"/>
          <p:cNvSpPr/>
          <p:nvPr/>
        </p:nvSpPr>
        <p:spPr>
          <a:xfrm>
            <a:off x="2395728" y="2002536"/>
            <a:ext cx="146304" cy="146304"/>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51760" y="1929384"/>
            <a:ext cx="3657600" cy="274320"/>
          </a:xfrm>
          <a:prstGeom prst="rect">
            <a:avLst/>
          </a:prstGeom>
          <a:noFill/>
        </p:spPr>
        <p:txBody>
          <a:bodyPr wrap="square" lIns="0" rIns="0" tIns="0" bIns="0">
            <a:spAutoFit/>
          </a:bodyPr>
          <a:lstStyle/>
          <a:p>
            <a:pPr>
              <a:spcBef>
                <a:spcPts val="0"/>
              </a:spcBef>
              <a:spcAft>
                <a:spcPts val="0"/>
              </a:spcAft>
            </a:pPr>
            <a:r>
              <a:rPr sz="1300" b="1" i="0">
                <a:solidFill>
                  <a:srgbClr val="17262E"/>
                </a:solidFill>
                <a:latin typeface="Segoe UI"/>
              </a:rPr>
              <a:t>DevOps engineer</a:t>
            </a:r>
          </a:p>
        </p:txBody>
      </p:sp>
      <p:sp>
        <p:nvSpPr>
          <p:cNvPr id="10" name="Oval 9"/>
          <p:cNvSpPr/>
          <p:nvPr/>
        </p:nvSpPr>
        <p:spPr>
          <a:xfrm>
            <a:off x="7059168" y="2002536"/>
            <a:ext cx="146304" cy="146304"/>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1929384"/>
            <a:ext cx="3657600" cy="274320"/>
          </a:xfrm>
          <a:prstGeom prst="rect">
            <a:avLst/>
          </a:prstGeom>
          <a:noFill/>
        </p:spPr>
        <p:txBody>
          <a:bodyPr wrap="square" lIns="0" rIns="0" tIns="0" bIns="0">
            <a:spAutoFit/>
          </a:bodyPr>
          <a:lstStyle/>
          <a:p>
            <a:pPr>
              <a:spcBef>
                <a:spcPts val="0"/>
              </a:spcBef>
              <a:spcAft>
                <a:spcPts val="0"/>
              </a:spcAft>
            </a:pPr>
            <a:r>
              <a:rPr sz="1300" b="1" i="0">
                <a:solidFill>
                  <a:srgbClr val="17262E"/>
                </a:solidFill>
                <a:latin typeface="Segoe UI"/>
              </a:rPr>
              <a:t>SRE</a:t>
            </a:r>
          </a:p>
        </p:txBody>
      </p:sp>
      <p:sp>
        <p:nvSpPr>
          <p:cNvPr id="12" name="Rectangle 11"/>
          <p:cNvSpPr/>
          <p:nvPr/>
        </p:nvSpPr>
        <p:spPr>
          <a:xfrm>
            <a:off x="566928" y="2340864"/>
            <a:ext cx="11064240" cy="12700"/>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468880"/>
            <a:ext cx="1737360" cy="45720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Owns</a:t>
            </a:r>
          </a:p>
        </p:txBody>
      </p:sp>
      <p:sp>
        <p:nvSpPr>
          <p:cNvPr id="14" name="TextBox 13"/>
          <p:cNvSpPr txBox="1"/>
          <p:nvPr/>
        </p:nvSpPr>
        <p:spPr>
          <a:xfrm>
            <a:off x="2395728" y="2432304"/>
            <a:ext cx="448056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The pipeline and the platform: build, image, manifest, config, secret, ingress, cluster</a:t>
            </a:r>
          </a:p>
        </p:txBody>
      </p:sp>
      <p:sp>
        <p:nvSpPr>
          <p:cNvPr id="15" name="TextBox 14"/>
          <p:cNvSpPr txBox="1"/>
          <p:nvPr/>
        </p:nvSpPr>
        <p:spPr>
          <a:xfrm>
            <a:off x="7059168" y="2432304"/>
            <a:ext cx="457200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The service level: what “working” means, and whether detection was good enough</a:t>
            </a:r>
          </a:p>
        </p:txBody>
      </p:sp>
      <p:sp>
        <p:nvSpPr>
          <p:cNvPr id="16" name="Rectangle 15"/>
          <p:cNvSpPr/>
          <p:nvPr/>
        </p:nvSpPr>
        <p:spPr>
          <a:xfrm>
            <a:off x="566928" y="294436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054096"/>
            <a:ext cx="1737360" cy="45720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First question</a:t>
            </a:r>
          </a:p>
        </p:txBody>
      </p:sp>
      <p:sp>
        <p:nvSpPr>
          <p:cNvPr id="18" name="TextBox 17"/>
          <p:cNvSpPr txBox="1"/>
          <p:nvPr/>
        </p:nvSpPr>
        <p:spPr>
          <a:xfrm>
            <a:off x="2395728" y="3017520"/>
            <a:ext cx="448056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“What changed?”</a:t>
            </a:r>
          </a:p>
        </p:txBody>
      </p:sp>
      <p:sp>
        <p:nvSpPr>
          <p:cNvPr id="19" name="TextBox 18"/>
          <p:cNvSpPr txBox="1"/>
          <p:nvPr/>
        </p:nvSpPr>
        <p:spPr>
          <a:xfrm>
            <a:off x="7059168" y="3017520"/>
            <a:ext cx="457200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“What did it cost, and who told us?”</a:t>
            </a:r>
          </a:p>
        </p:txBody>
      </p:sp>
      <p:sp>
        <p:nvSpPr>
          <p:cNvPr id="20" name="Rectangle 19"/>
          <p:cNvSpPr/>
          <p:nvPr/>
        </p:nvSpPr>
        <p:spPr>
          <a:xfrm>
            <a:off x="566928" y="3529584"/>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639312"/>
            <a:ext cx="1737360" cy="45720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Pages on</a:t>
            </a:r>
          </a:p>
        </p:txBody>
      </p:sp>
      <p:sp>
        <p:nvSpPr>
          <p:cNvPr id="22" name="TextBox 21"/>
          <p:cNvSpPr txBox="1"/>
          <p:nvPr/>
        </p:nvSpPr>
        <p:spPr>
          <a:xfrm>
            <a:off x="2395728" y="3602736"/>
            <a:ext cx="448056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Rollouts that never went healthy, nodes, capacity, the delivery path</a:t>
            </a:r>
          </a:p>
        </p:txBody>
      </p:sp>
      <p:sp>
        <p:nvSpPr>
          <p:cNvPr id="23" name="TextBox 22"/>
          <p:cNvSpPr txBox="1"/>
          <p:nvPr/>
        </p:nvSpPr>
        <p:spPr>
          <a:xfrm>
            <a:off x="7059168" y="3602736"/>
            <a:ext cx="457200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Symptoms with user impact: error rate, p95, availability</a:t>
            </a:r>
          </a:p>
        </p:txBody>
      </p:sp>
      <p:sp>
        <p:nvSpPr>
          <p:cNvPr id="24" name="Rectangle 23"/>
          <p:cNvSpPr/>
          <p:nvPr/>
        </p:nvSpPr>
        <p:spPr>
          <a:xfrm>
            <a:off x="566928" y="4114800"/>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224528"/>
            <a:ext cx="1737360" cy="45720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Fixes with</a:t>
            </a:r>
          </a:p>
        </p:txBody>
      </p:sp>
      <p:sp>
        <p:nvSpPr>
          <p:cNvPr id="26" name="TextBox 25"/>
          <p:cNvSpPr txBox="1"/>
          <p:nvPr/>
        </p:nvSpPr>
        <p:spPr>
          <a:xfrm>
            <a:off x="2395728" y="4187952"/>
            <a:ext cx="448056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rollout undo, a corrected ConfigMap or Secret, a pipeline guardrail</a:t>
            </a:r>
          </a:p>
        </p:txBody>
      </p:sp>
      <p:sp>
        <p:nvSpPr>
          <p:cNvPr id="27" name="TextBox 26"/>
          <p:cNvSpPr txBox="1"/>
          <p:nvPr/>
        </p:nvSpPr>
        <p:spPr>
          <a:xfrm>
            <a:off x="7059168" y="4187952"/>
            <a:ext cx="457200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A rollback decision, then a durable fix to whatever let it through</a:t>
            </a:r>
          </a:p>
        </p:txBody>
      </p:sp>
      <p:sp>
        <p:nvSpPr>
          <p:cNvPr id="28" name="Rectangle 27"/>
          <p:cNvSpPr/>
          <p:nvPr/>
        </p:nvSpPr>
        <p:spPr>
          <a:xfrm>
            <a:off x="566928" y="4700016"/>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809744"/>
            <a:ext cx="1737360" cy="45720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Closes with</a:t>
            </a:r>
          </a:p>
        </p:txBody>
      </p:sp>
      <p:sp>
        <p:nvSpPr>
          <p:cNvPr id="30" name="TextBox 29"/>
          <p:cNvSpPr txBox="1"/>
          <p:nvPr/>
        </p:nvSpPr>
        <p:spPr>
          <a:xfrm>
            <a:off x="2395728" y="4773168"/>
            <a:ext cx="448056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The change reverted, and a pipeline that can't ship it again</a:t>
            </a:r>
          </a:p>
        </p:txBody>
      </p:sp>
      <p:sp>
        <p:nvSpPr>
          <p:cNvPr id="31" name="TextBox 30"/>
          <p:cNvSpPr txBox="1"/>
          <p:nvPr/>
        </p:nvSpPr>
        <p:spPr>
          <a:xfrm>
            <a:off x="7059168" y="4773168"/>
            <a:ext cx="4572000" cy="64008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Budget spent, a named detection gap, one prevention item with an owner</a:t>
            </a:r>
          </a:p>
        </p:txBody>
      </p:sp>
      <p:sp>
        <p:nvSpPr>
          <p:cNvPr id="32" name="Rectangle 31"/>
          <p:cNvSpPr/>
          <p:nvPr/>
        </p:nvSpPr>
        <p:spPr>
          <a:xfrm>
            <a:off x="566928" y="5285232"/>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5468112"/>
            <a:ext cx="11064240" cy="658368"/>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 y="5623560"/>
            <a:ext cx="10625328" cy="365760"/>
          </a:xfrm>
          <a:prstGeom prst="rect">
            <a:avLst/>
          </a:prstGeom>
          <a:noFill/>
        </p:spPr>
        <p:txBody>
          <a:bodyPr wrap="square" lIns="0" rIns="0" tIns="0" bIns="0">
            <a:spAutoFit/>
          </a:bodyPr>
          <a:lstStyle/>
          <a:p>
            <a:pPr>
              <a:spcBef>
                <a:spcPts val="0"/>
              </a:spcBef>
              <a:spcAft>
                <a:spcPts val="400"/>
              </a:spcAft>
            </a:pPr>
            <a:r>
              <a:rPr sz="1200" b="0" i="0">
                <a:solidFill>
                  <a:srgbClr val="9FB3BD"/>
                </a:solidFill>
                <a:latin typeface="Segoe UI"/>
              </a:rPr>
              <a:t>Where there is no SRE function — which is most places advertising a DevOps role — you sit in both chairs. The second one is the half people forget to practise.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B97708"/>
                </a:solidFill>
                <a:latin typeface="Segoe UI"/>
              </a:rPr>
              <a:t>NEW IN THIS EDITION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Did something change, or did something drift?</a:t>
            </a:r>
          </a:p>
        </p:txBody>
      </p:sp>
      <p:sp>
        <p:nvSpPr>
          <p:cNvPr id="5" name="TextBox 4"/>
          <p:cNvSpPr txBox="1"/>
          <p:nvPr/>
        </p:nvSpPr>
        <p:spPr>
          <a:xfrm>
            <a:off x="566928" y="140817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The first branch in any real triage. It decides the fix, the owner, and the shape of the next hour.</a:t>
            </a:r>
          </a:p>
        </p:txBody>
      </p:sp>
      <p:sp>
        <p:nvSpPr>
          <p:cNvPr id="6" name="TextBox 5"/>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7" name="TextBox 6"/>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16</a:t>
            </a:r>
          </a:p>
        </p:txBody>
      </p:sp>
      <p:sp>
        <p:nvSpPr>
          <p:cNvPr id="8" name="Rectangle 7"/>
          <p:cNvSpPr/>
          <p:nvPr/>
        </p:nvSpPr>
        <p:spPr>
          <a:xfrm>
            <a:off x="566928" y="1956816"/>
            <a:ext cx="5394960" cy="25146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56816"/>
            <a:ext cx="44450" cy="251460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12264"/>
            <a:ext cx="4956048" cy="22219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Change-driven</a:t>
            </a:r>
          </a:p>
          <a:p>
            <a:pPr>
              <a:spcBef>
                <a:spcPts val="0"/>
              </a:spcBef>
              <a:spcAft>
                <a:spcPts val="400"/>
              </a:spcAft>
            </a:pPr>
            <a:r>
              <a:rPr sz="1150" b="0" i="0">
                <a:solidFill>
                  <a:srgbClr val="17262E"/>
                </a:solidFill>
                <a:latin typeface="Segoe UI"/>
              </a:rPr>
              <a:t>Somebody shipped: a config value, a rotated credential, an ingress edit, a limit, a bad image tag.</a:t>
            </a:r>
          </a:p>
          <a:p>
            <a:pPr>
              <a:spcBef>
                <a:spcPts val="0"/>
              </a:spcBef>
              <a:spcAft>
                <a:spcPts val="400"/>
              </a:spcAft>
            </a:pPr>
            <a:r>
              <a:rPr sz="1150" b="0" i="0">
                <a:solidFill>
                  <a:srgbClr val="17262E"/>
                </a:solidFill>
                <a:latin typeface="Segoe UI"/>
              </a:rPr>
              <a:t/>
            </a:r>
          </a:p>
          <a:p>
            <a:pPr>
              <a:spcAft>
                <a:spcPts val="400"/>
              </a:spcAft>
            </a:pPr>
            <a:r>
              <a:rPr sz="1150" b="1">
                <a:solidFill>
                  <a:srgbClr val="1F7A99"/>
                </a:solidFill>
                <a:latin typeface="Segoe UI"/>
              </a:rPr>
              <a:t>Clock starts  </a:t>
            </a:r>
            <a:r>
              <a:rPr sz="1150" b="0">
                <a:solidFill>
                  <a:srgbClr val="17262E"/>
                </a:solidFill>
                <a:latin typeface="Segoe UI"/>
              </a:rPr>
              <a:t>at the merge, not the alert</a:t>
            </a:r>
          </a:p>
          <a:p>
            <a:pPr>
              <a:spcAft>
                <a:spcPts val="400"/>
              </a:spcAft>
            </a:pPr>
            <a:r>
              <a:rPr sz="1150" b="1">
                <a:solidFill>
                  <a:srgbClr val="1F7A99"/>
                </a:solidFill>
                <a:latin typeface="Segoe UI"/>
              </a:rPr>
              <a:t>Evidence  </a:t>
            </a:r>
            <a:r>
              <a:rPr sz="1150" b="0">
                <a:solidFill>
                  <a:srgbClr val="17262E"/>
                </a:solidFill>
                <a:latin typeface="Segoe UI"/>
              </a:rPr>
              <a:t>in rollout history and events</a:t>
            </a:r>
          </a:p>
          <a:p>
            <a:pPr>
              <a:spcAft>
                <a:spcPts val="400"/>
              </a:spcAft>
            </a:pPr>
            <a:r>
              <a:rPr sz="1150" b="1">
                <a:solidFill>
                  <a:srgbClr val="1F7A99"/>
                </a:solidFill>
                <a:latin typeface="Segoe UI"/>
              </a:rPr>
              <a:t>Fastest fix  </a:t>
            </a:r>
            <a:r>
              <a:rPr sz="1150" b="0">
                <a:solidFill>
                  <a:srgbClr val="17262E"/>
                </a:solidFill>
                <a:latin typeface="Segoe UI"/>
              </a:rPr>
              <a:t>is almost always to put it back</a:t>
            </a:r>
          </a:p>
          <a:p>
            <a:pPr>
              <a:spcAft>
                <a:spcPts val="400"/>
              </a:spcAft>
            </a:pPr>
            <a:r>
              <a:rPr sz="1150" b="1">
                <a:solidFill>
                  <a:srgbClr val="1F7A99"/>
                </a:solidFill>
                <a:latin typeface="Segoe UI"/>
              </a:rPr>
              <a:t>Often silent  </a:t>
            </a:r>
            <a:r>
              <a:rPr sz="1150" b="0">
                <a:solidFill>
                  <a:srgbClr val="17262E"/>
                </a:solidFill>
                <a:latin typeface="Segoe UI"/>
              </a:rPr>
              <a:t>— old pods keep serving</a:t>
            </a:r>
          </a:p>
        </p:txBody>
      </p:sp>
      <p:sp>
        <p:nvSpPr>
          <p:cNvPr id="11" name="Rectangle 10"/>
          <p:cNvSpPr/>
          <p:nvPr/>
        </p:nvSpPr>
        <p:spPr>
          <a:xfrm>
            <a:off x="6236208" y="1956816"/>
            <a:ext cx="5394960" cy="25146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956816"/>
            <a:ext cx="44450" cy="25146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5664" y="2112264"/>
            <a:ext cx="4956048" cy="22219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Condition-driven</a:t>
            </a:r>
          </a:p>
          <a:p>
            <a:pPr>
              <a:spcBef>
                <a:spcPts val="0"/>
              </a:spcBef>
              <a:spcAft>
                <a:spcPts val="400"/>
              </a:spcAft>
            </a:pPr>
            <a:r>
              <a:rPr sz="1150" b="0" i="0">
                <a:solidFill>
                  <a:srgbClr val="17262E"/>
                </a:solidFill>
                <a:latin typeface="Segoe UI"/>
              </a:rPr>
              <a:t>The system met a limit nobody moved: a slow dependency, a leak, a pool exhausted by a neighbour, a spike.</a:t>
            </a:r>
          </a:p>
          <a:p>
            <a:pPr>
              <a:spcBef>
                <a:spcPts val="0"/>
              </a:spcBef>
              <a:spcAft>
                <a:spcPts val="400"/>
              </a:spcAft>
            </a:pPr>
            <a:r>
              <a:rPr sz="1150" b="0" i="0">
                <a:solidFill>
                  <a:srgbClr val="17262E"/>
                </a:solidFill>
                <a:latin typeface="Segoe UI"/>
              </a:rPr>
              <a:t/>
            </a:r>
          </a:p>
          <a:p>
            <a:pPr>
              <a:spcAft>
                <a:spcPts val="400"/>
              </a:spcAft>
            </a:pPr>
            <a:r>
              <a:rPr sz="1150" b="1">
                <a:solidFill>
                  <a:srgbClr val="1F7A99"/>
                </a:solidFill>
                <a:latin typeface="Segoe UI"/>
              </a:rPr>
              <a:t>Nothing shipped  </a:t>
            </a:r>
            <a:r>
              <a:rPr sz="1150" b="0">
                <a:solidFill>
                  <a:srgbClr val="17262E"/>
                </a:solidFill>
                <a:latin typeface="Segoe UI"/>
              </a:rPr>
              <a:t>— there is nothing to undo</a:t>
            </a:r>
          </a:p>
          <a:p>
            <a:pPr>
              <a:spcAft>
                <a:spcPts val="400"/>
              </a:spcAft>
            </a:pPr>
            <a:r>
              <a:rPr sz="1150" b="1">
                <a:solidFill>
                  <a:srgbClr val="1F7A99"/>
                </a:solidFill>
                <a:latin typeface="Segoe UI"/>
              </a:rPr>
              <a:t>Evidence  </a:t>
            </a:r>
            <a:r>
              <a:rPr sz="1150" b="0">
                <a:solidFill>
                  <a:srgbClr val="17262E"/>
                </a:solidFill>
                <a:latin typeface="Segoe UI"/>
              </a:rPr>
              <a:t>in traces, saturation, dependencies</a:t>
            </a:r>
          </a:p>
          <a:p>
            <a:pPr>
              <a:spcAft>
                <a:spcPts val="400"/>
              </a:spcAft>
            </a:pPr>
            <a:r>
              <a:rPr sz="1150" b="1">
                <a:solidFill>
                  <a:srgbClr val="1F7A99"/>
                </a:solidFill>
                <a:latin typeface="Segoe UI"/>
              </a:rPr>
              <a:t>Fix  </a:t>
            </a:r>
            <a:r>
              <a:rPr sz="1150" b="0">
                <a:solidFill>
                  <a:srgbClr val="17262E"/>
                </a:solidFill>
                <a:latin typeface="Segoe UI"/>
              </a:rPr>
              <a:t>is mitigation, then the root cause</a:t>
            </a:r>
          </a:p>
          <a:p>
            <a:pPr>
              <a:spcAft>
                <a:spcPts val="400"/>
              </a:spcAft>
            </a:pPr>
            <a:r>
              <a:rPr sz="1150" b="1">
                <a:solidFill>
                  <a:srgbClr val="1F7A99"/>
                </a:solidFill>
                <a:latin typeface="Segoe UI"/>
              </a:rPr>
              <a:t>Usually loud  </a:t>
            </a:r>
            <a:r>
              <a:rPr sz="1150" b="0">
                <a:solidFill>
                  <a:srgbClr val="17262E"/>
                </a:solidFill>
                <a:latin typeface="Segoe UI"/>
              </a:rPr>
              <a:t>— errors, latency, restarts</a:t>
            </a:r>
          </a:p>
        </p:txBody>
      </p:sp>
      <p:sp>
        <p:nvSpPr>
          <p:cNvPr id="14" name="Rectangle 13"/>
          <p:cNvSpPr/>
          <p:nvPr/>
        </p:nvSpPr>
        <p:spPr>
          <a:xfrm>
            <a:off x="566928" y="4700016"/>
            <a:ext cx="11064240" cy="9418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4828032"/>
            <a:ext cx="10698480" cy="685800"/>
          </a:xfrm>
          <a:prstGeom prst="rect">
            <a:avLst/>
          </a:prstGeom>
          <a:noFill/>
        </p:spPr>
        <p:txBody>
          <a:bodyPr wrap="square" lIns="0" rIns="0" tIns="0" bIns="0">
            <a:spAutoFit/>
          </a:bodyPr>
          <a:lstStyle/>
          <a:p>
            <a:pPr>
              <a:spcBef>
                <a:spcPts val="0"/>
              </a:spcBef>
              <a:spcAft>
                <a:spcPts val="200"/>
              </a:spcAft>
            </a:pPr>
            <a:r>
              <a:rPr sz="1100" b="0" i="0">
                <a:solidFill>
                  <a:srgbClr val="9FB3BD"/>
                </a:solidFill>
                <a:latin typeface="Consolas"/>
              </a:rPr>
              <a:t># ten seconds, and it tells you which family you are in</a:t>
            </a:r>
          </a:p>
          <a:p>
            <a:pPr>
              <a:spcBef>
                <a:spcPts val="0"/>
              </a:spcBef>
              <a:spcAft>
                <a:spcPts val="200"/>
              </a:spcAft>
            </a:pPr>
            <a:r>
              <a:rPr sz="1100" b="0" i="0">
                <a:solidFill>
                  <a:srgbClr val="D7E3EA"/>
                </a:solidFill>
                <a:latin typeface="Consolas"/>
              </a:rPr>
              <a:t>kubectl -n &lt;app&gt; rollout history deployment/&lt;app&gt;-backend</a:t>
            </a:r>
          </a:p>
          <a:p>
            <a:pPr>
              <a:spcBef>
                <a:spcPts val="0"/>
              </a:spcBef>
              <a:spcAft>
                <a:spcPts val="200"/>
              </a:spcAft>
            </a:pPr>
            <a:r>
              <a:rPr sz="1100" b="0" i="0">
                <a:solidFill>
                  <a:srgbClr val="D7E3EA"/>
                </a:solidFill>
                <a:latin typeface="Consolas"/>
              </a:rPr>
              <a:t>kubectl -n &lt;app&gt; get events --sort-by=.lastTimestamp | tail -20</a:t>
            </a:r>
          </a:p>
        </p:txBody>
      </p:sp>
      <p:sp>
        <p:nvSpPr>
          <p:cNvPr id="16" name="Rectangle 15"/>
          <p:cNvSpPr/>
          <p:nvPr/>
        </p:nvSpPr>
        <p:spPr>
          <a:xfrm>
            <a:off x="566928" y="5779008"/>
            <a:ext cx="1106424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5934456"/>
            <a:ext cx="10625328" cy="274320"/>
          </a:xfrm>
          <a:prstGeom prst="rect">
            <a:avLst/>
          </a:prstGeom>
          <a:noFill/>
        </p:spPr>
        <p:txBody>
          <a:bodyPr wrap="square" lIns="0" rIns="0" tIns="0" bIns="0">
            <a:spAutoFit/>
          </a:bodyPr>
          <a:lstStyle/>
          <a:p>
            <a:pPr>
              <a:spcBef>
                <a:spcPts val="0"/>
              </a:spcBef>
              <a:spcAft>
                <a:spcPts val="400"/>
              </a:spcAft>
            </a:pPr>
            <a:r>
              <a:rPr sz="1150" b="0" i="0">
                <a:solidFill>
                  <a:srgbClr val="17262E"/>
                </a:solidFill>
                <a:latin typeface="Segoe UI"/>
              </a:rPr>
              <a:t>A rollout minutes before the symptom? Revert first, explain afterwards. Last rollout days ago? Stop hunting for a culprit change.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How a real investigation sounds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Use this order when you speak, when you write, and when you are interviewed.</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1 · Concepts</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17</a:t>
            </a:r>
          </a:p>
        </p:txBody>
      </p:sp>
      <p:sp>
        <p:nvSpPr>
          <p:cNvPr id="7" name="Rectangle 6"/>
          <p:cNvSpPr/>
          <p:nvPr/>
        </p:nvSpPr>
        <p:spPr>
          <a:xfrm>
            <a:off x="566928" y="1682496"/>
            <a:ext cx="713232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82496"/>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19656"/>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1</a:t>
            </a:r>
          </a:p>
        </p:txBody>
      </p:sp>
      <p:sp>
        <p:nvSpPr>
          <p:cNvPr id="10" name="TextBox 9"/>
          <p:cNvSpPr txBox="1"/>
          <p:nvPr/>
        </p:nvSpPr>
        <p:spPr>
          <a:xfrm>
            <a:off x="1417320" y="1746504"/>
            <a:ext cx="237744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How did we know?</a:t>
            </a:r>
          </a:p>
        </p:txBody>
      </p:sp>
      <p:sp>
        <p:nvSpPr>
          <p:cNvPr id="11" name="TextBox 10"/>
          <p:cNvSpPr txBox="1"/>
          <p:nvPr/>
        </p:nvSpPr>
        <p:spPr>
          <a:xfrm>
            <a:off x="3904488" y="1773936"/>
            <a:ext cx="3611880" cy="658368"/>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Alert, support ticket, or a user report. Say this first.</a:t>
            </a:r>
          </a:p>
        </p:txBody>
      </p:sp>
      <p:sp>
        <p:nvSpPr>
          <p:cNvPr id="12" name="Rectangle 11"/>
          <p:cNvSpPr/>
          <p:nvPr/>
        </p:nvSpPr>
        <p:spPr>
          <a:xfrm>
            <a:off x="566928" y="2432304"/>
            <a:ext cx="713232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432304"/>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569464"/>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2</a:t>
            </a:r>
          </a:p>
        </p:txBody>
      </p:sp>
      <p:sp>
        <p:nvSpPr>
          <p:cNvPr id="15" name="TextBox 14"/>
          <p:cNvSpPr txBox="1"/>
          <p:nvPr/>
        </p:nvSpPr>
        <p:spPr>
          <a:xfrm>
            <a:off x="1417320" y="2496312"/>
            <a:ext cx="237744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What could customers not do?</a:t>
            </a:r>
          </a:p>
        </p:txBody>
      </p:sp>
      <p:sp>
        <p:nvSpPr>
          <p:cNvPr id="16" name="TextBox 15"/>
          <p:cNvSpPr txBox="1"/>
          <p:nvPr/>
        </p:nvSpPr>
        <p:spPr>
          <a:xfrm>
            <a:off x="3904488" y="2523744"/>
            <a:ext cx="3611880" cy="658368"/>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In their words: "checkout failed", not "the pod restarted".</a:t>
            </a:r>
          </a:p>
        </p:txBody>
      </p:sp>
      <p:sp>
        <p:nvSpPr>
          <p:cNvPr id="17" name="Rectangle 16"/>
          <p:cNvSpPr/>
          <p:nvPr/>
        </p:nvSpPr>
        <p:spPr>
          <a:xfrm>
            <a:off x="566928" y="3182112"/>
            <a:ext cx="713232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182112"/>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319272"/>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3</a:t>
            </a:r>
          </a:p>
        </p:txBody>
      </p:sp>
      <p:sp>
        <p:nvSpPr>
          <p:cNvPr id="20" name="TextBox 19"/>
          <p:cNvSpPr txBox="1"/>
          <p:nvPr/>
        </p:nvSpPr>
        <p:spPr>
          <a:xfrm>
            <a:off x="1417320" y="3246120"/>
            <a:ext cx="237744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What did we check first?</a:t>
            </a:r>
          </a:p>
        </p:txBody>
      </p:sp>
      <p:sp>
        <p:nvSpPr>
          <p:cNvPr id="21" name="TextBox 20"/>
          <p:cNvSpPr txBox="1"/>
          <p:nvPr/>
        </p:nvSpPr>
        <p:spPr>
          <a:xfrm>
            <a:off x="3904488" y="3273552"/>
            <a:ext cx="3611880" cy="658368"/>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Name the dashboard or the runbook step you opened.</a:t>
            </a:r>
          </a:p>
        </p:txBody>
      </p:sp>
      <p:sp>
        <p:nvSpPr>
          <p:cNvPr id="22" name="Rectangle 21"/>
          <p:cNvSpPr/>
          <p:nvPr/>
        </p:nvSpPr>
        <p:spPr>
          <a:xfrm>
            <a:off x="566928" y="3931920"/>
            <a:ext cx="713232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931920"/>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069080"/>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4</a:t>
            </a:r>
          </a:p>
        </p:txBody>
      </p:sp>
      <p:sp>
        <p:nvSpPr>
          <p:cNvPr id="25" name="TextBox 24"/>
          <p:cNvSpPr txBox="1"/>
          <p:nvPr/>
        </p:nvSpPr>
        <p:spPr>
          <a:xfrm>
            <a:off x="1417320" y="3995928"/>
            <a:ext cx="237744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What did we discover?</a:t>
            </a:r>
          </a:p>
        </p:txBody>
      </p:sp>
      <p:sp>
        <p:nvSpPr>
          <p:cNvPr id="26" name="TextBox 25"/>
          <p:cNvSpPr txBox="1"/>
          <p:nvPr/>
        </p:nvSpPr>
        <p:spPr>
          <a:xfrm>
            <a:off x="3904488" y="4023360"/>
            <a:ext cx="3611880" cy="658368"/>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Errors up, responses slow, and which step in the trace was to blame.</a:t>
            </a:r>
          </a:p>
        </p:txBody>
      </p:sp>
      <p:sp>
        <p:nvSpPr>
          <p:cNvPr id="27" name="Rectangle 26"/>
          <p:cNvSpPr/>
          <p:nvPr/>
        </p:nvSpPr>
        <p:spPr>
          <a:xfrm>
            <a:off x="566928" y="4681728"/>
            <a:ext cx="713232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681728"/>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818888"/>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5</a:t>
            </a:r>
          </a:p>
        </p:txBody>
      </p:sp>
      <p:sp>
        <p:nvSpPr>
          <p:cNvPr id="30" name="TextBox 29"/>
          <p:cNvSpPr txBox="1"/>
          <p:nvPr/>
        </p:nvSpPr>
        <p:spPr>
          <a:xfrm>
            <a:off x="1417320" y="4745736"/>
            <a:ext cx="237744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What did we change?</a:t>
            </a:r>
          </a:p>
        </p:txBody>
      </p:sp>
      <p:sp>
        <p:nvSpPr>
          <p:cNvPr id="31" name="TextBox 30"/>
          <p:cNvSpPr txBox="1"/>
          <p:nvPr/>
        </p:nvSpPr>
        <p:spPr>
          <a:xfrm>
            <a:off x="3904488" y="4773168"/>
            <a:ext cx="3611880" cy="658368"/>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The fix, plus the graph that came back down.</a:t>
            </a:r>
          </a:p>
        </p:txBody>
      </p:sp>
      <p:sp>
        <p:nvSpPr>
          <p:cNvPr id="32" name="Rectangle 31"/>
          <p:cNvSpPr/>
          <p:nvPr/>
        </p:nvSpPr>
        <p:spPr>
          <a:xfrm>
            <a:off x="7973568" y="1682496"/>
            <a:ext cx="3657600" cy="17830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93024" y="1837944"/>
            <a:ext cx="3218688" cy="1490472"/>
          </a:xfrm>
          <a:prstGeom prst="rect">
            <a:avLst/>
          </a:prstGeom>
          <a:noFill/>
        </p:spPr>
        <p:txBody>
          <a:bodyPr wrap="square" lIns="0" rIns="0" tIns="0" bIns="0">
            <a:spAutoFit/>
          </a:bodyPr>
          <a:lstStyle/>
          <a:p>
            <a:pPr>
              <a:spcBef>
                <a:spcPts val="0"/>
              </a:spcBef>
              <a:spcAft>
                <a:spcPts val="600"/>
              </a:spcAft>
            </a:pPr>
            <a:r>
              <a:rPr sz="1000" b="1" i="0">
                <a:solidFill>
                  <a:srgbClr val="D1495B"/>
                </a:solidFill>
                <a:latin typeface="Segoe UI"/>
              </a:rPr>
              <a:t>DO NOT OPEN WITH</a:t>
            </a:r>
          </a:p>
          <a:p>
            <a:pPr>
              <a:spcBef>
                <a:spcPts val="0"/>
              </a:spcBef>
              <a:spcAft>
                <a:spcPts val="400"/>
              </a:spcAft>
            </a:pPr>
            <a:r>
              <a:rPr sz="1150" b="0" i="0">
                <a:solidFill>
                  <a:srgbClr val="9FB3BD"/>
                </a:solidFill>
                <a:latin typeface="Segoe UI"/>
              </a:rPr>
              <a:t>"p95 was elevated..."</a:t>
            </a:r>
          </a:p>
          <a:p>
            <a:pPr>
              <a:spcBef>
                <a:spcPts val="0"/>
              </a:spcBef>
              <a:spcAft>
                <a:spcPts val="400"/>
              </a:spcAft>
            </a:pPr>
            <a:r>
              <a:rPr sz="1150" b="0" i="0">
                <a:solidFill>
                  <a:srgbClr val="9FB3BD"/>
                </a:solidFill>
                <a:latin typeface="Segoe UI"/>
              </a:rPr>
              <a:t/>
            </a:r>
          </a:p>
          <a:p>
            <a:pPr>
              <a:spcBef>
                <a:spcPts val="0"/>
              </a:spcBef>
              <a:spcAft>
                <a:spcPts val="400"/>
              </a:spcAft>
            </a:pPr>
            <a:r>
              <a:rPr sz="1150" b="0" i="0">
                <a:solidFill>
                  <a:srgbClr val="9FB3BD"/>
                </a:solidFill>
                <a:latin typeface="Segoe UI"/>
              </a:rPr>
              <a:t>Jargon first sounds rehearsed. Say how you were alerted and what users felt, then bring the numbers.</a:t>
            </a:r>
          </a:p>
        </p:txBody>
      </p:sp>
      <p:sp>
        <p:nvSpPr>
          <p:cNvPr id="34" name="Rectangle 33"/>
          <p:cNvSpPr/>
          <p:nvPr/>
        </p:nvSpPr>
        <p:spPr>
          <a:xfrm>
            <a:off x="7973568" y="3648456"/>
            <a:ext cx="3657600" cy="1874519"/>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73568" y="3648456"/>
            <a:ext cx="44450" cy="1874519"/>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93024" y="3803904"/>
            <a:ext cx="3218688" cy="1581911"/>
          </a:xfrm>
          <a:prstGeom prst="rect">
            <a:avLst/>
          </a:prstGeom>
          <a:noFill/>
        </p:spPr>
        <p:txBody>
          <a:bodyPr wrap="square" lIns="0" rIns="0" tIns="0" bIns="0">
            <a:spAutoFit/>
          </a:bodyPr>
          <a:lstStyle/>
          <a:p>
            <a:pPr>
              <a:spcBef>
                <a:spcPts val="0"/>
              </a:spcBef>
              <a:spcAft>
                <a:spcPts val="600"/>
              </a:spcAft>
            </a:pPr>
            <a:r>
              <a:rPr sz="1000" b="1" i="0">
                <a:solidFill>
                  <a:srgbClr val="B97708"/>
                </a:solidFill>
                <a:latin typeface="Segoe UI"/>
              </a:rPr>
              <a:t>SAY THIS INSTEAD</a:t>
            </a:r>
          </a:p>
          <a:p>
            <a:pPr>
              <a:spcBef>
                <a:spcPts val="0"/>
              </a:spcBef>
              <a:spcAft>
                <a:spcPts val="400"/>
              </a:spcAft>
            </a:pPr>
            <a:r>
              <a:rPr sz="1150" b="0" i="0">
                <a:solidFill>
                  <a:srgbClr val="17262E"/>
                </a:solidFill>
                <a:latin typeface="Segoe UI"/>
              </a:rPr>
              <a:t>"Support saw checkout failures at 2pm. Our error-rate monitor had fired four minutes earlier, so we opened the checkout dashboard first."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81767" y="3063240"/>
            <a:ext cx="155448" cy="155448"/>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5815" y="3063240"/>
            <a:ext cx="155448" cy="155448"/>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49863" y="3063240"/>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148840"/>
            <a:ext cx="9144000" cy="36576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PART 2</a:t>
            </a:r>
          </a:p>
        </p:txBody>
      </p:sp>
      <p:sp>
        <p:nvSpPr>
          <p:cNvPr id="7" name="TextBox 6"/>
          <p:cNvSpPr txBox="1"/>
          <p:nvPr/>
        </p:nvSpPr>
        <p:spPr>
          <a:xfrm>
            <a:off x="566928" y="2560320"/>
            <a:ext cx="10058400" cy="1737360"/>
          </a:xfrm>
          <a:prstGeom prst="rect">
            <a:avLst/>
          </a:prstGeom>
          <a:noFill/>
        </p:spPr>
        <p:txBody>
          <a:bodyPr wrap="square" lIns="0" rIns="0" tIns="0" bIns="0">
            <a:spAutoFit/>
          </a:bodyPr>
          <a:lstStyle/>
          <a:p>
            <a:pPr>
              <a:spcBef>
                <a:spcPts val="0"/>
              </a:spcBef>
              <a:spcAft>
                <a:spcPts val="0"/>
              </a:spcAft>
            </a:pPr>
            <a:r>
              <a:rPr sz="4600" b="1" i="0">
                <a:solidFill>
                  <a:srgbClr val="FFFFFF"/>
                </a:solidFill>
                <a:latin typeface="Segoe UI"/>
              </a:rPr>
              <a:t>Doing the lab</a:t>
            </a:r>
          </a:p>
        </p:txBody>
      </p:sp>
      <p:sp>
        <p:nvSpPr>
          <p:cNvPr id="8" name="TextBox 7"/>
          <p:cNvSpPr txBox="1"/>
          <p:nvPr/>
        </p:nvSpPr>
        <p:spPr>
          <a:xfrm>
            <a:off x="566928" y="3355848"/>
            <a:ext cx="8961120" cy="914400"/>
          </a:xfrm>
          <a:prstGeom prst="rect">
            <a:avLst/>
          </a:prstGeom>
          <a:noFill/>
        </p:spPr>
        <p:txBody>
          <a:bodyPr wrap="square" lIns="0" rIns="0" tIns="0" bIns="0">
            <a:spAutoFit/>
          </a:bodyPr>
          <a:lstStyle/>
          <a:p>
            <a:pPr>
              <a:spcBef>
                <a:spcPts val="0"/>
              </a:spcBef>
              <a:spcAft>
                <a:spcPts val="0"/>
              </a:spcAft>
            </a:pPr>
            <a:r>
              <a:rPr sz="1500" b="0" i="0">
                <a:solidFill>
                  <a:srgbClr val="9FB3BD"/>
                </a:solidFill>
                <a:latin typeface="Segoe UI"/>
              </a:rPr>
              <a:t>Build it, watch it, and write down what healthy looks like.</a:t>
            </a:r>
          </a:p>
        </p:txBody>
      </p:sp>
      <p:sp>
        <p:nvSpPr>
          <p:cNvPr id="9" name="TextBox 8"/>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9FB3BD"/>
                </a:solidFill>
                <a:latin typeface="Segoe UI"/>
              </a:rPr>
              <a:t>Part 2 · The lab</a:t>
            </a:r>
          </a:p>
        </p:txBody>
      </p:sp>
      <p:sp>
        <p:nvSpPr>
          <p:cNvPr id="10" name="TextBox 9"/>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9FB3BD"/>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Before you start</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Get all of this in place first. The walkthrough assumes it is ready.</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2 · The lab</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19</a:t>
            </a:r>
          </a:p>
        </p:txBody>
      </p:sp>
      <p:sp>
        <p:nvSpPr>
          <p:cNvPr id="7" name="Rectangle 6"/>
          <p:cNvSpPr/>
          <p:nvPr/>
        </p:nvSpPr>
        <p:spPr>
          <a:xfrm>
            <a:off x="566928" y="1682496"/>
            <a:ext cx="676656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810512"/>
            <a:ext cx="310896" cy="310896"/>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25296" y="1737360"/>
            <a:ext cx="2834640" cy="27432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Local tools</a:t>
            </a:r>
          </a:p>
        </p:txBody>
      </p:sp>
      <p:sp>
        <p:nvSpPr>
          <p:cNvPr id="10" name="TextBox 9"/>
          <p:cNvSpPr txBox="1"/>
          <p:nvPr/>
        </p:nvSpPr>
        <p:spPr>
          <a:xfrm>
            <a:off x="1225296" y="1975104"/>
            <a:ext cx="5852160" cy="274320"/>
          </a:xfrm>
          <a:prstGeom prst="rect">
            <a:avLst/>
          </a:prstGeom>
          <a:noFill/>
        </p:spPr>
        <p:txBody>
          <a:bodyPr wrap="square" lIns="0" rIns="0" tIns="0" bIns="0">
            <a:spAutoFit/>
          </a:bodyPr>
          <a:lstStyle/>
          <a:p>
            <a:pPr>
              <a:spcBef>
                <a:spcPts val="0"/>
              </a:spcBef>
              <a:spcAft>
                <a:spcPts val="0"/>
              </a:spcAft>
            </a:pPr>
            <a:r>
              <a:rPr sz="1000" b="0" i="0">
                <a:solidFill>
                  <a:srgbClr val="5B6B73"/>
                </a:solidFill>
                <a:latin typeface="Consolas"/>
              </a:rPr>
              <a:t>terraform · aws · kubectl · docker · helm · jq · envsubst</a:t>
            </a:r>
          </a:p>
        </p:txBody>
      </p:sp>
      <p:sp>
        <p:nvSpPr>
          <p:cNvPr id="11" name="Rectangle 10"/>
          <p:cNvSpPr/>
          <p:nvPr/>
        </p:nvSpPr>
        <p:spPr>
          <a:xfrm>
            <a:off x="566928" y="2340864"/>
            <a:ext cx="676656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468880"/>
            <a:ext cx="310896" cy="310896"/>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25296" y="2395728"/>
            <a:ext cx="2834640" cy="27432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bash 4.4 or newer</a:t>
            </a:r>
          </a:p>
        </p:txBody>
      </p:sp>
      <p:sp>
        <p:nvSpPr>
          <p:cNvPr id="14" name="TextBox 13"/>
          <p:cNvSpPr txBox="1"/>
          <p:nvPr/>
        </p:nvSpPr>
        <p:spPr>
          <a:xfrm>
            <a:off x="1225296" y="2633472"/>
            <a:ext cx="5852160" cy="274320"/>
          </a:xfrm>
          <a:prstGeom prst="rect">
            <a:avLst/>
          </a:prstGeom>
          <a:noFill/>
        </p:spPr>
        <p:txBody>
          <a:bodyPr wrap="square" lIns="0" rIns="0" tIns="0" bIns="0">
            <a:spAutoFit/>
          </a:bodyPr>
          <a:lstStyle/>
          <a:p>
            <a:pPr>
              <a:spcBef>
                <a:spcPts val="0"/>
              </a:spcBef>
              <a:spcAft>
                <a:spcPts val="0"/>
              </a:spcAft>
            </a:pPr>
            <a:r>
              <a:rPr sz="1000" b="0" i="0">
                <a:solidFill>
                  <a:srgbClr val="5B6B73"/>
                </a:solidFill>
                <a:latin typeface="Consolas"/>
              </a:rPr>
              <a:t>macOS ships 3.2 -- brew install bash, then run setup.sh with it</a:t>
            </a:r>
          </a:p>
        </p:txBody>
      </p:sp>
      <p:sp>
        <p:nvSpPr>
          <p:cNvPr id="15" name="Rectangle 14"/>
          <p:cNvSpPr/>
          <p:nvPr/>
        </p:nvSpPr>
        <p:spPr>
          <a:xfrm>
            <a:off x="566928" y="2999232"/>
            <a:ext cx="676656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3127248"/>
            <a:ext cx="310896" cy="310896"/>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6" y="3054096"/>
            <a:ext cx="2834640" cy="27432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Your own AWS account</a:t>
            </a:r>
          </a:p>
        </p:txBody>
      </p:sp>
      <p:sp>
        <p:nvSpPr>
          <p:cNvPr id="18" name="TextBox 17"/>
          <p:cNvSpPr txBox="1"/>
          <p:nvPr/>
        </p:nvSpPr>
        <p:spPr>
          <a:xfrm>
            <a:off x="1225296" y="3291840"/>
            <a:ext cx="5852160" cy="274320"/>
          </a:xfrm>
          <a:prstGeom prst="rect">
            <a:avLst/>
          </a:prstGeom>
          <a:noFill/>
        </p:spPr>
        <p:txBody>
          <a:bodyPr wrap="square" lIns="0" rIns="0" tIns="0" bIns="0">
            <a:spAutoFit/>
          </a:bodyPr>
          <a:lstStyle/>
          <a:p>
            <a:pPr>
              <a:spcBef>
                <a:spcPts val="0"/>
              </a:spcBef>
              <a:spcAft>
                <a:spcPts val="0"/>
              </a:spcAft>
            </a:pPr>
            <a:r>
              <a:rPr sz="1000" b="0" i="0">
                <a:solidFill>
                  <a:srgbClr val="5B6B73"/>
                </a:solidFill>
                <a:latin typeface="Consolas"/>
              </a:rPr>
              <a:t>Real EKS, RDS and NAT. No free tier, and no sharing.</a:t>
            </a:r>
          </a:p>
        </p:txBody>
      </p:sp>
      <p:sp>
        <p:nvSpPr>
          <p:cNvPr id="19" name="Rectangle 18"/>
          <p:cNvSpPr/>
          <p:nvPr/>
        </p:nvSpPr>
        <p:spPr>
          <a:xfrm>
            <a:off x="566928" y="3657600"/>
            <a:ext cx="676656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3785616"/>
            <a:ext cx="310896" cy="310896"/>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25296" y="3712464"/>
            <a:ext cx="2834640" cy="27432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A Route 53 public hosted zone</a:t>
            </a:r>
          </a:p>
        </p:txBody>
      </p:sp>
      <p:sp>
        <p:nvSpPr>
          <p:cNvPr id="22" name="TextBox 21"/>
          <p:cNvSpPr txBox="1"/>
          <p:nvPr/>
        </p:nvSpPr>
        <p:spPr>
          <a:xfrm>
            <a:off x="1225296" y="3950208"/>
            <a:ext cx="5852160" cy="274320"/>
          </a:xfrm>
          <a:prstGeom prst="rect">
            <a:avLst/>
          </a:prstGeom>
          <a:noFill/>
        </p:spPr>
        <p:txBody>
          <a:bodyPr wrap="square" lIns="0" rIns="0" tIns="0" bIns="0">
            <a:spAutoFit/>
          </a:bodyPr>
          <a:lstStyle/>
          <a:p>
            <a:pPr>
              <a:spcBef>
                <a:spcPts val="0"/>
              </a:spcBef>
              <a:spcAft>
                <a:spcPts val="0"/>
              </a:spcAft>
            </a:pPr>
            <a:r>
              <a:rPr sz="1000" b="0" i="0">
                <a:solidFill>
                  <a:srgbClr val="5B6B73"/>
                </a:solidFill>
                <a:latin typeface="Consolas"/>
              </a:rPr>
              <a:t>Same account, a domain you control, NS delegation pointing at it.</a:t>
            </a:r>
          </a:p>
        </p:txBody>
      </p:sp>
      <p:sp>
        <p:nvSpPr>
          <p:cNvPr id="23" name="Rectangle 22"/>
          <p:cNvSpPr/>
          <p:nvPr/>
        </p:nvSpPr>
        <p:spPr>
          <a:xfrm>
            <a:off x="566928" y="4315968"/>
            <a:ext cx="676656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4443984"/>
            <a:ext cx="310896" cy="310896"/>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25296" y="4370832"/>
            <a:ext cx="2834640" cy="27432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Your own free Datadog trial</a:t>
            </a:r>
          </a:p>
        </p:txBody>
      </p:sp>
      <p:sp>
        <p:nvSpPr>
          <p:cNvPr id="26" name="TextBox 25"/>
          <p:cNvSpPr txBox="1"/>
          <p:nvPr/>
        </p:nvSpPr>
        <p:spPr>
          <a:xfrm>
            <a:off x="1225296" y="4608576"/>
            <a:ext cx="5852160" cy="274320"/>
          </a:xfrm>
          <a:prstGeom prst="rect">
            <a:avLst/>
          </a:prstGeom>
          <a:noFill/>
        </p:spPr>
        <p:txBody>
          <a:bodyPr wrap="square" lIns="0" rIns="0" tIns="0" bIns="0">
            <a:spAutoFit/>
          </a:bodyPr>
          <a:lstStyle/>
          <a:p>
            <a:pPr>
              <a:spcBef>
                <a:spcPts val="0"/>
              </a:spcBef>
              <a:spcAft>
                <a:spcPts val="0"/>
              </a:spcAft>
            </a:pPr>
            <a:r>
              <a:rPr sz="1000" b="0" i="0">
                <a:solidFill>
                  <a:srgbClr val="5B6B73"/>
                </a:solidFill>
                <a:latin typeface="Consolas"/>
              </a:rPr>
              <a:t>Nothing in the repo contains a real API key.</a:t>
            </a:r>
          </a:p>
        </p:txBody>
      </p:sp>
      <p:sp>
        <p:nvSpPr>
          <p:cNvPr id="27" name="Rectangle 26"/>
          <p:cNvSpPr/>
          <p:nvPr/>
        </p:nvSpPr>
        <p:spPr>
          <a:xfrm>
            <a:off x="7607808" y="1682496"/>
            <a:ext cx="4023360" cy="169164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27264" y="1837944"/>
            <a:ext cx="3584448" cy="1399032"/>
          </a:xfrm>
          <a:prstGeom prst="rect">
            <a:avLst/>
          </a:prstGeom>
          <a:noFill/>
        </p:spPr>
        <p:txBody>
          <a:bodyPr wrap="square" lIns="0" rIns="0" tIns="0" bIns="0">
            <a:spAutoFit/>
          </a:bodyPr>
          <a:lstStyle/>
          <a:p>
            <a:pPr>
              <a:spcBef>
                <a:spcPts val="0"/>
              </a:spcBef>
              <a:spcAft>
                <a:spcPts val="600"/>
              </a:spcAft>
            </a:pPr>
            <a:r>
              <a:rPr sz="1000" b="1" i="0">
                <a:solidFill>
                  <a:srgbClr val="D1495B"/>
                </a:solidFill>
                <a:latin typeface="Segoe UI"/>
              </a:rPr>
              <a:t>ONE DEPLOYMENT PER AWS ACCOUNT</a:t>
            </a:r>
          </a:p>
          <a:p>
            <a:pPr>
              <a:spcBef>
                <a:spcPts val="0"/>
              </a:spcBef>
              <a:spcAft>
                <a:spcPts val="400"/>
              </a:spcAft>
            </a:pPr>
            <a:r>
              <a:rPr sz="1100" b="0" i="0">
                <a:solidFill>
                  <a:srgbClr val="9FB3BD"/>
                </a:solidFill>
                <a:latin typeface="Segoe UI"/>
              </a:rPr>
              <a:t>Resource names are fixed, not parameterised per student: the sre-lab cluster, the RDS instance, the ECR repositories. Two students in one account will collide.</a:t>
            </a:r>
          </a:p>
        </p:txBody>
      </p:sp>
      <p:sp>
        <p:nvSpPr>
          <p:cNvPr id="29" name="Rectangle 28"/>
          <p:cNvSpPr/>
          <p:nvPr/>
        </p:nvSpPr>
        <p:spPr>
          <a:xfrm>
            <a:off x="7607808" y="3557015"/>
            <a:ext cx="4023360" cy="14173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07808" y="3557015"/>
            <a:ext cx="44450" cy="141732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7264" y="3712463"/>
            <a:ext cx="3584448" cy="112471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It costs real money</a:t>
            </a:r>
          </a:p>
          <a:p>
            <a:pPr>
              <a:spcBef>
                <a:spcPts val="0"/>
              </a:spcBef>
              <a:spcAft>
                <a:spcPts val="400"/>
              </a:spcAft>
            </a:pPr>
            <a:r>
              <a:rPr sz="1100" b="0" i="0">
                <a:solidFill>
                  <a:srgbClr val="17262E"/>
                </a:solidFill>
                <a:latin typeface="Segoe UI"/>
              </a:rPr>
              <a:t>Roughly $150 to $250 a month if left running</a:t>
            </a:r>
          </a:p>
          <a:p>
            <a:pPr>
              <a:spcBef>
                <a:spcPts val="0"/>
              </a:spcBef>
              <a:spcAft>
                <a:spcPts val="400"/>
              </a:spcAft>
            </a:pPr>
            <a:r>
              <a:rPr sz="1100" b="0" i="0">
                <a:solidFill>
                  <a:srgbClr val="17262E"/>
                </a:solidFill>
                <a:latin typeface="Segoe UI"/>
              </a:rPr>
              <a:t>EKS, 2 to 5 t3.medium nodes, a NAT gateway, RDS</a:t>
            </a:r>
          </a:p>
          <a:p>
            <a:pPr>
              <a:spcBef>
                <a:spcPts val="0"/>
              </a:spcBef>
              <a:spcAft>
                <a:spcPts val="400"/>
              </a:spcAft>
            </a:pPr>
            <a:r>
              <a:rPr sz="1100" b="0" i="0">
                <a:solidFill>
                  <a:srgbClr val="17262E"/>
                </a:solidFill>
                <a:latin typeface="Segoe UI"/>
              </a:rPr>
              <a:t>Run teardown.sh at the end of every session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What you are building</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Five production-style applications on one shared cluster, observed with Datadog.</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2 · The lab</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20</a:t>
            </a:r>
          </a:p>
        </p:txBody>
      </p:sp>
      <p:sp>
        <p:nvSpPr>
          <p:cNvPr id="7" name="Rectangle 6"/>
          <p:cNvSpPr/>
          <p:nvPr/>
        </p:nvSpPr>
        <p:spPr>
          <a:xfrm>
            <a:off x="566928" y="1682496"/>
            <a:ext cx="2130552" cy="14173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883664"/>
            <a:ext cx="146304" cy="14630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157984"/>
            <a:ext cx="1728216"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Ecommerce</a:t>
            </a:r>
          </a:p>
        </p:txBody>
      </p:sp>
      <p:sp>
        <p:nvSpPr>
          <p:cNvPr id="10" name="TextBox 9"/>
          <p:cNvSpPr txBox="1"/>
          <p:nvPr/>
        </p:nvSpPr>
        <p:spPr>
          <a:xfrm>
            <a:off x="768096" y="2459736"/>
            <a:ext cx="1728216" cy="548640"/>
          </a:xfrm>
          <a:prstGeom prst="rect">
            <a:avLst/>
          </a:prstGeom>
          <a:noFill/>
        </p:spPr>
        <p:txBody>
          <a:bodyPr wrap="square" lIns="0" rIns="0" tIns="0" bIns="0">
            <a:spAutoFit/>
          </a:bodyPr>
          <a:lstStyle/>
          <a:p>
            <a:pPr>
              <a:spcBef>
                <a:spcPts val="0"/>
              </a:spcBef>
              <a:spcAft>
                <a:spcPts val="0"/>
              </a:spcAft>
            </a:pPr>
            <a:r>
              <a:rPr sz="1000" b="0" i="0">
                <a:solidFill>
                  <a:srgbClr val="17262E"/>
                </a:solidFill>
                <a:latin typeface="Segoe UI"/>
              </a:rPr>
              <a:t>checkout latency and success is the primary SLI</a:t>
            </a:r>
          </a:p>
        </p:txBody>
      </p:sp>
      <p:sp>
        <p:nvSpPr>
          <p:cNvPr id="11" name="Rectangle 10"/>
          <p:cNvSpPr/>
          <p:nvPr/>
        </p:nvSpPr>
        <p:spPr>
          <a:xfrm>
            <a:off x="2798064" y="1682496"/>
            <a:ext cx="2130552" cy="14173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99232" y="1883664"/>
            <a:ext cx="146304" cy="146304"/>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9232" y="2157984"/>
            <a:ext cx="1728216"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Banking</a:t>
            </a:r>
          </a:p>
        </p:txBody>
      </p:sp>
      <p:sp>
        <p:nvSpPr>
          <p:cNvPr id="14" name="TextBox 13"/>
          <p:cNvSpPr txBox="1"/>
          <p:nvPr/>
        </p:nvSpPr>
        <p:spPr>
          <a:xfrm>
            <a:off x="2999232" y="2459736"/>
            <a:ext cx="1728216" cy="548640"/>
          </a:xfrm>
          <a:prstGeom prst="rect">
            <a:avLst/>
          </a:prstGeom>
          <a:noFill/>
        </p:spPr>
        <p:txBody>
          <a:bodyPr wrap="square" lIns="0" rIns="0" tIns="0" bIns="0">
            <a:spAutoFit/>
          </a:bodyPr>
          <a:lstStyle/>
          <a:p>
            <a:pPr>
              <a:spcBef>
                <a:spcPts val="0"/>
              </a:spcBef>
              <a:spcAft>
                <a:spcPts val="0"/>
              </a:spcAft>
            </a:pPr>
            <a:r>
              <a:rPr sz="1000" b="0" i="0">
                <a:solidFill>
                  <a:srgbClr val="17262E"/>
                </a:solidFill>
                <a:latin typeface="Segoe UI"/>
              </a:rPr>
              <a:t>login, balance, transaction history, transfers</a:t>
            </a:r>
          </a:p>
        </p:txBody>
      </p:sp>
      <p:sp>
        <p:nvSpPr>
          <p:cNvPr id="15" name="Rectangle 14"/>
          <p:cNvSpPr/>
          <p:nvPr/>
        </p:nvSpPr>
        <p:spPr>
          <a:xfrm>
            <a:off x="5029200" y="1682496"/>
            <a:ext cx="2130552" cy="14173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30368" y="1883664"/>
            <a:ext cx="146304" cy="146304"/>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30368" y="2157984"/>
            <a:ext cx="1728216"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Food Delivery</a:t>
            </a:r>
          </a:p>
        </p:txBody>
      </p:sp>
      <p:sp>
        <p:nvSpPr>
          <p:cNvPr id="18" name="TextBox 17"/>
          <p:cNvSpPr txBox="1"/>
          <p:nvPr/>
        </p:nvSpPr>
        <p:spPr>
          <a:xfrm>
            <a:off x="5230368" y="2459736"/>
            <a:ext cx="1728216" cy="548640"/>
          </a:xfrm>
          <a:prstGeom prst="rect">
            <a:avLst/>
          </a:prstGeom>
          <a:noFill/>
        </p:spPr>
        <p:txBody>
          <a:bodyPr wrap="square" lIns="0" rIns="0" tIns="0" bIns="0">
            <a:spAutoFit/>
          </a:bodyPr>
          <a:lstStyle/>
          <a:p>
            <a:pPr>
              <a:spcBef>
                <a:spcPts val="0"/>
              </a:spcBef>
              <a:spcAft>
                <a:spcPts val="0"/>
              </a:spcAft>
            </a:pPr>
            <a:r>
              <a:rPr sz="1000" b="0" i="0">
                <a:solidFill>
                  <a:srgbClr val="17262E"/>
                </a:solidFill>
                <a:latin typeface="Segoe UI"/>
              </a:rPr>
              <a:t>order status cached in Redis, five second TTL</a:t>
            </a:r>
          </a:p>
        </p:txBody>
      </p:sp>
      <p:sp>
        <p:nvSpPr>
          <p:cNvPr id="19" name="Rectangle 18"/>
          <p:cNvSpPr/>
          <p:nvPr/>
        </p:nvSpPr>
        <p:spPr>
          <a:xfrm>
            <a:off x="7260336" y="1682496"/>
            <a:ext cx="2130552" cy="14173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461504" y="1883664"/>
            <a:ext cx="146304" cy="14630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157984"/>
            <a:ext cx="1728216"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Student Portal</a:t>
            </a:r>
          </a:p>
        </p:txBody>
      </p:sp>
      <p:sp>
        <p:nvSpPr>
          <p:cNvPr id="22" name="TextBox 21"/>
          <p:cNvSpPr txBox="1"/>
          <p:nvPr/>
        </p:nvSpPr>
        <p:spPr>
          <a:xfrm>
            <a:off x="7461504" y="2459736"/>
            <a:ext cx="1728216" cy="548640"/>
          </a:xfrm>
          <a:prstGeom prst="rect">
            <a:avLst/>
          </a:prstGeom>
          <a:noFill/>
        </p:spPr>
        <p:txBody>
          <a:bodyPr wrap="square" lIns="0" rIns="0" tIns="0" bIns="0">
            <a:spAutoFit/>
          </a:bodyPr>
          <a:lstStyle/>
          <a:p>
            <a:pPr>
              <a:spcBef>
                <a:spcPts val="0"/>
              </a:spcBef>
              <a:spcAft>
                <a:spcPts val="0"/>
              </a:spcAft>
            </a:pPr>
            <a:r>
              <a:rPr sz="1000" b="0" i="0">
                <a:solidFill>
                  <a:srgbClr val="17262E"/>
                </a:solidFill>
                <a:latin typeface="Segoe UI"/>
              </a:rPr>
              <a:t>courses, grades, assignments, enrolment</a:t>
            </a:r>
          </a:p>
        </p:txBody>
      </p:sp>
      <p:sp>
        <p:nvSpPr>
          <p:cNvPr id="23" name="Rectangle 22"/>
          <p:cNvSpPr/>
          <p:nvPr/>
        </p:nvSpPr>
        <p:spPr>
          <a:xfrm>
            <a:off x="9491472" y="1682496"/>
            <a:ext cx="2130552" cy="14173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0" y="1883664"/>
            <a:ext cx="146304" cy="146304"/>
          </a:xfrm>
          <a:prstGeom prst="ellipse">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0" y="2157984"/>
            <a:ext cx="1728216"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Support Tickets</a:t>
            </a:r>
          </a:p>
        </p:txBody>
      </p:sp>
      <p:sp>
        <p:nvSpPr>
          <p:cNvPr id="26" name="TextBox 25"/>
          <p:cNvSpPr txBox="1"/>
          <p:nvPr/>
        </p:nvSpPr>
        <p:spPr>
          <a:xfrm>
            <a:off x="9692640" y="2459736"/>
            <a:ext cx="1728216" cy="548640"/>
          </a:xfrm>
          <a:prstGeom prst="rect">
            <a:avLst/>
          </a:prstGeom>
          <a:noFill/>
        </p:spPr>
        <p:txBody>
          <a:bodyPr wrap="square" lIns="0" rIns="0" tIns="0" bIns="0">
            <a:spAutoFit/>
          </a:bodyPr>
          <a:lstStyle/>
          <a:p>
            <a:pPr>
              <a:spcBef>
                <a:spcPts val="0"/>
              </a:spcBef>
              <a:spcAft>
                <a:spcPts val="0"/>
              </a:spcAft>
            </a:pPr>
            <a:r>
              <a:rPr sz="1000" b="0" i="0">
                <a:solidFill>
                  <a:srgbClr val="17262E"/>
                </a:solidFill>
                <a:latin typeface="Segoe UI"/>
              </a:rPr>
              <a:t>simplest app, best first chaos target</a:t>
            </a:r>
          </a:p>
        </p:txBody>
      </p:sp>
      <p:sp>
        <p:nvSpPr>
          <p:cNvPr id="27" name="Rectangle 26"/>
          <p:cNvSpPr/>
          <p:nvPr/>
        </p:nvSpPr>
        <p:spPr>
          <a:xfrm>
            <a:off x="566928" y="3282696"/>
            <a:ext cx="11064240" cy="1234440"/>
          </a:xfrm>
          <a:prstGeom prst="rect">
            <a:avLst/>
          </a:prstGeom>
          <a:solidFill>
            <a:srgbClr val="EE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528" y="3419856"/>
            <a:ext cx="3657600" cy="274320"/>
          </a:xfrm>
          <a:prstGeom prst="rect">
            <a:avLst/>
          </a:prstGeom>
          <a:noFill/>
        </p:spPr>
        <p:txBody>
          <a:bodyPr wrap="square" lIns="0" rIns="0" tIns="0" bIns="0">
            <a:spAutoFit/>
          </a:bodyPr>
          <a:lstStyle/>
          <a:p>
            <a:pPr>
              <a:spcBef>
                <a:spcPts val="0"/>
              </a:spcBef>
              <a:spcAft>
                <a:spcPts val="0"/>
              </a:spcAft>
            </a:pPr>
            <a:r>
              <a:rPr sz="1300" b="1" i="0">
                <a:solidFill>
                  <a:srgbClr val="17262E"/>
                </a:solidFill>
                <a:latin typeface="Segoe UI"/>
              </a:rPr>
              <a:t>Shared underneath</a:t>
            </a:r>
          </a:p>
        </p:txBody>
      </p:sp>
      <p:sp>
        <p:nvSpPr>
          <p:cNvPr id="29" name="Rectangle 28"/>
          <p:cNvSpPr/>
          <p:nvPr/>
        </p:nvSpPr>
        <p:spPr>
          <a:xfrm>
            <a:off x="795528" y="3767327"/>
            <a:ext cx="3493008"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3858768"/>
            <a:ext cx="3200400" cy="5029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EKS cluster sre-lab in us-east-1, 2 to 5 t3.medium nodes, plus metrics-server</a:t>
            </a:r>
          </a:p>
        </p:txBody>
      </p:sp>
      <p:sp>
        <p:nvSpPr>
          <p:cNvPr id="31" name="Rectangle 30"/>
          <p:cNvSpPr/>
          <p:nvPr/>
        </p:nvSpPr>
        <p:spPr>
          <a:xfrm>
            <a:off x="4416552" y="3767327"/>
            <a:ext cx="3493008"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62856" y="3858768"/>
            <a:ext cx="3200400" cy="5029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One ALB routed by hostname, five Route 53 records, one shared ACM certificate</a:t>
            </a:r>
          </a:p>
        </p:txBody>
      </p:sp>
      <p:sp>
        <p:nvSpPr>
          <p:cNvPr id="33" name="Rectangle 32"/>
          <p:cNvSpPr/>
          <p:nvPr/>
        </p:nvSpPr>
        <p:spPr>
          <a:xfrm>
            <a:off x="8037576" y="3767327"/>
            <a:ext cx="3493008"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3880" y="3858768"/>
            <a:ext cx="3200400" cy="5029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One RDS Postgres, with a database and least-privilege role per app</a:t>
            </a:r>
          </a:p>
        </p:txBody>
      </p:sp>
      <p:sp>
        <p:nvSpPr>
          <p:cNvPr id="35" name="Rectangle 34"/>
          <p:cNvSpPr/>
          <p:nvPr/>
        </p:nvSpPr>
        <p:spPr>
          <a:xfrm>
            <a:off x="566928" y="4654296"/>
            <a:ext cx="11064240" cy="123444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8" y="4791456"/>
            <a:ext cx="3657600" cy="274320"/>
          </a:xfrm>
          <a:prstGeom prst="rect">
            <a:avLst/>
          </a:prstGeom>
          <a:noFill/>
        </p:spPr>
        <p:txBody>
          <a:bodyPr wrap="square" lIns="0" rIns="0" tIns="0" bIns="0">
            <a:spAutoFit/>
          </a:bodyPr>
          <a:lstStyle/>
          <a:p>
            <a:pPr>
              <a:spcBef>
                <a:spcPts val="0"/>
              </a:spcBef>
              <a:spcAft>
                <a:spcPts val="0"/>
              </a:spcAft>
            </a:pPr>
            <a:r>
              <a:rPr sz="1300" b="1" i="0">
                <a:solidFill>
                  <a:srgbClr val="FFFFFF"/>
                </a:solidFill>
                <a:latin typeface="Segoe UI"/>
              </a:rPr>
              <a:t>Datadog</a:t>
            </a:r>
          </a:p>
        </p:txBody>
      </p:sp>
      <p:sp>
        <p:nvSpPr>
          <p:cNvPr id="37" name="Rectangle 36"/>
          <p:cNvSpPr/>
          <p:nvPr/>
        </p:nvSpPr>
        <p:spPr>
          <a:xfrm>
            <a:off x="795528" y="5138928"/>
            <a:ext cx="2587752" cy="621792"/>
          </a:xfrm>
          <a:prstGeom prst="rect">
            <a:avLst/>
          </a:prstGeom>
          <a:solidFill>
            <a:srgbClr val="18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5202936"/>
            <a:ext cx="2295144" cy="274320"/>
          </a:xfrm>
          <a:prstGeom prst="rect">
            <a:avLst/>
          </a:prstGeom>
          <a:noFill/>
        </p:spPr>
        <p:txBody>
          <a:bodyPr wrap="square" lIns="0" rIns="0" tIns="0" bIns="0">
            <a:spAutoFit/>
          </a:bodyPr>
          <a:lstStyle/>
          <a:p>
            <a:pPr>
              <a:spcBef>
                <a:spcPts val="0"/>
              </a:spcBef>
              <a:spcAft>
                <a:spcPts val="0"/>
              </a:spcAft>
            </a:pPr>
            <a:r>
              <a:rPr sz="1150" b="1" i="0">
                <a:solidFill>
                  <a:srgbClr val="E8A020"/>
                </a:solidFill>
                <a:latin typeface="Segoe UI"/>
              </a:rPr>
              <a:t>Metrics</a:t>
            </a:r>
          </a:p>
        </p:txBody>
      </p:sp>
      <p:sp>
        <p:nvSpPr>
          <p:cNvPr id="39" name="TextBox 38"/>
          <p:cNvSpPr txBox="1"/>
          <p:nvPr/>
        </p:nvSpPr>
        <p:spPr>
          <a:xfrm>
            <a:off x="941832" y="5440680"/>
            <a:ext cx="2295144" cy="274320"/>
          </a:xfrm>
          <a:prstGeom prst="rect">
            <a:avLst/>
          </a:prstGeom>
          <a:noFill/>
        </p:spPr>
        <p:txBody>
          <a:bodyPr wrap="square" lIns="0" rIns="0" tIns="0" bIns="0">
            <a:spAutoFit/>
          </a:bodyPr>
          <a:lstStyle/>
          <a:p>
            <a:pPr>
              <a:spcBef>
                <a:spcPts val="0"/>
              </a:spcBef>
              <a:spcAft>
                <a:spcPts val="0"/>
              </a:spcAft>
            </a:pPr>
            <a:r>
              <a:rPr sz="950" b="0" i="0">
                <a:solidFill>
                  <a:srgbClr val="9FB3BD"/>
                </a:solidFill>
                <a:latin typeface="Segoe UI"/>
              </a:rPr>
              <a:t>cluster and per app, tagged env:lab</a:t>
            </a:r>
          </a:p>
        </p:txBody>
      </p:sp>
      <p:sp>
        <p:nvSpPr>
          <p:cNvPr id="40" name="Rectangle 39"/>
          <p:cNvSpPr/>
          <p:nvPr/>
        </p:nvSpPr>
        <p:spPr>
          <a:xfrm>
            <a:off x="3483864" y="5138928"/>
            <a:ext cx="2587752" cy="621792"/>
          </a:xfrm>
          <a:prstGeom prst="rect">
            <a:avLst/>
          </a:prstGeom>
          <a:solidFill>
            <a:srgbClr val="18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30168" y="5202936"/>
            <a:ext cx="2295144" cy="274320"/>
          </a:xfrm>
          <a:prstGeom prst="rect">
            <a:avLst/>
          </a:prstGeom>
          <a:noFill/>
        </p:spPr>
        <p:txBody>
          <a:bodyPr wrap="square" lIns="0" rIns="0" tIns="0" bIns="0">
            <a:spAutoFit/>
          </a:bodyPr>
          <a:lstStyle/>
          <a:p>
            <a:pPr>
              <a:spcBef>
                <a:spcPts val="0"/>
              </a:spcBef>
              <a:spcAft>
                <a:spcPts val="0"/>
              </a:spcAft>
            </a:pPr>
            <a:r>
              <a:rPr sz="1150" b="1" i="0">
                <a:solidFill>
                  <a:srgbClr val="E8A020"/>
                </a:solidFill>
                <a:latin typeface="Segoe UI"/>
              </a:rPr>
              <a:t>APM traces</a:t>
            </a:r>
          </a:p>
        </p:txBody>
      </p:sp>
      <p:sp>
        <p:nvSpPr>
          <p:cNvPr id="42" name="TextBox 41"/>
          <p:cNvSpPr txBox="1"/>
          <p:nvPr/>
        </p:nvSpPr>
        <p:spPr>
          <a:xfrm>
            <a:off x="3630168" y="5440680"/>
            <a:ext cx="2295144" cy="274320"/>
          </a:xfrm>
          <a:prstGeom prst="rect">
            <a:avLst/>
          </a:prstGeom>
          <a:noFill/>
        </p:spPr>
        <p:txBody>
          <a:bodyPr wrap="square" lIns="0" rIns="0" tIns="0" bIns="0">
            <a:spAutoFit/>
          </a:bodyPr>
          <a:lstStyle/>
          <a:p>
            <a:pPr>
              <a:spcBef>
                <a:spcPts val="0"/>
              </a:spcBef>
              <a:spcAft>
                <a:spcPts val="0"/>
              </a:spcAft>
            </a:pPr>
            <a:r>
              <a:rPr sz="950" b="0" i="0">
                <a:solidFill>
                  <a:srgbClr val="9FB3BD"/>
                </a:solidFill>
                <a:latin typeface="Segoe UI"/>
              </a:rPr>
              <a:t>browser to backend to Postgres</a:t>
            </a:r>
          </a:p>
        </p:txBody>
      </p:sp>
      <p:sp>
        <p:nvSpPr>
          <p:cNvPr id="43" name="Rectangle 42"/>
          <p:cNvSpPr/>
          <p:nvPr/>
        </p:nvSpPr>
        <p:spPr>
          <a:xfrm>
            <a:off x="6172200" y="5138928"/>
            <a:ext cx="2587752" cy="621792"/>
          </a:xfrm>
          <a:prstGeom prst="rect">
            <a:avLst/>
          </a:prstGeom>
          <a:solidFill>
            <a:srgbClr val="18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18504" y="5202936"/>
            <a:ext cx="2295144" cy="274320"/>
          </a:xfrm>
          <a:prstGeom prst="rect">
            <a:avLst/>
          </a:prstGeom>
          <a:noFill/>
        </p:spPr>
        <p:txBody>
          <a:bodyPr wrap="square" lIns="0" rIns="0" tIns="0" bIns="0">
            <a:spAutoFit/>
          </a:bodyPr>
          <a:lstStyle/>
          <a:p>
            <a:pPr>
              <a:spcBef>
                <a:spcPts val="0"/>
              </a:spcBef>
              <a:spcAft>
                <a:spcPts val="0"/>
              </a:spcAft>
            </a:pPr>
            <a:r>
              <a:rPr sz="1150" b="1" i="0">
                <a:solidFill>
                  <a:srgbClr val="E8A020"/>
                </a:solidFill>
                <a:latin typeface="Segoe UI"/>
              </a:rPr>
              <a:t>Logs</a:t>
            </a:r>
          </a:p>
        </p:txBody>
      </p:sp>
      <p:sp>
        <p:nvSpPr>
          <p:cNvPr id="45" name="TextBox 44"/>
          <p:cNvSpPr txBox="1"/>
          <p:nvPr/>
        </p:nvSpPr>
        <p:spPr>
          <a:xfrm>
            <a:off x="6318504" y="5440680"/>
            <a:ext cx="2295144" cy="274320"/>
          </a:xfrm>
          <a:prstGeom prst="rect">
            <a:avLst/>
          </a:prstGeom>
          <a:noFill/>
        </p:spPr>
        <p:txBody>
          <a:bodyPr wrap="square" lIns="0" rIns="0" tIns="0" bIns="0">
            <a:spAutoFit/>
          </a:bodyPr>
          <a:lstStyle/>
          <a:p>
            <a:pPr>
              <a:spcBef>
                <a:spcPts val="0"/>
              </a:spcBef>
              <a:spcAft>
                <a:spcPts val="0"/>
              </a:spcAft>
            </a:pPr>
            <a:r>
              <a:rPr sz="950" b="0" i="0">
                <a:solidFill>
                  <a:srgbClr val="9FB3BD"/>
                </a:solidFill>
                <a:latin typeface="Segoe UI"/>
              </a:rPr>
              <a:t>the exact error, once you know where</a:t>
            </a:r>
          </a:p>
        </p:txBody>
      </p:sp>
      <p:sp>
        <p:nvSpPr>
          <p:cNvPr id="46" name="Rectangle 45"/>
          <p:cNvSpPr/>
          <p:nvPr/>
        </p:nvSpPr>
        <p:spPr>
          <a:xfrm>
            <a:off x="8860536" y="5138928"/>
            <a:ext cx="2587752" cy="621792"/>
          </a:xfrm>
          <a:prstGeom prst="rect">
            <a:avLst/>
          </a:prstGeom>
          <a:solidFill>
            <a:srgbClr val="182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06840" y="5202936"/>
            <a:ext cx="2295144" cy="274320"/>
          </a:xfrm>
          <a:prstGeom prst="rect">
            <a:avLst/>
          </a:prstGeom>
          <a:noFill/>
        </p:spPr>
        <p:txBody>
          <a:bodyPr wrap="square" lIns="0" rIns="0" tIns="0" bIns="0">
            <a:spAutoFit/>
          </a:bodyPr>
          <a:lstStyle/>
          <a:p>
            <a:pPr>
              <a:spcBef>
                <a:spcPts val="0"/>
              </a:spcBef>
              <a:spcAft>
                <a:spcPts val="0"/>
              </a:spcAft>
            </a:pPr>
            <a:r>
              <a:rPr sz="1150" b="1" i="0">
                <a:solidFill>
                  <a:srgbClr val="E8A020"/>
                </a:solidFill>
                <a:latin typeface="Segoe UI"/>
              </a:rPr>
              <a:t>Events</a:t>
            </a:r>
          </a:p>
        </p:txBody>
      </p:sp>
      <p:sp>
        <p:nvSpPr>
          <p:cNvPr id="48" name="TextBox 47"/>
          <p:cNvSpPr txBox="1"/>
          <p:nvPr/>
        </p:nvSpPr>
        <p:spPr>
          <a:xfrm>
            <a:off x="9006840" y="5440680"/>
            <a:ext cx="2295144" cy="274320"/>
          </a:xfrm>
          <a:prstGeom prst="rect">
            <a:avLst/>
          </a:prstGeom>
          <a:noFill/>
        </p:spPr>
        <p:txBody>
          <a:bodyPr wrap="square" lIns="0" rIns="0" tIns="0" bIns="0">
            <a:spAutoFit/>
          </a:bodyPr>
          <a:lstStyle/>
          <a:p>
            <a:pPr>
              <a:spcBef>
                <a:spcPts val="0"/>
              </a:spcBef>
              <a:spcAft>
                <a:spcPts val="0"/>
              </a:spcAft>
            </a:pPr>
            <a:r>
              <a:rPr sz="950" b="0" i="0">
                <a:solidFill>
                  <a:srgbClr val="9FB3BD"/>
                </a:solidFill>
                <a:latin typeface="Segoe UI"/>
              </a:rPr>
              <a:t>probe failures, OOMKills, image pulls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Steps 1 and 2: your Datadog account, then your domain</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Each student uses their own trial. There is no shared account.</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2 · The lab</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21</a:t>
            </a:r>
          </a:p>
        </p:txBody>
      </p:sp>
      <p:sp>
        <p:nvSpPr>
          <p:cNvPr id="7" name="Rectangle 6"/>
          <p:cNvSpPr/>
          <p:nvPr/>
        </p:nvSpPr>
        <p:spPr>
          <a:xfrm>
            <a:off x="566928" y="1682496"/>
            <a:ext cx="676656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82496"/>
            <a:ext cx="44450" cy="56692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19656"/>
            <a:ext cx="685800" cy="56692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1</a:t>
            </a:r>
          </a:p>
        </p:txBody>
      </p:sp>
      <p:sp>
        <p:nvSpPr>
          <p:cNvPr id="10" name="TextBox 9"/>
          <p:cNvSpPr txBox="1"/>
          <p:nvPr/>
        </p:nvSpPr>
        <p:spPr>
          <a:xfrm>
            <a:off x="1417320" y="1746504"/>
            <a:ext cx="2286000" cy="56692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Start a free trial</a:t>
            </a:r>
          </a:p>
        </p:txBody>
      </p:sp>
      <p:sp>
        <p:nvSpPr>
          <p:cNvPr id="11" name="TextBox 10"/>
          <p:cNvSpPr txBox="1"/>
          <p:nvPr/>
        </p:nvSpPr>
        <p:spPr>
          <a:xfrm>
            <a:off x="3813048" y="1773936"/>
            <a:ext cx="3337560" cy="566928"/>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datadoghq.com</a:t>
            </a:r>
          </a:p>
        </p:txBody>
      </p:sp>
      <p:sp>
        <p:nvSpPr>
          <p:cNvPr id="12" name="Rectangle 11"/>
          <p:cNvSpPr/>
          <p:nvPr/>
        </p:nvSpPr>
        <p:spPr>
          <a:xfrm>
            <a:off x="566928" y="2340864"/>
            <a:ext cx="676656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340864"/>
            <a:ext cx="44450" cy="56692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478024"/>
            <a:ext cx="685800" cy="56692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2</a:t>
            </a:r>
          </a:p>
        </p:txBody>
      </p:sp>
      <p:sp>
        <p:nvSpPr>
          <p:cNvPr id="15" name="TextBox 14"/>
          <p:cNvSpPr txBox="1"/>
          <p:nvPr/>
        </p:nvSpPr>
        <p:spPr>
          <a:xfrm>
            <a:off x="1417320" y="2404872"/>
            <a:ext cx="2286000" cy="56692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Copy your API key</a:t>
            </a:r>
          </a:p>
        </p:txBody>
      </p:sp>
      <p:sp>
        <p:nvSpPr>
          <p:cNvPr id="16" name="TextBox 15"/>
          <p:cNvSpPr txBox="1"/>
          <p:nvPr/>
        </p:nvSpPr>
        <p:spPr>
          <a:xfrm>
            <a:off x="3813048" y="2432304"/>
            <a:ext cx="3337560" cy="566928"/>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Organization Settings &gt; API Keys. Required.</a:t>
            </a:r>
          </a:p>
        </p:txBody>
      </p:sp>
      <p:sp>
        <p:nvSpPr>
          <p:cNvPr id="17" name="Rectangle 16"/>
          <p:cNvSpPr/>
          <p:nvPr/>
        </p:nvSpPr>
        <p:spPr>
          <a:xfrm>
            <a:off x="566928" y="2999232"/>
            <a:ext cx="676656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999232"/>
            <a:ext cx="44450" cy="56692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36392"/>
            <a:ext cx="685800" cy="56692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3</a:t>
            </a:r>
          </a:p>
        </p:txBody>
      </p:sp>
      <p:sp>
        <p:nvSpPr>
          <p:cNvPr id="20" name="TextBox 19"/>
          <p:cNvSpPr txBox="1"/>
          <p:nvPr/>
        </p:nvSpPr>
        <p:spPr>
          <a:xfrm>
            <a:off x="1417320" y="3063240"/>
            <a:ext cx="2286000" cy="56692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Copy your application key</a:t>
            </a:r>
          </a:p>
        </p:txBody>
      </p:sp>
      <p:sp>
        <p:nvSpPr>
          <p:cNvPr id="21" name="TextBox 20"/>
          <p:cNvSpPr txBox="1"/>
          <p:nvPr/>
        </p:nvSpPr>
        <p:spPr>
          <a:xfrm>
            <a:off x="3813048" y="3090672"/>
            <a:ext cx="3337560" cy="566928"/>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Organization Settings &gt; Application Keys. Optional.</a:t>
            </a:r>
          </a:p>
        </p:txBody>
      </p:sp>
      <p:sp>
        <p:nvSpPr>
          <p:cNvPr id="22" name="Rectangle 21"/>
          <p:cNvSpPr/>
          <p:nvPr/>
        </p:nvSpPr>
        <p:spPr>
          <a:xfrm>
            <a:off x="566928" y="3657600"/>
            <a:ext cx="6766560" cy="56692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657600"/>
            <a:ext cx="44450" cy="56692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3794760"/>
            <a:ext cx="685800" cy="56692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4</a:t>
            </a:r>
          </a:p>
        </p:txBody>
      </p:sp>
      <p:sp>
        <p:nvSpPr>
          <p:cNvPr id="25" name="TextBox 24"/>
          <p:cNvSpPr txBox="1"/>
          <p:nvPr/>
        </p:nvSpPr>
        <p:spPr>
          <a:xfrm>
            <a:off x="1417320" y="3721608"/>
            <a:ext cx="2286000" cy="56692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Note your site</a:t>
            </a:r>
          </a:p>
        </p:txBody>
      </p:sp>
      <p:sp>
        <p:nvSpPr>
          <p:cNvPr id="26" name="TextBox 25"/>
          <p:cNvSpPr txBox="1"/>
          <p:nvPr/>
        </p:nvSpPr>
        <p:spPr>
          <a:xfrm>
            <a:off x="3813048" y="3749040"/>
            <a:ext cx="3337560" cy="566928"/>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The &lt;site&gt; in app.&lt;site&gt;, e.g. us5.datadoghq.com</a:t>
            </a:r>
          </a:p>
        </p:txBody>
      </p:sp>
      <p:sp>
        <p:nvSpPr>
          <p:cNvPr id="27" name="Rectangle 26"/>
          <p:cNvSpPr/>
          <p:nvPr/>
        </p:nvSpPr>
        <p:spPr>
          <a:xfrm>
            <a:off x="566928" y="4517136"/>
            <a:ext cx="6766560" cy="7132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4645152"/>
            <a:ext cx="6400800" cy="4572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cp terraform/terraform.tfvars.example terraform/terraform.tfvars</a:t>
            </a:r>
          </a:p>
          <a:p>
            <a:pPr>
              <a:spcBef>
                <a:spcPts val="0"/>
              </a:spcBef>
              <a:spcAft>
                <a:spcPts val="200"/>
              </a:spcAft>
            </a:pPr>
            <a:r>
              <a:rPr sz="1100" b="0" i="0">
                <a:solidFill>
                  <a:srgbClr val="9FB3BD"/>
                </a:solidFill>
                <a:latin typeface="Consolas"/>
              </a:rPr>
              <a:t># then set dns_zone_name to your domain</a:t>
            </a:r>
          </a:p>
        </p:txBody>
      </p:sp>
      <p:sp>
        <p:nvSpPr>
          <p:cNvPr id="29" name="TextBox 28"/>
          <p:cNvSpPr txBox="1"/>
          <p:nvPr/>
        </p:nvSpPr>
        <p:spPr>
          <a:xfrm>
            <a:off x="566928" y="5294376"/>
            <a:ext cx="6766560" cy="548640"/>
          </a:xfrm>
          <a:prstGeom prst="rect">
            <a:avLst/>
          </a:prstGeom>
          <a:noFill/>
        </p:spPr>
        <p:txBody>
          <a:bodyPr wrap="square" lIns="0" rIns="0" tIns="0" bIns="0">
            <a:spAutoFit/>
          </a:bodyPr>
          <a:lstStyle/>
          <a:p>
            <a:pPr>
              <a:spcBef>
                <a:spcPts val="0"/>
              </a:spcBef>
              <a:spcAft>
                <a:spcPts val="0"/>
              </a:spcAft>
            </a:pPr>
            <a:r>
              <a:rPr sz="1050" b="0" i="1">
                <a:solidFill>
                  <a:srgbClr val="5B6B73"/>
                </a:solidFill>
                <a:latin typeface="Segoe UI"/>
              </a:rPr>
              <a:t>The lab looks the zone up by name and will not create one for you. It adds five records under it, and finds or requests one ACM certificate.</a:t>
            </a:r>
          </a:p>
        </p:txBody>
      </p:sp>
      <p:sp>
        <p:nvSpPr>
          <p:cNvPr id="30" name="Rectangle 29"/>
          <p:cNvSpPr/>
          <p:nvPr/>
        </p:nvSpPr>
        <p:spPr>
          <a:xfrm>
            <a:off x="7607808" y="1682496"/>
            <a:ext cx="4023360" cy="20116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7264" y="1837944"/>
            <a:ext cx="3584448" cy="1719072"/>
          </a:xfrm>
          <a:prstGeom prst="rect">
            <a:avLst/>
          </a:prstGeom>
          <a:noFill/>
        </p:spPr>
        <p:txBody>
          <a:bodyPr wrap="square" lIns="0" rIns="0" tIns="0" bIns="0">
            <a:spAutoFit/>
          </a:bodyPr>
          <a:lstStyle/>
          <a:p>
            <a:pPr>
              <a:spcBef>
                <a:spcPts val="0"/>
              </a:spcBef>
              <a:spcAft>
                <a:spcPts val="600"/>
              </a:spcAft>
            </a:pPr>
            <a:r>
              <a:rPr sz="1000" b="1" i="0">
                <a:solidFill>
                  <a:srgbClr val="D1495B"/>
                </a:solidFill>
                <a:latin typeface="Segoe UI"/>
              </a:rPr>
              <a:t>THE CLASSIC MISTAKE</a:t>
            </a:r>
          </a:p>
          <a:p>
            <a:pPr>
              <a:spcBef>
                <a:spcPts val="0"/>
              </a:spcBef>
              <a:spcAft>
                <a:spcPts val="400"/>
              </a:spcAft>
            </a:pPr>
            <a:r>
              <a:rPr sz="1100" b="0" i="0">
                <a:solidFill>
                  <a:srgbClr val="9FB3BD"/>
                </a:solidFill>
                <a:latin typeface="Segoe UI"/>
              </a:rPr>
              <a:t>Trials are not all on the same site. Get the site wrong and the Agent pods still come up Running, silently fail to authenticate, and nothing ever appears in your dashboard. Check the site value before you move on.</a:t>
            </a:r>
          </a:p>
        </p:txBody>
      </p:sp>
      <p:sp>
        <p:nvSpPr>
          <p:cNvPr id="32" name="Rectangle 31"/>
          <p:cNvSpPr/>
          <p:nvPr/>
        </p:nvSpPr>
        <p:spPr>
          <a:xfrm>
            <a:off x="7607808" y="3877056"/>
            <a:ext cx="4023360" cy="14630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07808" y="3877056"/>
            <a:ext cx="44450" cy="146304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7264" y="4032504"/>
            <a:ext cx="3584448" cy="117043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Without the application key</a:t>
            </a:r>
          </a:p>
          <a:p>
            <a:pPr>
              <a:spcBef>
                <a:spcPts val="0"/>
              </a:spcBef>
              <a:spcAft>
                <a:spcPts val="400"/>
              </a:spcAft>
            </a:pPr>
            <a:r>
              <a:rPr sz="1100" b="0" i="0">
                <a:solidFill>
                  <a:srgbClr val="17262E"/>
                </a:solidFill>
                <a:latin typeface="Segoe UI"/>
              </a:rPr>
              <a:t>setup.sh still installs the Agent. Metrics, APM, logs and events all work, and RUM survives via the cached .rum-apps.json. Only the dashboard and monitor import is skipped.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Step 3: deploy everything with setup.sh</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One command. Expect 15 to 20 minutes, mostly waiting on EKS and the ALB.</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2 · The lab</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22</a:t>
            </a:r>
          </a:p>
        </p:txBody>
      </p:sp>
      <p:sp>
        <p:nvSpPr>
          <p:cNvPr id="7" name="Rectangle 6"/>
          <p:cNvSpPr/>
          <p:nvPr/>
        </p:nvSpPr>
        <p:spPr>
          <a:xfrm>
            <a:off x="566928" y="1682496"/>
            <a:ext cx="6766560" cy="11704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0512"/>
            <a:ext cx="6400800" cy="9144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DATADOG_API_KEY=&lt;your-datadog-api-key&gt; \</a:t>
            </a:r>
          </a:p>
          <a:p>
            <a:pPr>
              <a:spcBef>
                <a:spcPts val="0"/>
              </a:spcBef>
              <a:spcAft>
                <a:spcPts val="200"/>
              </a:spcAft>
            </a:pPr>
            <a:r>
              <a:rPr sz="1100" b="0" i="0">
                <a:solidFill>
                  <a:srgbClr val="D7E3EA"/>
                </a:solidFill>
                <a:latin typeface="Consolas"/>
              </a:rPr>
              <a:t>DATADOG_APP_KEY=&lt;your-datadog-app-key&gt; \</a:t>
            </a:r>
          </a:p>
          <a:p>
            <a:pPr>
              <a:spcBef>
                <a:spcPts val="0"/>
              </a:spcBef>
              <a:spcAft>
                <a:spcPts val="200"/>
              </a:spcAft>
            </a:pPr>
            <a:r>
              <a:rPr sz="1100" b="0" i="0">
                <a:solidFill>
                  <a:srgbClr val="D7E3EA"/>
                </a:solidFill>
                <a:latin typeface="Consolas"/>
              </a:rPr>
              <a:t>DATADOG_SITE=&lt;your-site, default datadoghq.com&gt; \</a:t>
            </a:r>
          </a:p>
          <a:p>
            <a:pPr>
              <a:spcBef>
                <a:spcPts val="0"/>
              </a:spcBef>
              <a:spcAft>
                <a:spcPts val="200"/>
              </a:spcAft>
            </a:pPr>
            <a:r>
              <a:rPr sz="1100" b="0" i="0">
                <a:solidFill>
                  <a:srgbClr val="D7E3EA"/>
                </a:solidFill>
                <a:latin typeface="Consolas"/>
              </a:rPr>
              <a:t>./scripts/setup.sh</a:t>
            </a:r>
          </a:p>
        </p:txBody>
      </p:sp>
      <p:sp>
        <p:nvSpPr>
          <p:cNvPr id="9" name="Rectangle 8"/>
          <p:cNvSpPr/>
          <p:nvPr/>
        </p:nvSpPr>
        <p:spPr>
          <a:xfrm>
            <a:off x="566928" y="3099816"/>
            <a:ext cx="6766560" cy="10058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255264"/>
            <a:ext cx="6327648" cy="71323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It prints all five app URLs at the end</a:t>
            </a:r>
          </a:p>
          <a:p>
            <a:pPr>
              <a:spcBef>
                <a:spcPts val="0"/>
              </a:spcBef>
              <a:spcAft>
                <a:spcPts val="400"/>
              </a:spcAft>
            </a:pPr>
            <a:r>
              <a:rPr sz="1150" b="0" i="0">
                <a:solidFill>
                  <a:srgbClr val="17262E"/>
                </a:solidFill>
                <a:latin typeface="Segoe UI"/>
              </a:rPr>
              <a:t>Real Route 53 names that work immediately. No hosts-file editing anywhere in this lab.</a:t>
            </a:r>
          </a:p>
        </p:txBody>
      </p:sp>
      <p:sp>
        <p:nvSpPr>
          <p:cNvPr id="11" name="Rectangle 10"/>
          <p:cNvSpPr/>
          <p:nvPr/>
        </p:nvSpPr>
        <p:spPr>
          <a:xfrm>
            <a:off x="566928" y="4288536"/>
            <a:ext cx="67665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4443984"/>
            <a:ext cx="6327648" cy="8503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Reconnecting kubectl in a new shell</a:t>
            </a:r>
          </a:p>
          <a:p>
            <a:pPr>
              <a:spcBef>
                <a:spcPts val="0"/>
              </a:spcBef>
              <a:spcAft>
                <a:spcPts val="400"/>
              </a:spcAft>
            </a:pPr>
            <a:r>
              <a:rPr sz="1100" b="0" i="0">
                <a:solidFill>
                  <a:srgbClr val="17262E"/>
                </a:solidFill>
                <a:latin typeface="Segoe UI"/>
              </a:rPr>
              <a:t>aws eks update-kubeconfig --name sre-lab --region us-east-1</a:t>
            </a:r>
          </a:p>
          <a:p>
            <a:pPr>
              <a:spcBef>
                <a:spcPts val="0"/>
              </a:spcBef>
              <a:spcAft>
                <a:spcPts val="400"/>
              </a:spcAft>
            </a:pPr>
            <a:r>
              <a:rPr sz="1100" b="0" i="0">
                <a:solidFill>
                  <a:srgbClr val="17262E"/>
                </a:solidFill>
                <a:latin typeface="Segoe UI"/>
              </a:rPr>
              <a:t>Also the fix when Docker Desktop hijacks your context.</a:t>
            </a:r>
          </a:p>
        </p:txBody>
      </p:sp>
      <p:sp>
        <p:nvSpPr>
          <p:cNvPr id="13" name="Rectangle 12"/>
          <p:cNvSpPr/>
          <p:nvPr/>
        </p:nvSpPr>
        <p:spPr>
          <a:xfrm>
            <a:off x="7607808" y="1682496"/>
            <a:ext cx="4023360" cy="1691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07808" y="1682496"/>
            <a:ext cx="44450" cy="169164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27264" y="1837944"/>
            <a:ext cx="3584448" cy="139903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Datadog is optional here</a:t>
            </a:r>
          </a:p>
          <a:p>
            <a:pPr>
              <a:spcBef>
                <a:spcPts val="0"/>
              </a:spcBef>
              <a:spcAft>
                <a:spcPts val="400"/>
              </a:spcAft>
            </a:pPr>
            <a:r>
              <a:rPr sz="1100" b="0" i="0">
                <a:solidFill>
                  <a:srgbClr val="17262E"/>
                </a:solidFill>
                <a:latin typeface="Segoe UI"/>
              </a:rPr>
              <a:t>Omit all three DATADOG_ variables to skip Datadog for now, then add it later by re-running the same command with them set. Everything else is safe to re-run.</a:t>
            </a:r>
          </a:p>
        </p:txBody>
      </p:sp>
      <p:sp>
        <p:nvSpPr>
          <p:cNvPr id="16" name="Rectangle 15"/>
          <p:cNvSpPr/>
          <p:nvPr/>
        </p:nvSpPr>
        <p:spPr>
          <a:xfrm>
            <a:off x="7607808" y="3557015"/>
            <a:ext cx="4023360" cy="1874519"/>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27264" y="3712463"/>
            <a:ext cx="3584448" cy="1581911"/>
          </a:xfrm>
          <a:prstGeom prst="rect">
            <a:avLst/>
          </a:prstGeom>
          <a:noFill/>
        </p:spPr>
        <p:txBody>
          <a:bodyPr wrap="square" lIns="0" rIns="0" tIns="0" bIns="0">
            <a:spAutoFit/>
          </a:bodyPr>
          <a:lstStyle/>
          <a:p>
            <a:pPr>
              <a:spcBef>
                <a:spcPts val="0"/>
              </a:spcBef>
              <a:spcAft>
                <a:spcPts val="600"/>
              </a:spcAft>
            </a:pPr>
            <a:r>
              <a:rPr sz="1000" b="1" i="0">
                <a:solidFill>
                  <a:srgbClr val="E8A020"/>
                </a:solidFill>
                <a:latin typeface="Segoe UI"/>
              </a:rPr>
              <a:t>THE IMPORT IS NOT IDEMPOTENT</a:t>
            </a:r>
          </a:p>
          <a:p>
            <a:pPr>
              <a:spcBef>
                <a:spcPts val="0"/>
              </a:spcBef>
              <a:spcAft>
                <a:spcPts val="400"/>
              </a:spcAft>
            </a:pPr>
            <a:r>
              <a:rPr sz="1100" b="0" i="0">
                <a:solidFill>
                  <a:srgbClr val="9FB3BD"/>
                </a:solidFill>
                <a:latin typeface="Segoe UI"/>
              </a:rPr>
              <a:t>Re-running the dashboard import creates duplicates. Only pass DATADOG_APP_KEY on the runs where you actually want to import. Monitors update by name; dashboards do not.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What setup.sh actually does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Worth reading while it runs. Being able to describe this is an interview answer in itself.</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2 · The lab</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23</a:t>
            </a:r>
          </a:p>
        </p:txBody>
      </p:sp>
      <p:sp>
        <p:nvSpPr>
          <p:cNvPr id="7" name="Rectangle 6"/>
          <p:cNvSpPr/>
          <p:nvPr/>
        </p:nvSpPr>
        <p:spPr>
          <a:xfrm>
            <a:off x="566928" y="1682496"/>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3232" y="1783080"/>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37944"/>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0</a:t>
            </a:r>
          </a:p>
        </p:txBody>
      </p:sp>
      <p:sp>
        <p:nvSpPr>
          <p:cNvPr id="10" name="TextBox 9"/>
          <p:cNvSpPr txBox="1"/>
          <p:nvPr/>
        </p:nvSpPr>
        <p:spPr>
          <a:xfrm>
            <a:off x="1133856" y="1719072"/>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Preflight</a:t>
            </a:r>
          </a:p>
        </p:txBody>
      </p:sp>
      <p:sp>
        <p:nvSpPr>
          <p:cNvPr id="11" name="TextBox 10"/>
          <p:cNvSpPr txBox="1"/>
          <p:nvPr/>
        </p:nvSpPr>
        <p:spPr>
          <a:xfrm>
            <a:off x="2670048" y="1737360"/>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CLIs, Docker, AWS creds, bash 4.4+, the hosted zone, NS delegation, and an ACM certificate</a:t>
            </a:r>
          </a:p>
        </p:txBody>
      </p:sp>
      <p:sp>
        <p:nvSpPr>
          <p:cNvPr id="12" name="Rectangle 11"/>
          <p:cNvSpPr/>
          <p:nvPr/>
        </p:nvSpPr>
        <p:spPr>
          <a:xfrm>
            <a:off x="566928" y="2258568"/>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2359152"/>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414016"/>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1</a:t>
            </a:r>
          </a:p>
        </p:txBody>
      </p:sp>
      <p:sp>
        <p:nvSpPr>
          <p:cNvPr id="15" name="TextBox 14"/>
          <p:cNvSpPr txBox="1"/>
          <p:nvPr/>
        </p:nvSpPr>
        <p:spPr>
          <a:xfrm>
            <a:off x="1133856" y="2295144"/>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terraform apply</a:t>
            </a:r>
          </a:p>
        </p:txBody>
      </p:sp>
      <p:sp>
        <p:nvSpPr>
          <p:cNvPr id="16" name="TextBox 15"/>
          <p:cNvSpPr txBox="1"/>
          <p:nvPr/>
        </p:nvSpPr>
        <p:spPr>
          <a:xfrm>
            <a:off x="2670048" y="2313432"/>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VPC, EKS + node group, the shared RDS instance, 10 ECR repositories</a:t>
            </a:r>
          </a:p>
        </p:txBody>
      </p:sp>
      <p:sp>
        <p:nvSpPr>
          <p:cNvPr id="17" name="Rectangle 16"/>
          <p:cNvSpPr/>
          <p:nvPr/>
        </p:nvSpPr>
        <p:spPr>
          <a:xfrm>
            <a:off x="566928" y="2834640"/>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2935224"/>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2990088"/>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2</a:t>
            </a:r>
          </a:p>
        </p:txBody>
      </p:sp>
      <p:sp>
        <p:nvSpPr>
          <p:cNvPr id="20" name="TextBox 19"/>
          <p:cNvSpPr txBox="1"/>
          <p:nvPr/>
        </p:nvSpPr>
        <p:spPr>
          <a:xfrm>
            <a:off x="1133856" y="2871216"/>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update-kubeconfig</a:t>
            </a:r>
          </a:p>
        </p:txBody>
      </p:sp>
      <p:sp>
        <p:nvSpPr>
          <p:cNvPr id="21" name="TextBox 20"/>
          <p:cNvSpPr txBox="1"/>
          <p:nvPr/>
        </p:nvSpPr>
        <p:spPr>
          <a:xfrm>
            <a:off x="2670048" y="2889504"/>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Points kubectl at the cluster</a:t>
            </a:r>
          </a:p>
        </p:txBody>
      </p:sp>
      <p:sp>
        <p:nvSpPr>
          <p:cNvPr id="22" name="Rectangle 21"/>
          <p:cNvSpPr/>
          <p:nvPr/>
        </p:nvSpPr>
        <p:spPr>
          <a:xfrm>
            <a:off x="566928" y="3410712"/>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3232" y="3511296"/>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66160"/>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3</a:t>
            </a:r>
          </a:p>
        </p:txBody>
      </p:sp>
      <p:sp>
        <p:nvSpPr>
          <p:cNvPr id="25" name="TextBox 24"/>
          <p:cNvSpPr txBox="1"/>
          <p:nvPr/>
        </p:nvSpPr>
        <p:spPr>
          <a:xfrm>
            <a:off x="1133856" y="3447288"/>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RUM apps</a:t>
            </a:r>
          </a:p>
        </p:txBody>
      </p:sp>
      <p:sp>
        <p:nvSpPr>
          <p:cNvPr id="26" name="TextBox 25"/>
          <p:cNvSpPr txBox="1"/>
          <p:nvPr/>
        </p:nvSpPr>
        <p:spPr>
          <a:xfrm>
            <a:off x="2670048" y="3465576"/>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Provisions or reuses one Datadog RUM application per app</a:t>
            </a:r>
          </a:p>
        </p:txBody>
      </p:sp>
      <p:sp>
        <p:nvSpPr>
          <p:cNvPr id="27" name="Rectangle 26"/>
          <p:cNvSpPr/>
          <p:nvPr/>
        </p:nvSpPr>
        <p:spPr>
          <a:xfrm>
            <a:off x="566928" y="3986784"/>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3232" y="4087368"/>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142232"/>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4</a:t>
            </a:r>
          </a:p>
        </p:txBody>
      </p:sp>
      <p:sp>
        <p:nvSpPr>
          <p:cNvPr id="30" name="TextBox 29"/>
          <p:cNvSpPr txBox="1"/>
          <p:nvPr/>
        </p:nvSpPr>
        <p:spPr>
          <a:xfrm>
            <a:off x="1133856" y="4023360"/>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Build and push</a:t>
            </a:r>
          </a:p>
        </p:txBody>
      </p:sp>
      <p:sp>
        <p:nvSpPr>
          <p:cNvPr id="31" name="TextBox 30"/>
          <p:cNvSpPr txBox="1"/>
          <p:nvPr/>
        </p:nvSpPr>
        <p:spPr>
          <a:xfrm>
            <a:off x="2670048" y="4041648"/>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All 10 images to ECR, tagged with a timestamp</a:t>
            </a:r>
          </a:p>
        </p:txBody>
      </p:sp>
      <p:sp>
        <p:nvSpPr>
          <p:cNvPr id="32" name="Rectangle 31"/>
          <p:cNvSpPr/>
          <p:nvPr/>
        </p:nvSpPr>
        <p:spPr>
          <a:xfrm>
            <a:off x="566928" y="4562856"/>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3232" y="4663440"/>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718304"/>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5</a:t>
            </a:r>
          </a:p>
        </p:txBody>
      </p:sp>
      <p:sp>
        <p:nvSpPr>
          <p:cNvPr id="35" name="TextBox 34"/>
          <p:cNvSpPr txBox="1"/>
          <p:nvPr/>
        </p:nvSpPr>
        <p:spPr>
          <a:xfrm>
            <a:off x="1133856" y="4599432"/>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Namespaces</a:t>
            </a:r>
          </a:p>
        </p:txBody>
      </p:sp>
      <p:sp>
        <p:nvSpPr>
          <p:cNvPr id="36" name="TextBox 35"/>
          <p:cNvSpPr txBox="1"/>
          <p:nvPr/>
        </p:nvSpPr>
        <p:spPr>
          <a:xfrm>
            <a:off x="2670048" y="4617720"/>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Five, each with its own ResourceQuota and LimitRange</a:t>
            </a:r>
          </a:p>
        </p:txBody>
      </p:sp>
      <p:sp>
        <p:nvSpPr>
          <p:cNvPr id="37" name="Rectangle 36"/>
          <p:cNvSpPr/>
          <p:nvPr/>
        </p:nvSpPr>
        <p:spPr>
          <a:xfrm>
            <a:off x="6281928" y="1682496"/>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428232" y="1783080"/>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8232" y="1837944"/>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6</a:t>
            </a:r>
          </a:p>
        </p:txBody>
      </p:sp>
      <p:sp>
        <p:nvSpPr>
          <p:cNvPr id="40" name="TextBox 39"/>
          <p:cNvSpPr txBox="1"/>
          <p:nvPr/>
        </p:nvSpPr>
        <p:spPr>
          <a:xfrm>
            <a:off x="6848856" y="1719072"/>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Databases</a:t>
            </a:r>
          </a:p>
        </p:txBody>
      </p:sp>
      <p:sp>
        <p:nvSpPr>
          <p:cNvPr id="41" name="TextBox 40"/>
          <p:cNvSpPr txBox="1"/>
          <p:nvPr/>
        </p:nvSpPr>
        <p:spPr>
          <a:xfrm>
            <a:off x="8385048" y="1737360"/>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Per app: a database, a least-privilege role, init.sql, a Secret</a:t>
            </a:r>
          </a:p>
        </p:txBody>
      </p:sp>
      <p:sp>
        <p:nvSpPr>
          <p:cNvPr id="42" name="Rectangle 41"/>
          <p:cNvSpPr/>
          <p:nvPr/>
        </p:nvSpPr>
        <p:spPr>
          <a:xfrm>
            <a:off x="6281928" y="2258568"/>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428232" y="2359152"/>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28232" y="2414016"/>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7</a:t>
            </a:r>
          </a:p>
        </p:txBody>
      </p:sp>
      <p:sp>
        <p:nvSpPr>
          <p:cNvPr id="45" name="TextBox 44"/>
          <p:cNvSpPr txBox="1"/>
          <p:nvPr/>
        </p:nvSpPr>
        <p:spPr>
          <a:xfrm>
            <a:off x="6848856" y="2295144"/>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Redis</a:t>
            </a:r>
          </a:p>
        </p:txBody>
      </p:sp>
      <p:sp>
        <p:nvSpPr>
          <p:cNvPr id="46" name="TextBox 45"/>
          <p:cNvSpPr txBox="1"/>
          <p:nvPr/>
        </p:nvSpPr>
        <p:spPr>
          <a:xfrm>
            <a:off x="8385048" y="2313432"/>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Food Delivery gets its in-cluster cache</a:t>
            </a:r>
          </a:p>
        </p:txBody>
      </p:sp>
      <p:sp>
        <p:nvSpPr>
          <p:cNvPr id="47" name="Rectangle 46"/>
          <p:cNvSpPr/>
          <p:nvPr/>
        </p:nvSpPr>
        <p:spPr>
          <a:xfrm>
            <a:off x="6281928" y="2834640"/>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428232" y="2935224"/>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28232" y="2990088"/>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8</a:t>
            </a:r>
          </a:p>
        </p:txBody>
      </p:sp>
      <p:sp>
        <p:nvSpPr>
          <p:cNvPr id="50" name="TextBox 49"/>
          <p:cNvSpPr txBox="1"/>
          <p:nvPr/>
        </p:nvSpPr>
        <p:spPr>
          <a:xfrm>
            <a:off x="6848856" y="2871216"/>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Deploy + verify</a:t>
            </a:r>
          </a:p>
        </p:txBody>
      </p:sp>
      <p:sp>
        <p:nvSpPr>
          <p:cNvPr id="51" name="TextBox 50"/>
          <p:cNvSpPr txBox="1"/>
          <p:nvPr/>
        </p:nvSpPr>
        <p:spPr>
          <a:xfrm>
            <a:off x="8385048" y="2889504"/>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Applies every manifest, then blocks until all 10 rollouts are healthy</a:t>
            </a:r>
          </a:p>
        </p:txBody>
      </p:sp>
      <p:sp>
        <p:nvSpPr>
          <p:cNvPr id="52" name="Rectangle 51"/>
          <p:cNvSpPr/>
          <p:nvPr/>
        </p:nvSpPr>
        <p:spPr>
          <a:xfrm>
            <a:off x="6281928" y="3410712"/>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428232" y="3511296"/>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28232" y="3566160"/>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9</a:t>
            </a:r>
          </a:p>
        </p:txBody>
      </p:sp>
      <p:sp>
        <p:nvSpPr>
          <p:cNvPr id="55" name="TextBox 54"/>
          <p:cNvSpPr txBox="1"/>
          <p:nvPr/>
        </p:nvSpPr>
        <p:spPr>
          <a:xfrm>
            <a:off x="6848856" y="3447288"/>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Ingress</a:t>
            </a:r>
          </a:p>
        </p:txBody>
      </p:sp>
      <p:sp>
        <p:nvSpPr>
          <p:cNvPr id="56" name="TextBox 55"/>
          <p:cNvSpPr txBox="1"/>
          <p:nvPr/>
        </p:nvSpPr>
        <p:spPr>
          <a:xfrm>
            <a:off x="8385048" y="3465576"/>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metrics-server, the ALB controller, Ingress, then the DNS records</a:t>
            </a:r>
          </a:p>
        </p:txBody>
      </p:sp>
      <p:sp>
        <p:nvSpPr>
          <p:cNvPr id="57" name="Rectangle 56"/>
          <p:cNvSpPr/>
          <p:nvPr/>
        </p:nvSpPr>
        <p:spPr>
          <a:xfrm>
            <a:off x="6281928" y="3986784"/>
            <a:ext cx="5349240" cy="5029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428232" y="4087368"/>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28232" y="4142232"/>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10</a:t>
            </a:r>
          </a:p>
        </p:txBody>
      </p:sp>
      <p:sp>
        <p:nvSpPr>
          <p:cNvPr id="60" name="TextBox 59"/>
          <p:cNvSpPr txBox="1"/>
          <p:nvPr/>
        </p:nvSpPr>
        <p:spPr>
          <a:xfrm>
            <a:off x="6848856" y="4023360"/>
            <a:ext cx="155448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Datadog</a:t>
            </a:r>
          </a:p>
        </p:txBody>
      </p:sp>
      <p:sp>
        <p:nvSpPr>
          <p:cNvPr id="61" name="TextBox 60"/>
          <p:cNvSpPr txBox="1"/>
          <p:nvPr/>
        </p:nvSpPr>
        <p:spPr>
          <a:xfrm>
            <a:off x="8385048" y="4041648"/>
            <a:ext cx="3108960" cy="41148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Agent and Cluster Agent, plus dashboards and monitors if the app key is set</a:t>
            </a:r>
          </a:p>
        </p:txBody>
      </p:sp>
      <p:sp>
        <p:nvSpPr>
          <p:cNvPr id="62" name="Rectangle 61"/>
          <p:cNvSpPr/>
          <p:nvPr/>
        </p:nvSpPr>
        <p:spPr>
          <a:xfrm>
            <a:off x="6281928" y="4562856"/>
            <a:ext cx="534924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281928" y="4562856"/>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01384" y="4718304"/>
            <a:ext cx="4910328" cy="621792"/>
          </a:xfrm>
          <a:prstGeom prst="rect">
            <a:avLst/>
          </a:prstGeom>
          <a:noFill/>
        </p:spPr>
        <p:txBody>
          <a:bodyPr wrap="square" lIns="0" rIns="0" tIns="0" bIns="0">
            <a:spAutoFit/>
          </a:bodyPr>
          <a:lstStyle/>
          <a:p>
            <a:pPr>
              <a:spcAft>
                <a:spcPts val="400"/>
              </a:spcAft>
            </a:pPr>
            <a:r>
              <a:rPr sz="1100" b="1">
                <a:solidFill>
                  <a:srgbClr val="1F7A99"/>
                </a:solidFill>
                <a:latin typeface="Segoe UI"/>
              </a:rPr>
              <a:t>Step 8 is new:  </a:t>
            </a:r>
            <a:r>
              <a:rPr sz="1100" b="0">
                <a:solidFill>
                  <a:srgbClr val="17262E"/>
                </a:solidFill>
                <a:latin typeface="Segoe UI"/>
              </a:rPr>
              <a:t>a deploy that never became healthy used to exit 0 and leave an app on the old image. Now it fails loudly.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Step 4: verify the deployment</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Five URLs, five real user actions, then confirm that tracing works end to end.</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2 · The lab</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24</a:t>
            </a:r>
          </a:p>
        </p:txBody>
      </p:sp>
      <p:sp>
        <p:nvSpPr>
          <p:cNvPr id="7" name="Rectangle 6"/>
          <p:cNvSpPr/>
          <p:nvPr/>
        </p:nvSpPr>
        <p:spPr>
          <a:xfrm>
            <a:off x="566928" y="1682496"/>
            <a:ext cx="5852160" cy="196596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5413248" cy="1673352"/>
          </a:xfrm>
          <a:prstGeom prst="rect">
            <a:avLst/>
          </a:prstGeom>
          <a:noFill/>
        </p:spPr>
        <p:txBody>
          <a:bodyPr wrap="square" lIns="0" rIns="0" tIns="0" bIns="0">
            <a:spAutoFit/>
          </a:bodyPr>
          <a:lstStyle/>
          <a:p>
            <a:pPr>
              <a:spcBef>
                <a:spcPts val="0"/>
              </a:spcBef>
              <a:spcAft>
                <a:spcPts val="600"/>
              </a:spcAft>
            </a:pPr>
            <a:r>
              <a:rPr sz="1350" b="1" i="0">
                <a:solidFill>
                  <a:srgbClr val="FFFFFF"/>
                </a:solidFill>
                <a:latin typeface="Segoe UI"/>
              </a:rPr>
              <a:t>All five share one ALB, routed by hostname</a:t>
            </a:r>
          </a:p>
          <a:p>
            <a:pPr>
              <a:spcBef>
                <a:spcPts val="0"/>
              </a:spcBef>
              <a:spcAft>
                <a:spcPts val="400"/>
              </a:spcAft>
            </a:pPr>
            <a:r>
              <a:rPr sz="1150" b="0" i="0">
                <a:solidFill>
                  <a:srgbClr val="9FB3BD"/>
                </a:solidFill>
                <a:latin typeface="Segoe UI"/>
              </a:rPr>
              <a:t>https://ecommerce.&lt;your-domain&gt;</a:t>
            </a:r>
          </a:p>
          <a:p>
            <a:pPr>
              <a:spcBef>
                <a:spcPts val="0"/>
              </a:spcBef>
              <a:spcAft>
                <a:spcPts val="400"/>
              </a:spcAft>
            </a:pPr>
            <a:r>
              <a:rPr sz="1150" b="0" i="0">
                <a:solidFill>
                  <a:srgbClr val="9FB3BD"/>
                </a:solidFill>
                <a:latin typeface="Segoe UI"/>
              </a:rPr>
              <a:t>https://banking.&lt;your-domain&gt;</a:t>
            </a:r>
          </a:p>
          <a:p>
            <a:pPr>
              <a:spcBef>
                <a:spcPts val="0"/>
              </a:spcBef>
              <a:spcAft>
                <a:spcPts val="400"/>
              </a:spcAft>
            </a:pPr>
            <a:r>
              <a:rPr sz="1150" b="0" i="0">
                <a:solidFill>
                  <a:srgbClr val="9FB3BD"/>
                </a:solidFill>
                <a:latin typeface="Segoe UI"/>
              </a:rPr>
              <a:t>https://food-delivery.&lt;your-domain&gt;</a:t>
            </a:r>
          </a:p>
          <a:p>
            <a:pPr>
              <a:spcBef>
                <a:spcPts val="0"/>
              </a:spcBef>
              <a:spcAft>
                <a:spcPts val="400"/>
              </a:spcAft>
            </a:pPr>
            <a:r>
              <a:rPr sz="1150" b="0" i="0">
                <a:solidFill>
                  <a:srgbClr val="9FB3BD"/>
                </a:solidFill>
                <a:latin typeface="Segoe UI"/>
              </a:rPr>
              <a:t>https://student-portal.&lt;your-domain&gt;</a:t>
            </a:r>
          </a:p>
          <a:p>
            <a:pPr>
              <a:spcBef>
                <a:spcPts val="0"/>
              </a:spcBef>
              <a:spcAft>
                <a:spcPts val="400"/>
              </a:spcAft>
            </a:pPr>
            <a:r>
              <a:rPr sz="1150" b="0" i="0">
                <a:solidFill>
                  <a:srgbClr val="9FB3BD"/>
                </a:solidFill>
                <a:latin typeface="Segoe UI"/>
              </a:rPr>
              <a:t>https://support-tickets.&lt;your-domain&gt;</a:t>
            </a:r>
          </a:p>
        </p:txBody>
      </p:sp>
      <p:sp>
        <p:nvSpPr>
          <p:cNvPr id="9" name="Rectangle 8"/>
          <p:cNvSpPr/>
          <p:nvPr/>
        </p:nvSpPr>
        <p:spPr>
          <a:xfrm>
            <a:off x="566928" y="3831336"/>
            <a:ext cx="5852160" cy="7132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959352"/>
            <a:ext cx="5486400" cy="4572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cat .lab-domain</a:t>
            </a:r>
          </a:p>
          <a:p>
            <a:pPr>
              <a:spcBef>
                <a:spcPts val="0"/>
              </a:spcBef>
              <a:spcAft>
                <a:spcPts val="200"/>
              </a:spcAft>
            </a:pPr>
            <a:r>
              <a:rPr sz="1100" b="0" i="0">
                <a:solidFill>
                  <a:srgbClr val="D7E3EA"/>
                </a:solidFill>
                <a:latin typeface="Consolas"/>
              </a:rPr>
              <a:t>echo "https://ecommerce.$(cat .lab-domain)"</a:t>
            </a:r>
          </a:p>
        </p:txBody>
      </p:sp>
      <p:sp>
        <p:nvSpPr>
          <p:cNvPr id="11" name="TextBox 10"/>
          <p:cNvSpPr txBox="1"/>
          <p:nvPr/>
        </p:nvSpPr>
        <p:spPr>
          <a:xfrm>
            <a:off x="566928" y="4700016"/>
            <a:ext cx="5852160" cy="457200"/>
          </a:xfrm>
          <a:prstGeom prst="rect">
            <a:avLst/>
          </a:prstGeom>
          <a:noFill/>
        </p:spPr>
        <p:txBody>
          <a:bodyPr wrap="square" lIns="0" rIns="0" tIns="0" bIns="0">
            <a:spAutoFit/>
          </a:bodyPr>
          <a:lstStyle/>
          <a:p>
            <a:pPr>
              <a:spcBef>
                <a:spcPts val="0"/>
              </a:spcBef>
              <a:spcAft>
                <a:spcPts val="0"/>
              </a:spcAft>
            </a:pPr>
            <a:r>
              <a:rPr sz="1050" b="0" i="1">
                <a:solidFill>
                  <a:srgbClr val="5B6B73"/>
                </a:solidFill>
                <a:latin typeface="Segoe UI"/>
              </a:rPr>
              <a:t>The domain suffix is saved to .lab-domain, and the chaos scripts read it automatically.</a:t>
            </a:r>
          </a:p>
        </p:txBody>
      </p:sp>
      <p:sp>
        <p:nvSpPr>
          <p:cNvPr id="12" name="TextBox 11"/>
          <p:cNvSpPr txBox="1"/>
          <p:nvPr/>
        </p:nvSpPr>
        <p:spPr>
          <a:xfrm>
            <a:off x="6693408" y="1636776"/>
            <a:ext cx="4937760" cy="274320"/>
          </a:xfrm>
          <a:prstGeom prst="rect">
            <a:avLst/>
          </a:prstGeom>
          <a:noFill/>
        </p:spPr>
        <p:txBody>
          <a:bodyPr wrap="square" lIns="0" rIns="0" tIns="0" bIns="0">
            <a:spAutoFit/>
          </a:bodyPr>
          <a:lstStyle/>
          <a:p>
            <a:pPr>
              <a:spcBef>
                <a:spcPts val="0"/>
              </a:spcBef>
              <a:spcAft>
                <a:spcPts val="0"/>
              </a:spcAft>
            </a:pPr>
            <a:r>
              <a:rPr sz="1300" b="1" i="0">
                <a:solidFill>
                  <a:srgbClr val="17262E"/>
                </a:solidFill>
                <a:latin typeface="Segoe UI"/>
              </a:rPr>
              <a:t>Complete one real user action in each app</a:t>
            </a:r>
          </a:p>
        </p:txBody>
      </p:sp>
      <p:sp>
        <p:nvSpPr>
          <p:cNvPr id="13" name="Rectangle 12"/>
          <p:cNvSpPr/>
          <p:nvPr/>
        </p:nvSpPr>
        <p:spPr>
          <a:xfrm>
            <a:off x="6693408" y="2002536"/>
            <a:ext cx="4937760" cy="402336"/>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876288" y="2130552"/>
            <a:ext cx="137160" cy="13716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50608" y="2084832"/>
            <a:ext cx="173736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Ecommerce</a:t>
            </a:r>
          </a:p>
        </p:txBody>
      </p:sp>
      <p:sp>
        <p:nvSpPr>
          <p:cNvPr id="16" name="TextBox 15"/>
          <p:cNvSpPr txBox="1"/>
          <p:nvPr/>
        </p:nvSpPr>
        <p:spPr>
          <a:xfrm>
            <a:off x="8979408" y="2093976"/>
            <a:ext cx="2560320" cy="27432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add to cart and check out</a:t>
            </a:r>
          </a:p>
        </p:txBody>
      </p:sp>
      <p:sp>
        <p:nvSpPr>
          <p:cNvPr id="17" name="Rectangle 16"/>
          <p:cNvSpPr/>
          <p:nvPr/>
        </p:nvSpPr>
        <p:spPr>
          <a:xfrm>
            <a:off x="6693408" y="2478024"/>
            <a:ext cx="4937760" cy="402336"/>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76288" y="2606040"/>
            <a:ext cx="137160" cy="13716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50608" y="2560320"/>
            <a:ext cx="173736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Banking</a:t>
            </a:r>
          </a:p>
        </p:txBody>
      </p:sp>
      <p:sp>
        <p:nvSpPr>
          <p:cNvPr id="20" name="TextBox 19"/>
          <p:cNvSpPr txBox="1"/>
          <p:nvPr/>
        </p:nvSpPr>
        <p:spPr>
          <a:xfrm>
            <a:off x="8979408" y="2569464"/>
            <a:ext cx="2560320" cy="27432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log in, check a balance (demo123)</a:t>
            </a:r>
          </a:p>
        </p:txBody>
      </p:sp>
      <p:sp>
        <p:nvSpPr>
          <p:cNvPr id="21" name="Rectangle 20"/>
          <p:cNvSpPr/>
          <p:nvPr/>
        </p:nvSpPr>
        <p:spPr>
          <a:xfrm>
            <a:off x="6693408" y="2953512"/>
            <a:ext cx="4937760" cy="402336"/>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76288" y="3081528"/>
            <a:ext cx="137160" cy="13716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50608" y="3035808"/>
            <a:ext cx="173736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Food Delivery</a:t>
            </a:r>
          </a:p>
        </p:txBody>
      </p:sp>
      <p:sp>
        <p:nvSpPr>
          <p:cNvPr id="24" name="TextBox 23"/>
          <p:cNvSpPr txBox="1"/>
          <p:nvPr/>
        </p:nvSpPr>
        <p:spPr>
          <a:xfrm>
            <a:off x="8979408" y="3044952"/>
            <a:ext cx="2560320" cy="27432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place an order</a:t>
            </a:r>
          </a:p>
        </p:txBody>
      </p:sp>
      <p:sp>
        <p:nvSpPr>
          <p:cNvPr id="25" name="Rectangle 24"/>
          <p:cNvSpPr/>
          <p:nvPr/>
        </p:nvSpPr>
        <p:spPr>
          <a:xfrm>
            <a:off x="6693408" y="3429000"/>
            <a:ext cx="4937760" cy="402336"/>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76288" y="3557016"/>
            <a:ext cx="137160" cy="13716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50608" y="3511296"/>
            <a:ext cx="173736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Student Portal</a:t>
            </a:r>
          </a:p>
        </p:txBody>
      </p:sp>
      <p:sp>
        <p:nvSpPr>
          <p:cNvPr id="28" name="TextBox 27"/>
          <p:cNvSpPr txBox="1"/>
          <p:nvPr/>
        </p:nvSpPr>
        <p:spPr>
          <a:xfrm>
            <a:off x="8979408" y="3520440"/>
            <a:ext cx="2560320" cy="27432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view grades</a:t>
            </a:r>
          </a:p>
        </p:txBody>
      </p:sp>
      <p:sp>
        <p:nvSpPr>
          <p:cNvPr id="29" name="Rectangle 28"/>
          <p:cNvSpPr/>
          <p:nvPr/>
        </p:nvSpPr>
        <p:spPr>
          <a:xfrm>
            <a:off x="6693408" y="3904488"/>
            <a:ext cx="4937760" cy="402336"/>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876288" y="4032504"/>
            <a:ext cx="137160" cy="137160"/>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50608" y="3986784"/>
            <a:ext cx="1737360" cy="274320"/>
          </a:xfrm>
          <a:prstGeom prst="rect">
            <a:avLst/>
          </a:prstGeom>
          <a:noFill/>
        </p:spPr>
        <p:txBody>
          <a:bodyPr wrap="square" lIns="0" rIns="0" tIns="0" bIns="0">
            <a:spAutoFit/>
          </a:bodyPr>
          <a:lstStyle/>
          <a:p>
            <a:pPr>
              <a:spcBef>
                <a:spcPts val="0"/>
              </a:spcBef>
              <a:spcAft>
                <a:spcPts val="0"/>
              </a:spcAft>
            </a:pPr>
            <a:r>
              <a:rPr sz="1100" b="1" i="0">
                <a:solidFill>
                  <a:srgbClr val="17262E"/>
                </a:solidFill>
                <a:latin typeface="Segoe UI"/>
              </a:rPr>
              <a:t>Support Tickets</a:t>
            </a:r>
          </a:p>
        </p:txBody>
      </p:sp>
      <p:sp>
        <p:nvSpPr>
          <p:cNvPr id="32" name="TextBox 31"/>
          <p:cNvSpPr txBox="1"/>
          <p:nvPr/>
        </p:nvSpPr>
        <p:spPr>
          <a:xfrm>
            <a:off x="8979408" y="3995928"/>
            <a:ext cx="2560320" cy="27432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submit a ticket</a:t>
            </a:r>
          </a:p>
        </p:txBody>
      </p:sp>
      <p:sp>
        <p:nvSpPr>
          <p:cNvPr id="33" name="Rectangle 32"/>
          <p:cNvSpPr/>
          <p:nvPr/>
        </p:nvSpPr>
        <p:spPr>
          <a:xfrm>
            <a:off x="6693408" y="4471416"/>
            <a:ext cx="4937760" cy="10058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93408" y="4471416"/>
            <a:ext cx="44450" cy="100584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12864" y="4626864"/>
            <a:ext cx="4498848" cy="713232"/>
          </a:xfrm>
          <a:prstGeom prst="rect">
            <a:avLst/>
          </a:prstGeom>
          <a:noFill/>
        </p:spPr>
        <p:txBody>
          <a:bodyPr wrap="square" lIns="0" rIns="0" tIns="0" bIns="0">
            <a:spAutoFit/>
          </a:bodyPr>
          <a:lstStyle/>
          <a:p>
            <a:pPr>
              <a:spcBef>
                <a:spcPts val="0"/>
              </a:spcBef>
              <a:spcAft>
                <a:spcPts val="400"/>
              </a:spcAft>
            </a:pPr>
            <a:r>
              <a:rPr sz="1100" b="0" i="0">
                <a:solidFill>
                  <a:srgbClr val="17262E"/>
                </a:solidFill>
                <a:latin typeface="Segoe UI"/>
              </a:rPr>
              <a:t>Then open APM &gt; Traces. A trace should span browser → backend → Postgres. If it starts at the backend, RUM didn't load — check window.DD_RUM in the console.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Step 5: observe the healthy baseline</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You cannot recognise abnormal until you have written down normal.</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2 · The lab</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25</a:t>
            </a:r>
          </a:p>
        </p:txBody>
      </p:sp>
      <p:sp>
        <p:nvSpPr>
          <p:cNvPr id="7" name="Rectangle 6"/>
          <p:cNvSpPr/>
          <p:nvPr/>
        </p:nvSpPr>
        <p:spPr>
          <a:xfrm>
            <a:off x="566928" y="1682496"/>
            <a:ext cx="5486400" cy="17373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5047488" cy="144475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Open these while everything is healthy</a:t>
            </a:r>
          </a:p>
          <a:p>
            <a:pPr>
              <a:spcBef>
                <a:spcPts val="0"/>
              </a:spcBef>
              <a:spcAft>
                <a:spcPts val="400"/>
              </a:spcAft>
            </a:pPr>
            <a:r>
              <a:rPr sz="1150" b="0" i="0">
                <a:solidFill>
                  <a:srgbClr val="17262E"/>
                </a:solidFill>
                <a:latin typeface="Segoe UI"/>
              </a:rPr>
              <a:t>Each app dashboard, from datadog/dashboards/</a:t>
            </a:r>
          </a:p>
          <a:p>
            <a:pPr>
              <a:spcBef>
                <a:spcPts val="0"/>
              </a:spcBef>
              <a:spcAft>
                <a:spcPts val="400"/>
              </a:spcAft>
            </a:pPr>
            <a:r>
              <a:rPr sz="1150" b="0" i="0">
                <a:solidFill>
                  <a:srgbClr val="17262E"/>
                </a:solidFill>
                <a:latin typeface="Segoe UI"/>
              </a:rPr>
              <a:t>The SRE Lab Overview dashboard</a:t>
            </a:r>
          </a:p>
          <a:p>
            <a:pPr>
              <a:spcBef>
                <a:spcPts val="0"/>
              </a:spcBef>
              <a:spcAft>
                <a:spcPts val="400"/>
              </a:spcAft>
            </a:pPr>
            <a:r>
              <a:rPr sz="1150" b="0" i="0">
                <a:solidFill>
                  <a:srgbClr val="17262E"/>
                </a:solidFill>
                <a:latin typeface="Segoe UI"/>
              </a:rPr>
              <a:t>docs/slo-sla-sli.md, for what each one measures</a:t>
            </a:r>
          </a:p>
        </p:txBody>
      </p:sp>
      <p:sp>
        <p:nvSpPr>
          <p:cNvPr id="9" name="Rectangle 8"/>
          <p:cNvSpPr/>
          <p:nvPr/>
        </p:nvSpPr>
        <p:spPr>
          <a:xfrm>
            <a:off x="566928" y="3602736"/>
            <a:ext cx="5486400" cy="17830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758184"/>
            <a:ext cx="5047488" cy="1490472"/>
          </a:xfrm>
          <a:prstGeom prst="rect">
            <a:avLst/>
          </a:prstGeom>
          <a:noFill/>
        </p:spPr>
        <p:txBody>
          <a:bodyPr wrap="square" lIns="0" rIns="0" tIns="0" bIns="0">
            <a:spAutoFit/>
          </a:bodyPr>
          <a:lstStyle/>
          <a:p>
            <a:pPr>
              <a:spcBef>
                <a:spcPts val="0"/>
              </a:spcBef>
              <a:spcAft>
                <a:spcPts val="600"/>
              </a:spcAft>
            </a:pPr>
            <a:r>
              <a:rPr sz="1100" b="1" i="0">
                <a:solidFill>
                  <a:srgbClr val="E8A020"/>
                </a:solidFill>
                <a:latin typeface="Segoe UI"/>
              </a:rPr>
              <a:t>The instructor question</a:t>
            </a:r>
          </a:p>
          <a:p>
            <a:pPr>
              <a:spcBef>
                <a:spcPts val="0"/>
              </a:spcBef>
              <a:spcAft>
                <a:spcPts val="400"/>
              </a:spcAft>
            </a:pPr>
            <a:r>
              <a:rPr sz="1150" b="0" i="0">
                <a:solidFill>
                  <a:srgbClr val="9FB3BD"/>
                </a:solidFill>
                <a:latin typeface="Segoe UI"/>
              </a:rPr>
              <a:t>"Which widget moved first, and by how much?"</a:t>
            </a:r>
          </a:p>
          <a:p>
            <a:pPr>
              <a:spcBef>
                <a:spcPts val="0"/>
              </a:spcBef>
              <a:spcAft>
                <a:spcPts val="400"/>
              </a:spcAft>
            </a:pPr>
            <a:r>
              <a:rPr sz="1150" b="0" i="0">
                <a:solidFill>
                  <a:srgbClr val="9FB3BD"/>
                </a:solidFill>
                <a:latin typeface="Segoe UI"/>
              </a:rPr>
              <a:t/>
            </a:r>
          </a:p>
          <a:p>
            <a:pPr>
              <a:spcBef>
                <a:spcPts val="0"/>
              </a:spcBef>
              <a:spcAft>
                <a:spcPts val="400"/>
              </a:spcAft>
            </a:pPr>
            <a:r>
              <a:rPr sz="1150" b="0" i="0">
                <a:solidFill>
                  <a:srgbClr val="9FB3BD"/>
                </a:solidFill>
                <a:latin typeface="Segoe UI"/>
              </a:rPr>
              <a:t>You can only answer that if you looked at the dashboard before anything was broken.</a:t>
            </a:r>
          </a:p>
        </p:txBody>
      </p:sp>
      <p:sp>
        <p:nvSpPr>
          <p:cNvPr id="11" name="Rectangle 10"/>
          <p:cNvSpPr/>
          <p:nvPr/>
        </p:nvSpPr>
        <p:spPr>
          <a:xfrm>
            <a:off x="6327648" y="1682496"/>
            <a:ext cx="5303520" cy="37033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1865376"/>
            <a:ext cx="4846320" cy="274320"/>
          </a:xfrm>
          <a:prstGeom prst="rect">
            <a:avLst/>
          </a:prstGeom>
          <a:noFill/>
        </p:spPr>
        <p:txBody>
          <a:bodyPr wrap="square" lIns="0" rIns="0" tIns="0" bIns="0">
            <a:spAutoFit/>
          </a:bodyPr>
          <a:lstStyle/>
          <a:p>
            <a:pPr>
              <a:spcBef>
                <a:spcPts val="0"/>
              </a:spcBef>
              <a:spcAft>
                <a:spcPts val="0"/>
              </a:spcAft>
            </a:pPr>
            <a:r>
              <a:rPr sz="1500" b="1" i="0">
                <a:solidFill>
                  <a:srgbClr val="17262E"/>
                </a:solidFill>
                <a:latin typeface="Segoe UI"/>
              </a:rPr>
              <a:t>Baseline worksheet</a:t>
            </a:r>
          </a:p>
        </p:txBody>
      </p:sp>
      <p:sp>
        <p:nvSpPr>
          <p:cNvPr id="13" name="TextBox 12"/>
          <p:cNvSpPr txBox="1"/>
          <p:nvPr/>
        </p:nvSpPr>
        <p:spPr>
          <a:xfrm>
            <a:off x="6556248" y="2185416"/>
            <a:ext cx="4846320" cy="36576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Write these down now, per app.</a:t>
            </a:r>
          </a:p>
        </p:txBody>
      </p:sp>
      <p:sp>
        <p:nvSpPr>
          <p:cNvPr id="14" name="Rectangle 13"/>
          <p:cNvSpPr/>
          <p:nvPr/>
        </p:nvSpPr>
        <p:spPr>
          <a:xfrm>
            <a:off x="6556248" y="2642616"/>
            <a:ext cx="4846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9128" y="2752344"/>
            <a:ext cx="1188720" cy="274320"/>
          </a:xfrm>
          <a:prstGeom prst="rect">
            <a:avLst/>
          </a:prstGeom>
          <a:noFill/>
        </p:spPr>
        <p:txBody>
          <a:bodyPr wrap="square" lIns="0" rIns="0" tIns="0" bIns="0">
            <a:spAutoFit/>
          </a:bodyPr>
          <a:lstStyle/>
          <a:p>
            <a:pPr>
              <a:spcBef>
                <a:spcPts val="0"/>
              </a:spcBef>
              <a:spcAft>
                <a:spcPts val="0"/>
              </a:spcAft>
            </a:pPr>
            <a:r>
              <a:rPr sz="1150" b="1" i="0">
                <a:solidFill>
                  <a:srgbClr val="1F7A99"/>
                </a:solidFill>
                <a:latin typeface="Segoe UI"/>
              </a:rPr>
              <a:t>Traffic</a:t>
            </a:r>
          </a:p>
        </p:txBody>
      </p:sp>
      <p:sp>
        <p:nvSpPr>
          <p:cNvPr id="16" name="TextBox 15"/>
          <p:cNvSpPr txBox="1"/>
          <p:nvPr/>
        </p:nvSpPr>
        <p:spPr>
          <a:xfrm>
            <a:off x="7927848" y="2761488"/>
            <a:ext cx="237744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requests per second</a:t>
            </a:r>
          </a:p>
        </p:txBody>
      </p:sp>
      <p:sp>
        <p:nvSpPr>
          <p:cNvPr id="17" name="TextBox 16"/>
          <p:cNvSpPr txBox="1"/>
          <p:nvPr/>
        </p:nvSpPr>
        <p:spPr>
          <a:xfrm>
            <a:off x="10533888" y="2761488"/>
            <a:ext cx="731520" cy="27432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______</a:t>
            </a:r>
          </a:p>
        </p:txBody>
      </p:sp>
      <p:sp>
        <p:nvSpPr>
          <p:cNvPr id="18" name="Rectangle 17"/>
          <p:cNvSpPr/>
          <p:nvPr/>
        </p:nvSpPr>
        <p:spPr>
          <a:xfrm>
            <a:off x="6556248" y="3163823"/>
            <a:ext cx="4846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39128" y="3273551"/>
            <a:ext cx="1188720" cy="274320"/>
          </a:xfrm>
          <a:prstGeom prst="rect">
            <a:avLst/>
          </a:prstGeom>
          <a:noFill/>
        </p:spPr>
        <p:txBody>
          <a:bodyPr wrap="square" lIns="0" rIns="0" tIns="0" bIns="0">
            <a:spAutoFit/>
          </a:bodyPr>
          <a:lstStyle/>
          <a:p>
            <a:pPr>
              <a:spcBef>
                <a:spcPts val="0"/>
              </a:spcBef>
              <a:spcAft>
                <a:spcPts val="0"/>
              </a:spcAft>
            </a:pPr>
            <a:r>
              <a:rPr sz="1150" b="1" i="0">
                <a:solidFill>
                  <a:srgbClr val="1F7A99"/>
                </a:solidFill>
                <a:latin typeface="Segoe UI"/>
              </a:rPr>
              <a:t>Errors</a:t>
            </a:r>
          </a:p>
        </p:txBody>
      </p:sp>
      <p:sp>
        <p:nvSpPr>
          <p:cNvPr id="20" name="TextBox 19"/>
          <p:cNvSpPr txBox="1"/>
          <p:nvPr/>
        </p:nvSpPr>
        <p:spPr>
          <a:xfrm>
            <a:off x="7927848" y="3282695"/>
            <a:ext cx="237744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percentage failing</a:t>
            </a:r>
          </a:p>
        </p:txBody>
      </p:sp>
      <p:sp>
        <p:nvSpPr>
          <p:cNvPr id="21" name="TextBox 20"/>
          <p:cNvSpPr txBox="1"/>
          <p:nvPr/>
        </p:nvSpPr>
        <p:spPr>
          <a:xfrm>
            <a:off x="10533888" y="3282695"/>
            <a:ext cx="731520" cy="27432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______</a:t>
            </a:r>
          </a:p>
        </p:txBody>
      </p:sp>
      <p:sp>
        <p:nvSpPr>
          <p:cNvPr id="22" name="Rectangle 21"/>
          <p:cNvSpPr/>
          <p:nvPr/>
        </p:nvSpPr>
        <p:spPr>
          <a:xfrm>
            <a:off x="6556248" y="3685030"/>
            <a:ext cx="4846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39128" y="3794758"/>
            <a:ext cx="1188720" cy="274320"/>
          </a:xfrm>
          <a:prstGeom prst="rect">
            <a:avLst/>
          </a:prstGeom>
          <a:noFill/>
        </p:spPr>
        <p:txBody>
          <a:bodyPr wrap="square" lIns="0" rIns="0" tIns="0" bIns="0">
            <a:spAutoFit/>
          </a:bodyPr>
          <a:lstStyle/>
          <a:p>
            <a:pPr>
              <a:spcBef>
                <a:spcPts val="0"/>
              </a:spcBef>
              <a:spcAft>
                <a:spcPts val="0"/>
              </a:spcAft>
            </a:pPr>
            <a:r>
              <a:rPr sz="1150" b="1" i="0">
                <a:solidFill>
                  <a:srgbClr val="1F7A99"/>
                </a:solidFill>
                <a:latin typeface="Segoe UI"/>
              </a:rPr>
              <a:t>Latency</a:t>
            </a:r>
          </a:p>
        </p:txBody>
      </p:sp>
      <p:sp>
        <p:nvSpPr>
          <p:cNvPr id="24" name="TextBox 23"/>
          <p:cNvSpPr txBox="1"/>
          <p:nvPr/>
        </p:nvSpPr>
        <p:spPr>
          <a:xfrm>
            <a:off x="7927848" y="3803902"/>
            <a:ext cx="237744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p95 in ms, not the average</a:t>
            </a:r>
          </a:p>
        </p:txBody>
      </p:sp>
      <p:sp>
        <p:nvSpPr>
          <p:cNvPr id="25" name="TextBox 24"/>
          <p:cNvSpPr txBox="1"/>
          <p:nvPr/>
        </p:nvSpPr>
        <p:spPr>
          <a:xfrm>
            <a:off x="10533888" y="3803902"/>
            <a:ext cx="731520" cy="27432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______</a:t>
            </a:r>
          </a:p>
        </p:txBody>
      </p:sp>
      <p:sp>
        <p:nvSpPr>
          <p:cNvPr id="26" name="Rectangle 25"/>
          <p:cNvSpPr/>
          <p:nvPr/>
        </p:nvSpPr>
        <p:spPr>
          <a:xfrm>
            <a:off x="6556248" y="4206237"/>
            <a:ext cx="4846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39128" y="4315965"/>
            <a:ext cx="1188720" cy="274320"/>
          </a:xfrm>
          <a:prstGeom prst="rect">
            <a:avLst/>
          </a:prstGeom>
          <a:noFill/>
        </p:spPr>
        <p:txBody>
          <a:bodyPr wrap="square" lIns="0" rIns="0" tIns="0" bIns="0">
            <a:spAutoFit/>
          </a:bodyPr>
          <a:lstStyle/>
          <a:p>
            <a:pPr>
              <a:spcBef>
                <a:spcPts val="0"/>
              </a:spcBef>
              <a:spcAft>
                <a:spcPts val="0"/>
              </a:spcAft>
            </a:pPr>
            <a:r>
              <a:rPr sz="1150" b="1" i="0">
                <a:solidFill>
                  <a:srgbClr val="1F7A99"/>
                </a:solidFill>
                <a:latin typeface="Segoe UI"/>
              </a:rPr>
              <a:t>Saturation</a:t>
            </a:r>
          </a:p>
        </p:txBody>
      </p:sp>
      <p:sp>
        <p:nvSpPr>
          <p:cNvPr id="28" name="TextBox 27"/>
          <p:cNvSpPr txBox="1"/>
          <p:nvPr/>
        </p:nvSpPr>
        <p:spPr>
          <a:xfrm>
            <a:off x="7927848" y="4325109"/>
            <a:ext cx="237744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memory against the 256Mi limit</a:t>
            </a:r>
          </a:p>
        </p:txBody>
      </p:sp>
      <p:sp>
        <p:nvSpPr>
          <p:cNvPr id="29" name="TextBox 28"/>
          <p:cNvSpPr txBox="1"/>
          <p:nvPr/>
        </p:nvSpPr>
        <p:spPr>
          <a:xfrm>
            <a:off x="10533888" y="4325109"/>
            <a:ext cx="731520" cy="27432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______</a:t>
            </a:r>
          </a:p>
        </p:txBody>
      </p:sp>
      <p:sp>
        <p:nvSpPr>
          <p:cNvPr id="30" name="Rectangle 29"/>
          <p:cNvSpPr/>
          <p:nvPr/>
        </p:nvSpPr>
        <p:spPr>
          <a:xfrm>
            <a:off x="6556248" y="4727444"/>
            <a:ext cx="4846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39128" y="4837172"/>
            <a:ext cx="1188720" cy="274320"/>
          </a:xfrm>
          <a:prstGeom prst="rect">
            <a:avLst/>
          </a:prstGeom>
          <a:noFill/>
        </p:spPr>
        <p:txBody>
          <a:bodyPr wrap="square" lIns="0" rIns="0" tIns="0" bIns="0">
            <a:spAutoFit/>
          </a:bodyPr>
          <a:lstStyle/>
          <a:p>
            <a:pPr>
              <a:spcBef>
                <a:spcPts val="0"/>
              </a:spcBef>
              <a:spcAft>
                <a:spcPts val="0"/>
              </a:spcAft>
            </a:pPr>
            <a:r>
              <a:rPr sz="1150" b="1" i="0">
                <a:solidFill>
                  <a:srgbClr val="1F7A99"/>
                </a:solidFill>
                <a:latin typeface="Segoe UI"/>
              </a:rPr>
              <a:t>Restarts</a:t>
            </a:r>
          </a:p>
        </p:txBody>
      </p:sp>
      <p:sp>
        <p:nvSpPr>
          <p:cNvPr id="32" name="TextBox 31"/>
          <p:cNvSpPr txBox="1"/>
          <p:nvPr/>
        </p:nvSpPr>
        <p:spPr>
          <a:xfrm>
            <a:off x="7927848" y="4846316"/>
            <a:ext cx="237744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count before you start</a:t>
            </a:r>
          </a:p>
        </p:txBody>
      </p:sp>
      <p:sp>
        <p:nvSpPr>
          <p:cNvPr id="33" name="TextBox 32"/>
          <p:cNvSpPr txBox="1"/>
          <p:nvPr/>
        </p:nvSpPr>
        <p:spPr>
          <a:xfrm>
            <a:off x="10533888" y="4846316"/>
            <a:ext cx="731520" cy="274320"/>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______</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81767" y="3063240"/>
            <a:ext cx="155448" cy="155448"/>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5815" y="3063240"/>
            <a:ext cx="155448" cy="155448"/>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49863" y="3063240"/>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148840"/>
            <a:ext cx="9144000" cy="36576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PART 3</a:t>
            </a:r>
          </a:p>
        </p:txBody>
      </p:sp>
      <p:sp>
        <p:nvSpPr>
          <p:cNvPr id="7" name="TextBox 6"/>
          <p:cNvSpPr txBox="1"/>
          <p:nvPr/>
        </p:nvSpPr>
        <p:spPr>
          <a:xfrm>
            <a:off x="566928" y="2560320"/>
            <a:ext cx="10058400" cy="1737360"/>
          </a:xfrm>
          <a:prstGeom prst="rect">
            <a:avLst/>
          </a:prstGeom>
          <a:noFill/>
        </p:spPr>
        <p:txBody>
          <a:bodyPr wrap="square" lIns="0" rIns="0" tIns="0" bIns="0">
            <a:spAutoFit/>
          </a:bodyPr>
          <a:lstStyle/>
          <a:p>
            <a:pPr>
              <a:spcBef>
                <a:spcPts val="0"/>
              </a:spcBef>
              <a:spcAft>
                <a:spcPts val="0"/>
              </a:spcAft>
            </a:pPr>
            <a:r>
              <a:rPr sz="4600" b="1" i="0">
                <a:solidFill>
                  <a:srgbClr val="FFFFFF"/>
                </a:solidFill>
                <a:latin typeface="Segoe UI"/>
              </a:rPr>
              <a:t>Breaking it</a:t>
            </a:r>
          </a:p>
          <a:p>
            <a:pPr>
              <a:spcBef>
                <a:spcPts val="0"/>
              </a:spcBef>
              <a:spcAft>
                <a:spcPts val="0"/>
              </a:spcAft>
            </a:pPr>
            <a:r>
              <a:rPr sz="4600" b="1" i="0">
                <a:solidFill>
                  <a:srgbClr val="FFFFFF"/>
                </a:solidFill>
                <a:latin typeface="Segoe UI"/>
              </a:rPr>
              <a:t>on purpose</a:t>
            </a:r>
          </a:p>
        </p:txBody>
      </p:sp>
      <p:sp>
        <p:nvSpPr>
          <p:cNvPr id="8" name="TextBox 7"/>
          <p:cNvSpPr txBox="1"/>
          <p:nvPr/>
        </p:nvSpPr>
        <p:spPr>
          <a:xfrm>
            <a:off x="566928" y="4014216"/>
            <a:ext cx="8961120" cy="914400"/>
          </a:xfrm>
          <a:prstGeom prst="rect">
            <a:avLst/>
          </a:prstGeom>
          <a:noFill/>
        </p:spPr>
        <p:txBody>
          <a:bodyPr wrap="square" lIns="0" rIns="0" tIns="0" bIns="0">
            <a:spAutoFit/>
          </a:bodyPr>
          <a:lstStyle/>
          <a:p>
            <a:pPr>
              <a:spcBef>
                <a:spcPts val="0"/>
              </a:spcBef>
              <a:spcAft>
                <a:spcPts val="0"/>
              </a:spcAft>
            </a:pPr>
            <a:r>
              <a:rPr sz="1500" b="0" i="0">
                <a:solidFill>
                  <a:srgbClr val="9FB3BD"/>
                </a:solidFill>
                <a:latin typeface="Segoe UI"/>
              </a:rPr>
              <a:t>Twelve failure modes, ten scripted incidents, and one loop that works for all of them.</a:t>
            </a:r>
          </a:p>
        </p:txBody>
      </p:sp>
      <p:sp>
        <p:nvSpPr>
          <p:cNvPr id="9" name="TextBox 8"/>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9FB3BD"/>
                </a:solidFill>
                <a:latin typeface="Segoe UI"/>
              </a:rPr>
              <a:t>Part 3 · Breaking it on purpose</a:t>
            </a:r>
          </a:p>
        </p:txBody>
      </p:sp>
      <p:sp>
        <p:nvSpPr>
          <p:cNvPr id="10" name="TextBox 9"/>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9FB3BD"/>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The experiment loop</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The same six steps for every failure mode. The order is the skill.</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27</a:t>
            </a:r>
          </a:p>
        </p:txBody>
      </p:sp>
      <p:sp>
        <p:nvSpPr>
          <p:cNvPr id="7" name="Rectangle 6"/>
          <p:cNvSpPr/>
          <p:nvPr/>
        </p:nvSpPr>
        <p:spPr>
          <a:xfrm>
            <a:off x="566928" y="1682496"/>
            <a:ext cx="7315200" cy="603504"/>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82496"/>
            <a:ext cx="44450" cy="603504"/>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19656"/>
            <a:ext cx="685800" cy="603504"/>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1</a:t>
            </a:r>
          </a:p>
        </p:txBody>
      </p:sp>
      <p:sp>
        <p:nvSpPr>
          <p:cNvPr id="10" name="TextBox 9"/>
          <p:cNvSpPr txBox="1"/>
          <p:nvPr/>
        </p:nvSpPr>
        <p:spPr>
          <a:xfrm>
            <a:off x="1417320" y="1746504"/>
            <a:ext cx="2286000" cy="603504"/>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Baseline</a:t>
            </a:r>
          </a:p>
        </p:txBody>
      </p:sp>
      <p:sp>
        <p:nvSpPr>
          <p:cNvPr id="11" name="TextBox 10"/>
          <p:cNvSpPr txBox="1"/>
          <p:nvPr/>
        </p:nvSpPr>
        <p:spPr>
          <a:xfrm>
            <a:off x="3813048" y="1773936"/>
            <a:ext cx="3886200" cy="603504"/>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Look at the dashboard. Before, not after.</a:t>
            </a:r>
          </a:p>
        </p:txBody>
      </p:sp>
      <p:sp>
        <p:nvSpPr>
          <p:cNvPr id="12" name="Rectangle 11"/>
          <p:cNvSpPr/>
          <p:nvPr/>
        </p:nvSpPr>
        <p:spPr>
          <a:xfrm>
            <a:off x="566928" y="2377440"/>
            <a:ext cx="7315200" cy="603504"/>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377440"/>
            <a:ext cx="44450" cy="603504"/>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514600"/>
            <a:ext cx="685800" cy="603504"/>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2</a:t>
            </a:r>
          </a:p>
        </p:txBody>
      </p:sp>
      <p:sp>
        <p:nvSpPr>
          <p:cNvPr id="15" name="TextBox 14"/>
          <p:cNvSpPr txBox="1"/>
          <p:nvPr/>
        </p:nvSpPr>
        <p:spPr>
          <a:xfrm>
            <a:off x="1417320" y="2441448"/>
            <a:ext cx="2286000" cy="603504"/>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Inject</a:t>
            </a:r>
          </a:p>
        </p:txBody>
      </p:sp>
      <p:sp>
        <p:nvSpPr>
          <p:cNvPr id="16" name="TextBox 15"/>
          <p:cNvSpPr txBox="1"/>
          <p:nvPr/>
        </p:nvSpPr>
        <p:spPr>
          <a:xfrm>
            <a:off x="3813048" y="2468880"/>
            <a:ext cx="3886200" cy="603504"/>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./scripts/chaos/&lt;script&gt;.sh &lt;app&gt;</a:t>
            </a:r>
          </a:p>
        </p:txBody>
      </p:sp>
      <p:sp>
        <p:nvSpPr>
          <p:cNvPr id="17" name="Rectangle 16"/>
          <p:cNvSpPr/>
          <p:nvPr/>
        </p:nvSpPr>
        <p:spPr>
          <a:xfrm>
            <a:off x="566928" y="3072384"/>
            <a:ext cx="7315200" cy="603504"/>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72384"/>
            <a:ext cx="44450" cy="603504"/>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209544"/>
            <a:ext cx="685800" cy="603504"/>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3</a:t>
            </a:r>
          </a:p>
        </p:txBody>
      </p:sp>
      <p:sp>
        <p:nvSpPr>
          <p:cNvPr id="20" name="TextBox 19"/>
          <p:cNvSpPr txBox="1"/>
          <p:nvPr/>
        </p:nvSpPr>
        <p:spPr>
          <a:xfrm>
            <a:off x="1417320" y="3136392"/>
            <a:ext cx="2286000" cy="603504"/>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Datadog first</a:t>
            </a:r>
          </a:p>
        </p:txBody>
      </p:sp>
      <p:sp>
        <p:nvSpPr>
          <p:cNvPr id="21" name="TextBox 20"/>
          <p:cNvSpPr txBox="1"/>
          <p:nvPr/>
        </p:nvSpPr>
        <p:spPr>
          <a:xfrm>
            <a:off x="3813048" y="3163824"/>
            <a:ext cx="3886200" cy="603504"/>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How big, and who? Then logs and events for the exact error.</a:t>
            </a:r>
          </a:p>
        </p:txBody>
      </p:sp>
      <p:sp>
        <p:nvSpPr>
          <p:cNvPr id="22" name="Rectangle 21"/>
          <p:cNvSpPr/>
          <p:nvPr/>
        </p:nvSpPr>
        <p:spPr>
          <a:xfrm>
            <a:off x="566928" y="3767328"/>
            <a:ext cx="7315200" cy="603504"/>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767328"/>
            <a:ext cx="44450" cy="603504"/>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3904488"/>
            <a:ext cx="685800" cy="603504"/>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4</a:t>
            </a:r>
          </a:p>
        </p:txBody>
      </p:sp>
      <p:sp>
        <p:nvSpPr>
          <p:cNvPr id="25" name="TextBox 24"/>
          <p:cNvSpPr txBox="1"/>
          <p:nvPr/>
        </p:nvSpPr>
        <p:spPr>
          <a:xfrm>
            <a:off x="1417320" y="3831336"/>
            <a:ext cx="2286000" cy="603504"/>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Confirm as a customer</a:t>
            </a:r>
          </a:p>
        </p:txBody>
      </p:sp>
      <p:sp>
        <p:nvSpPr>
          <p:cNvPr id="26" name="TextBox 25"/>
          <p:cNvSpPr txBox="1"/>
          <p:nvPr/>
        </p:nvSpPr>
        <p:spPr>
          <a:xfrm>
            <a:off x="3813048" y="3858768"/>
            <a:ext cx="3886200" cy="603504"/>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curl the real URL. Does it match what users report?</a:t>
            </a:r>
          </a:p>
        </p:txBody>
      </p:sp>
      <p:sp>
        <p:nvSpPr>
          <p:cNvPr id="27" name="Rectangle 26"/>
          <p:cNvSpPr/>
          <p:nvPr/>
        </p:nvSpPr>
        <p:spPr>
          <a:xfrm>
            <a:off x="566928" y="4462272"/>
            <a:ext cx="7315200" cy="603504"/>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462272"/>
            <a:ext cx="44450" cy="603504"/>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599432"/>
            <a:ext cx="685800" cy="603504"/>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5</a:t>
            </a:r>
          </a:p>
        </p:txBody>
      </p:sp>
      <p:sp>
        <p:nvSpPr>
          <p:cNvPr id="30" name="TextBox 29"/>
          <p:cNvSpPr txBox="1"/>
          <p:nvPr/>
        </p:nvSpPr>
        <p:spPr>
          <a:xfrm>
            <a:off x="1417320" y="4526280"/>
            <a:ext cx="2286000" cy="603504"/>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Only now, kubectl</a:t>
            </a:r>
          </a:p>
        </p:txBody>
      </p:sp>
      <p:sp>
        <p:nvSpPr>
          <p:cNvPr id="31" name="TextBox 30"/>
          <p:cNvSpPr txBox="1"/>
          <p:nvPr/>
        </p:nvSpPr>
        <p:spPr>
          <a:xfrm>
            <a:off x="3813048" y="4553712"/>
            <a:ext cx="3886200" cy="603504"/>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READY column, describe pod, rollout history.</a:t>
            </a:r>
          </a:p>
        </p:txBody>
      </p:sp>
      <p:sp>
        <p:nvSpPr>
          <p:cNvPr id="32" name="Rectangle 31"/>
          <p:cNvSpPr/>
          <p:nvPr/>
        </p:nvSpPr>
        <p:spPr>
          <a:xfrm>
            <a:off x="566928" y="5157216"/>
            <a:ext cx="7315200" cy="603504"/>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5157216"/>
            <a:ext cx="44450" cy="603504"/>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5294376"/>
            <a:ext cx="685800" cy="603504"/>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6</a:t>
            </a:r>
          </a:p>
        </p:txBody>
      </p:sp>
      <p:sp>
        <p:nvSpPr>
          <p:cNvPr id="35" name="TextBox 34"/>
          <p:cNvSpPr txBox="1"/>
          <p:nvPr/>
        </p:nvSpPr>
        <p:spPr>
          <a:xfrm>
            <a:off x="1417320" y="5221224"/>
            <a:ext cx="2286000" cy="603504"/>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Undo, and prove it</a:t>
            </a:r>
          </a:p>
        </p:txBody>
      </p:sp>
      <p:sp>
        <p:nvSpPr>
          <p:cNvPr id="36" name="TextBox 35"/>
          <p:cNvSpPr txBox="1"/>
          <p:nvPr/>
        </p:nvSpPr>
        <p:spPr>
          <a:xfrm>
            <a:off x="3813048" y="5248656"/>
            <a:ext cx="3886200" cy="603504"/>
          </a:xfrm>
          <a:prstGeom prst="rect">
            <a:avLst/>
          </a:prstGeom>
          <a:noFill/>
        </p:spPr>
        <p:txBody>
          <a:bodyPr wrap="square" lIns="0" rIns="0" tIns="0" bIns="0">
            <a:spAutoFit/>
          </a:bodyPr>
          <a:lstStyle/>
          <a:p>
            <a:pPr>
              <a:spcBef>
                <a:spcPts val="0"/>
              </a:spcBef>
              <a:spcAft>
                <a:spcPts val="0"/>
              </a:spcAft>
            </a:pPr>
            <a:r>
              <a:rPr sz="1100" b="0" i="0">
                <a:solidFill>
                  <a:srgbClr val="5B6B73"/>
                </a:solidFill>
                <a:latin typeface="Segoe UI"/>
              </a:rPr>
              <a:t>reset.sh or --undo, then re-check the widget that moved.</a:t>
            </a:r>
          </a:p>
        </p:txBody>
      </p:sp>
      <p:sp>
        <p:nvSpPr>
          <p:cNvPr id="37" name="Rectangle 36"/>
          <p:cNvSpPr/>
          <p:nvPr/>
        </p:nvSpPr>
        <p:spPr>
          <a:xfrm>
            <a:off x="8156448" y="1682496"/>
            <a:ext cx="3474720" cy="1691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56448" y="1682496"/>
            <a:ext cx="44450" cy="169164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75904" y="1837944"/>
            <a:ext cx="3035808" cy="139903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Every app runs 2 replicas</a:t>
            </a:r>
          </a:p>
          <a:p>
            <a:pPr>
              <a:spcBef>
                <a:spcPts val="0"/>
              </a:spcBef>
              <a:spcAft>
                <a:spcPts val="400"/>
              </a:spcAft>
            </a:pPr>
            <a:r>
              <a:rPr sz="1100" b="0" i="0">
                <a:solidFill>
                  <a:srgbClr val="17262E"/>
                </a:solidFill>
                <a:latin typeface="Segoe UI"/>
              </a:rPr>
              <a:t>A script's single curl goes through the ALB to ONE random pod, so effects are partial by design. Port-forward to a pod to be deterministic.</a:t>
            </a:r>
          </a:p>
        </p:txBody>
      </p:sp>
      <p:sp>
        <p:nvSpPr>
          <p:cNvPr id="40" name="Rectangle 39"/>
          <p:cNvSpPr/>
          <p:nvPr/>
        </p:nvSpPr>
        <p:spPr>
          <a:xfrm>
            <a:off x="8156448" y="3557015"/>
            <a:ext cx="3474720" cy="196596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75904" y="3712463"/>
            <a:ext cx="3035808" cy="1673352"/>
          </a:xfrm>
          <a:prstGeom prst="rect">
            <a:avLst/>
          </a:prstGeom>
          <a:noFill/>
        </p:spPr>
        <p:txBody>
          <a:bodyPr wrap="square" lIns="0" rIns="0" tIns="0" bIns="0">
            <a:spAutoFit/>
          </a:bodyPr>
          <a:lstStyle/>
          <a:p>
            <a:pPr>
              <a:spcBef>
                <a:spcPts val="0"/>
              </a:spcBef>
              <a:spcAft>
                <a:spcPts val="400"/>
              </a:spcAft>
            </a:pPr>
            <a:r>
              <a:rPr sz="1300" b="0" i="0">
                <a:solidFill>
                  <a:srgbClr val="FFFFFF"/>
                </a:solidFill>
                <a:latin typeface="Segoe UI"/>
              </a:rPr>
              <a:t>If you opened a terminal before you opened a dashboard, you skipped the exercise.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Twelve failure modes, three families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Thirteen scripts live in scripts/chaos/ — reset.sh is the undo tool, not a fault.</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28</a:t>
            </a:r>
          </a:p>
        </p:txBody>
      </p:sp>
      <p:sp>
        <p:nvSpPr>
          <p:cNvPr id="7" name="Rectangle 6"/>
          <p:cNvSpPr/>
          <p:nvPr/>
        </p:nvSpPr>
        <p:spPr>
          <a:xfrm>
            <a:off x="566928" y="1682496"/>
            <a:ext cx="3566160" cy="2834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82496"/>
            <a:ext cx="44450" cy="283464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847088"/>
            <a:ext cx="3108960" cy="320040"/>
          </a:xfrm>
          <a:prstGeom prst="rect">
            <a:avLst/>
          </a:prstGeom>
          <a:noFill/>
        </p:spPr>
        <p:txBody>
          <a:bodyPr wrap="square" lIns="0" rIns="0" tIns="0" bIns="0">
            <a:spAutoFit/>
          </a:bodyPr>
          <a:lstStyle/>
          <a:p>
            <a:pPr>
              <a:spcBef>
                <a:spcPts val="0"/>
              </a:spcBef>
              <a:spcAft>
                <a:spcPts val="0"/>
              </a:spcAft>
            </a:pPr>
            <a:r>
              <a:rPr sz="1400" b="1" i="0">
                <a:solidFill>
                  <a:srgbClr val="17262E"/>
                </a:solidFill>
                <a:latin typeface="Segoe UI"/>
              </a:rPr>
              <a:t>A · In-app conditions</a:t>
            </a:r>
          </a:p>
        </p:txBody>
      </p:sp>
      <p:sp>
        <p:nvSpPr>
          <p:cNvPr id="10" name="TextBox 9"/>
          <p:cNvSpPr txBox="1"/>
          <p:nvPr/>
        </p:nvSpPr>
        <p:spPr>
          <a:xfrm>
            <a:off x="786384" y="2212848"/>
            <a:ext cx="3108960" cy="45720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Toggled over HTTP against a live pod. No redeploy.</a:t>
            </a:r>
          </a:p>
        </p:txBody>
      </p:sp>
      <p:sp>
        <p:nvSpPr>
          <p:cNvPr id="11" name="TextBox 10"/>
          <p:cNvSpPr txBox="1"/>
          <p:nvPr/>
        </p:nvSpPr>
        <p:spPr>
          <a:xfrm>
            <a:off x="786384" y="2734056"/>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inject-latency.sh</a:t>
            </a:r>
          </a:p>
        </p:txBody>
      </p:sp>
      <p:sp>
        <p:nvSpPr>
          <p:cNvPr id="12" name="TextBox 11"/>
          <p:cNvSpPr txBox="1"/>
          <p:nvPr/>
        </p:nvSpPr>
        <p:spPr>
          <a:xfrm>
            <a:off x="786384" y="3017520"/>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inject-errors.sh</a:t>
            </a:r>
          </a:p>
        </p:txBody>
      </p:sp>
      <p:sp>
        <p:nvSpPr>
          <p:cNvPr id="13" name="TextBox 12"/>
          <p:cNvSpPr txBox="1"/>
          <p:nvPr/>
        </p:nvSpPr>
        <p:spPr>
          <a:xfrm>
            <a:off x="786384" y="3300984"/>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memory-spike.sh</a:t>
            </a:r>
          </a:p>
        </p:txBody>
      </p:sp>
      <p:sp>
        <p:nvSpPr>
          <p:cNvPr id="14" name="TextBox 13"/>
          <p:cNvSpPr txBox="1"/>
          <p:nvPr/>
        </p:nvSpPr>
        <p:spPr>
          <a:xfrm>
            <a:off x="786384" y="3584448"/>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cpu-spike.sh</a:t>
            </a:r>
          </a:p>
        </p:txBody>
      </p:sp>
      <p:sp>
        <p:nvSpPr>
          <p:cNvPr id="15" name="TextBox 14"/>
          <p:cNvSpPr txBox="1"/>
          <p:nvPr/>
        </p:nvSpPr>
        <p:spPr>
          <a:xfrm>
            <a:off x="786384" y="3867912"/>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drop-db-connection.sh</a:t>
            </a:r>
          </a:p>
        </p:txBody>
      </p:sp>
      <p:sp>
        <p:nvSpPr>
          <p:cNvPr id="16" name="TextBox 15"/>
          <p:cNvSpPr txBox="1"/>
          <p:nvPr/>
        </p:nvSpPr>
        <p:spPr>
          <a:xfrm>
            <a:off x="786384" y="4169664"/>
            <a:ext cx="3108960" cy="274320"/>
          </a:xfrm>
          <a:prstGeom prst="rect">
            <a:avLst/>
          </a:prstGeom>
          <a:noFill/>
        </p:spPr>
        <p:txBody>
          <a:bodyPr wrap="square" lIns="0" rIns="0" tIns="0" bIns="0">
            <a:spAutoFit/>
          </a:bodyPr>
          <a:lstStyle/>
          <a:p>
            <a:pPr>
              <a:spcBef>
                <a:spcPts val="0"/>
              </a:spcBef>
              <a:spcAft>
                <a:spcPts val="0"/>
              </a:spcAft>
            </a:pPr>
            <a:r>
              <a:rPr sz="1100" b="1" i="0">
                <a:solidFill>
                  <a:srgbClr val="1F7A99"/>
                </a:solidFill>
                <a:latin typeface="Consolas"/>
              </a:rPr>
              <a:t>Undo:  reset.sh</a:t>
            </a:r>
          </a:p>
        </p:txBody>
      </p:sp>
      <p:sp>
        <p:nvSpPr>
          <p:cNvPr id="17" name="Rectangle 16"/>
          <p:cNvSpPr/>
          <p:nvPr/>
        </p:nvSpPr>
        <p:spPr>
          <a:xfrm>
            <a:off x="4315968" y="1682496"/>
            <a:ext cx="3566160" cy="2834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15968" y="1682496"/>
            <a:ext cx="44450" cy="2834640"/>
          </a:xfrm>
          <a:prstGeom prst="rect">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4" y="1847088"/>
            <a:ext cx="3108960" cy="320040"/>
          </a:xfrm>
          <a:prstGeom prst="rect">
            <a:avLst/>
          </a:prstGeom>
          <a:noFill/>
        </p:spPr>
        <p:txBody>
          <a:bodyPr wrap="square" lIns="0" rIns="0" tIns="0" bIns="0">
            <a:spAutoFit/>
          </a:bodyPr>
          <a:lstStyle/>
          <a:p>
            <a:pPr>
              <a:spcBef>
                <a:spcPts val="0"/>
              </a:spcBef>
              <a:spcAft>
                <a:spcPts val="0"/>
              </a:spcAft>
            </a:pPr>
            <a:r>
              <a:rPr sz="1400" b="1" i="0">
                <a:solidFill>
                  <a:srgbClr val="17262E"/>
                </a:solidFill>
                <a:latin typeface="Segoe UI"/>
              </a:rPr>
              <a:t>B · Kubernetes-level</a:t>
            </a:r>
          </a:p>
        </p:txBody>
      </p:sp>
      <p:sp>
        <p:nvSpPr>
          <p:cNvPr id="20" name="TextBox 19"/>
          <p:cNvSpPr txBox="1"/>
          <p:nvPr/>
        </p:nvSpPr>
        <p:spPr>
          <a:xfrm>
            <a:off x="4535424" y="2212848"/>
            <a:ext cx="3108960" cy="45720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Bypass the app entirely.</a:t>
            </a:r>
          </a:p>
        </p:txBody>
      </p:sp>
      <p:sp>
        <p:nvSpPr>
          <p:cNvPr id="21" name="TextBox 20"/>
          <p:cNvSpPr txBox="1"/>
          <p:nvPr/>
        </p:nvSpPr>
        <p:spPr>
          <a:xfrm>
            <a:off x="4535424" y="2734056"/>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kill-random-pod.sh</a:t>
            </a:r>
          </a:p>
        </p:txBody>
      </p:sp>
      <p:sp>
        <p:nvSpPr>
          <p:cNvPr id="22" name="TextBox 21"/>
          <p:cNvSpPr txBox="1"/>
          <p:nvPr/>
        </p:nvSpPr>
        <p:spPr>
          <a:xfrm>
            <a:off x="4535424" y="3017520"/>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scale-to-zero.sh</a:t>
            </a:r>
          </a:p>
        </p:txBody>
      </p:sp>
      <p:sp>
        <p:nvSpPr>
          <p:cNvPr id="23" name="TextBox 22"/>
          <p:cNvSpPr txBox="1"/>
          <p:nvPr/>
        </p:nvSpPr>
        <p:spPr>
          <a:xfrm>
            <a:off x="4535424" y="4169664"/>
            <a:ext cx="3108960" cy="274320"/>
          </a:xfrm>
          <a:prstGeom prst="rect">
            <a:avLst/>
          </a:prstGeom>
          <a:noFill/>
        </p:spPr>
        <p:txBody>
          <a:bodyPr wrap="square" lIns="0" rIns="0" tIns="0" bIns="0">
            <a:spAutoFit/>
          </a:bodyPr>
          <a:lstStyle/>
          <a:p>
            <a:pPr>
              <a:spcBef>
                <a:spcPts val="0"/>
              </a:spcBef>
              <a:spcAft>
                <a:spcPts val="0"/>
              </a:spcAft>
            </a:pPr>
            <a:r>
              <a:rPr sz="1100" b="1" i="0">
                <a:solidFill>
                  <a:srgbClr val="2E9E63"/>
                </a:solidFill>
                <a:latin typeface="Consolas"/>
              </a:rPr>
              <a:t>Undo:  kubectl</a:t>
            </a:r>
          </a:p>
        </p:txBody>
      </p:sp>
      <p:sp>
        <p:nvSpPr>
          <p:cNvPr id="24" name="Rectangle 23"/>
          <p:cNvSpPr/>
          <p:nvPr/>
        </p:nvSpPr>
        <p:spPr>
          <a:xfrm>
            <a:off x="8065008" y="1682496"/>
            <a:ext cx="3566160" cy="2834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65008" y="1682496"/>
            <a:ext cx="44450" cy="283464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84464" y="1847088"/>
            <a:ext cx="3108960" cy="320040"/>
          </a:xfrm>
          <a:prstGeom prst="rect">
            <a:avLst/>
          </a:prstGeom>
          <a:noFill/>
        </p:spPr>
        <p:txBody>
          <a:bodyPr wrap="square" lIns="0" rIns="0" tIns="0" bIns="0">
            <a:spAutoFit/>
          </a:bodyPr>
          <a:lstStyle/>
          <a:p>
            <a:pPr>
              <a:spcBef>
                <a:spcPts val="0"/>
              </a:spcBef>
              <a:spcAft>
                <a:spcPts val="0"/>
              </a:spcAft>
            </a:pPr>
            <a:r>
              <a:rPr sz="1400" b="1" i="0">
                <a:solidFill>
                  <a:srgbClr val="17262E"/>
                </a:solidFill>
                <a:latin typeface="Segoe UI"/>
              </a:rPr>
              <a:t>C · Change-driven</a:t>
            </a:r>
          </a:p>
        </p:txBody>
      </p:sp>
      <p:sp>
        <p:nvSpPr>
          <p:cNvPr id="27" name="TextBox 26"/>
          <p:cNvSpPr txBox="1"/>
          <p:nvPr/>
        </p:nvSpPr>
        <p:spPr>
          <a:xfrm>
            <a:off x="8284464" y="2212848"/>
            <a:ext cx="3108960" cy="45720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Somebody shipped something. Deliberately quiet.</a:t>
            </a:r>
          </a:p>
        </p:txBody>
      </p:sp>
      <p:sp>
        <p:nvSpPr>
          <p:cNvPr id="28" name="TextBox 27"/>
          <p:cNvSpPr txBox="1"/>
          <p:nvPr/>
        </p:nvSpPr>
        <p:spPr>
          <a:xfrm>
            <a:off x="8284464" y="2734056"/>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bad-deploy.sh</a:t>
            </a:r>
          </a:p>
        </p:txBody>
      </p:sp>
      <p:sp>
        <p:nvSpPr>
          <p:cNvPr id="29" name="TextBox 28"/>
          <p:cNvSpPr txBox="1"/>
          <p:nvPr/>
        </p:nvSpPr>
        <p:spPr>
          <a:xfrm>
            <a:off x="8284464" y="3017520"/>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break-config.sh</a:t>
            </a:r>
          </a:p>
        </p:txBody>
      </p:sp>
      <p:sp>
        <p:nvSpPr>
          <p:cNvPr id="30" name="TextBox 29"/>
          <p:cNvSpPr txBox="1"/>
          <p:nvPr/>
        </p:nvSpPr>
        <p:spPr>
          <a:xfrm>
            <a:off x="8284464" y="3300984"/>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rotate-secret.sh</a:t>
            </a:r>
          </a:p>
        </p:txBody>
      </p:sp>
      <p:sp>
        <p:nvSpPr>
          <p:cNvPr id="31" name="TextBox 30"/>
          <p:cNvSpPr txBox="1"/>
          <p:nvPr/>
        </p:nvSpPr>
        <p:spPr>
          <a:xfrm>
            <a:off x="8284464" y="3584448"/>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break-ingress.sh</a:t>
            </a:r>
          </a:p>
        </p:txBody>
      </p:sp>
      <p:sp>
        <p:nvSpPr>
          <p:cNvPr id="32" name="TextBox 31"/>
          <p:cNvSpPr txBox="1"/>
          <p:nvPr/>
        </p:nvSpPr>
        <p:spPr>
          <a:xfrm>
            <a:off x="8284464" y="3867912"/>
            <a:ext cx="310896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Consolas"/>
              </a:rPr>
              <a:t>shrink-limits.sh</a:t>
            </a:r>
          </a:p>
        </p:txBody>
      </p:sp>
      <p:sp>
        <p:nvSpPr>
          <p:cNvPr id="33" name="TextBox 32"/>
          <p:cNvSpPr txBox="1"/>
          <p:nvPr/>
        </p:nvSpPr>
        <p:spPr>
          <a:xfrm>
            <a:off x="8284464" y="4169664"/>
            <a:ext cx="3108960" cy="274320"/>
          </a:xfrm>
          <a:prstGeom prst="rect">
            <a:avLst/>
          </a:prstGeom>
          <a:noFill/>
        </p:spPr>
        <p:txBody>
          <a:bodyPr wrap="square" lIns="0" rIns="0" tIns="0" bIns="0">
            <a:spAutoFit/>
          </a:bodyPr>
          <a:lstStyle/>
          <a:p>
            <a:pPr>
              <a:spcBef>
                <a:spcPts val="0"/>
              </a:spcBef>
              <a:spcAft>
                <a:spcPts val="0"/>
              </a:spcAft>
            </a:pPr>
            <a:r>
              <a:rPr sz="1100" b="1" i="0">
                <a:solidFill>
                  <a:srgbClr val="D1495B"/>
                </a:solidFill>
                <a:latin typeface="Consolas"/>
              </a:rPr>
              <a:t>Undo:  --undo</a:t>
            </a:r>
          </a:p>
        </p:txBody>
      </p:sp>
      <p:sp>
        <p:nvSpPr>
          <p:cNvPr id="34" name="Rectangle 33"/>
          <p:cNvSpPr/>
          <p:nvPr/>
        </p:nvSpPr>
        <p:spPr>
          <a:xfrm>
            <a:off x="566928" y="4700016"/>
            <a:ext cx="11064240" cy="77724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4855464"/>
            <a:ext cx="10625328" cy="484632"/>
          </a:xfrm>
          <a:prstGeom prst="rect">
            <a:avLst/>
          </a:prstGeom>
          <a:noFill/>
        </p:spPr>
        <p:txBody>
          <a:bodyPr wrap="square" lIns="0" rIns="0" tIns="0" bIns="0">
            <a:spAutoFit/>
          </a:bodyPr>
          <a:lstStyle/>
          <a:p>
            <a:pPr>
              <a:spcAft>
                <a:spcPts val="400"/>
              </a:spcAft>
            </a:pPr>
            <a:r>
              <a:rPr sz="1200" b="1">
                <a:solidFill>
                  <a:srgbClr val="E8A020"/>
                </a:solidFill>
                <a:latin typeface="Segoe UI"/>
              </a:rPr>
              <a:t>Family C is new, and it is the DevOps half of the lab.  </a:t>
            </a:r>
            <a:r>
              <a:rPr sz="1200" b="0">
                <a:solidFill>
                  <a:srgbClr val="9FB3BD"/>
                </a:solidFill>
                <a:latin typeface="Segoe UI"/>
              </a:rPr>
              <a:t>In most of those, customers stay fine while the service quietly loses its ability to heal.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1F7A99"/>
                </a:solidFill>
                <a:latin typeface="Segoe UI"/>
              </a:rPr>
              <a:t>FAMILY A · IN-APP CONDITION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A1 · Slow, but not failing</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29</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./scripts/chaos/inject-latency.sh ecommerce 4000</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p95 climbs hard</a:t>
            </a:r>
          </a:p>
          <a:p>
            <a:pPr>
              <a:spcBef>
                <a:spcPts val="0"/>
              </a:spcBef>
              <a:spcAft>
                <a:spcPts val="400"/>
              </a:spcAft>
            </a:pPr>
            <a:r>
              <a:rPr sz="1150" b="0" i="0">
                <a:solidFill>
                  <a:srgbClr val="17262E"/>
                </a:solidFill>
                <a:latin typeface="Segoe UI"/>
              </a:rPr>
              <a:t>Error rate stays completely flat</a:t>
            </a:r>
          </a:p>
          <a:p>
            <a:pPr>
              <a:spcBef>
                <a:spcPts val="0"/>
              </a:spcBef>
              <a:spcAft>
                <a:spcPts val="400"/>
              </a:spcAft>
            </a:pPr>
            <a:r>
              <a:rPr sz="1150" b="0" i="0">
                <a:solidFill>
                  <a:srgbClr val="17262E"/>
                </a:solidFill>
                <a:latin typeface="Segoe UI"/>
              </a:rPr>
              <a:t>The average barely moves</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The p95 widget — compare it with the average on purpose</a:t>
            </a:r>
          </a:p>
          <a:p>
            <a:pPr>
              <a:spcBef>
                <a:spcPts val="0"/>
              </a:spcBef>
              <a:spcAft>
                <a:spcPts val="400"/>
              </a:spcAft>
            </a:pPr>
            <a:r>
              <a:rPr sz="1150" b="0" i="0">
                <a:solidFill>
                  <a:srgbClr val="17262E"/>
                </a:solidFill>
                <a:latin typeface="Segoe UI"/>
              </a:rPr>
              <a:t>curl https://ecommerce.&lt;domain&gt;/api/chaos shows latencyMs: 4000</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./scripts/chaos/reset.sh ecommerce</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Slow is not failing. An error-rate monitor never fires here, which is why latency needs its own alert.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1F7A99"/>
                </a:solidFill>
                <a:latin typeface="Segoe UI"/>
              </a:rPr>
              <a:t>FAMILY A · IN-APP CONDITION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A2 · Failing fast</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30</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./scripts/chaos/inject-errors.sh banking 0.3</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Error rate jumps</a:t>
            </a:r>
          </a:p>
          <a:p>
            <a:pPr>
              <a:spcBef>
                <a:spcPts val="0"/>
              </a:spcBef>
              <a:spcAft>
                <a:spcPts val="400"/>
              </a:spcAft>
            </a:pPr>
            <a:r>
              <a:rPr sz="1150" b="0" i="0">
                <a:solidFill>
                  <a:srgbClr val="17262E"/>
                </a:solidFill>
                <a:latin typeface="Segoe UI"/>
              </a:rPr>
              <a:t>Traces flagged as errors</a:t>
            </a:r>
          </a:p>
          <a:p>
            <a:pPr>
              <a:spcBef>
                <a:spcPts val="0"/>
              </a:spcBef>
              <a:spcAft>
                <a:spcPts val="400"/>
              </a:spcAft>
            </a:pPr>
            <a:r>
              <a:rPr sz="1150" b="0" i="0">
                <a:solidFill>
                  <a:srgbClr val="17262E"/>
                </a:solidFill>
                <a:latin typeface="Segoe UI"/>
              </a:rPr>
              <a:t>5xx filling the logs</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Dashboard: the Error Rate widget</a:t>
            </a:r>
          </a:p>
          <a:p>
            <a:pPr>
              <a:spcBef>
                <a:spcPts val="0"/>
              </a:spcBef>
              <a:spcAft>
                <a:spcPts val="400"/>
              </a:spcAft>
            </a:pPr>
            <a:r>
              <a:rPr sz="1150" b="0" i="0">
                <a:solidFill>
                  <a:srgbClr val="17262E"/>
                </a:solidFill>
                <a:latin typeface="Segoe UI"/>
              </a:rPr>
              <a:t>Logs: service:banking-backend status:error</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./scripts/chaos/reset.sh banking</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Errors and latency are two signals with two different responses. Don't collapse them into “it's broken”.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1F7A99"/>
                </a:solidFill>
                <a:latin typeface="Segoe UI"/>
              </a:rPr>
              <a:t>FAMILY A · IN-APP CONDITION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A3 · The leak that heals itself</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31</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./scripts/chaos/memory-spike.sh support-tickets 300</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Memory climbs toward the 256Mi limit</a:t>
            </a:r>
          </a:p>
          <a:p>
            <a:pPr>
              <a:spcBef>
                <a:spcPts val="0"/>
              </a:spcBef>
              <a:spcAft>
                <a:spcPts val="400"/>
              </a:spcAft>
            </a:pPr>
            <a:r>
              <a:rPr sz="1150" b="0" i="0">
                <a:solidFill>
                  <a:srgbClr val="17262E"/>
                </a:solidFill>
                <a:latin typeface="Segoe UI"/>
              </a:rPr>
              <a:t>A real OOMKilled, then a restart</a:t>
            </a:r>
          </a:p>
          <a:p>
            <a:pPr>
              <a:spcBef>
                <a:spcPts val="0"/>
              </a:spcBef>
              <a:spcAft>
                <a:spcPts val="400"/>
              </a:spcAft>
            </a:pPr>
            <a:r>
              <a:rPr sz="1150" b="0" i="0">
                <a:solidFill>
                  <a:srgbClr val="17262E"/>
                </a:solidFill>
                <a:latin typeface="Segoe UI"/>
              </a:rPr>
              <a:t>Then it looks fine again</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describe pod | grep -A5 "Last State"  →  Reason: OOMKilled</a:t>
            </a:r>
          </a:p>
          <a:p>
            <a:pPr>
              <a:spcBef>
                <a:spcPts val="0"/>
              </a:spcBef>
              <a:spcAft>
                <a:spcPts val="400"/>
              </a:spcAft>
            </a:pPr>
            <a:r>
              <a:rPr sz="1150" b="0" i="0">
                <a:solidFill>
                  <a:srgbClr val="17262E"/>
                </a:solidFill>
                <a:latin typeface="Segoe UI"/>
              </a:rPr>
              <a:t>Dashboard: Pod Restarts, and memory just before the kill</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Nothing — the restart cleared the in-memory state.</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Self-resolving incidents get waved off. The saturation monitor exists to fire BEFORE the kill.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1F7A99"/>
                </a:solidFill>
                <a:latin typeface="Segoe UI"/>
              </a:rPr>
              <a:t>FAMILY A · IN-APP CONDITION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A4 · Saturation, and the HPA</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32</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./scripts/chaos/cpu-spike.sh ecommerce 60</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Latency spikes on every endpoint that pod serves</a:t>
            </a:r>
          </a:p>
          <a:p>
            <a:pPr>
              <a:spcBef>
                <a:spcPts val="0"/>
              </a:spcBef>
              <a:spcAft>
                <a:spcPts val="400"/>
              </a:spcAft>
            </a:pPr>
            <a:r>
              <a:rPr sz="1150" b="0" i="0">
                <a:solidFill>
                  <a:srgbClr val="17262E"/>
                </a:solidFill>
                <a:latin typeface="Segoe UI"/>
              </a:rPr>
              <a:t>The HPA scales out past 2 replicas</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kubectl -n ecommerce get hpa -w   (start this first, in a second terminal)</a:t>
            </a:r>
          </a:p>
          <a:p>
            <a:pPr>
              <a:spcBef>
                <a:spcPts val="0"/>
              </a:spcBef>
              <a:spcAft>
                <a:spcPts val="400"/>
              </a:spcAft>
            </a:pPr>
            <a:r>
              <a:rPr sz="1150" b="0" i="0">
                <a:solidFill>
                  <a:srgbClr val="17262E"/>
                </a:solidFill>
                <a:latin typeface="Segoe UI"/>
              </a:rPr>
              <a:t>Dashboard: p95 across all endpoints, not just one</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Ends by itself; the HPA scales back after cooldown.</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Saturation shows up as latency everywhere, not as errors on one endpoint.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1F7A99"/>
                </a:solidFill>
                <a:latin typeface="Segoe UI"/>
              </a:rPr>
              <a:t>FAMILY A · IN-APP CONDITION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A5 · Running, but not Ready</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33</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./scripts/chaos/drop-db-connection.sh student-portal</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/readyz returns 503; /healthz stays 200</a:t>
            </a:r>
          </a:p>
          <a:p>
            <a:pPr>
              <a:spcBef>
                <a:spcPts val="0"/>
              </a:spcBef>
              <a:spcAft>
                <a:spcPts val="400"/>
              </a:spcAft>
            </a:pPr>
            <a:r>
              <a:rPr sz="1150" b="0" i="0">
                <a:solidFill>
                  <a:srgbClr val="17262E"/>
                </a:solidFill>
                <a:latin typeface="Segoe UI"/>
              </a:rPr>
              <a:t>Pod goes NotReady after ~30s and leaves the Service</a:t>
            </a:r>
          </a:p>
          <a:p>
            <a:pPr>
              <a:spcBef>
                <a:spcPts val="0"/>
              </a:spcBef>
              <a:spcAft>
                <a:spcPts val="400"/>
              </a:spcAft>
            </a:pPr>
            <a:r>
              <a:rPr sz="1150" b="0" i="0">
                <a:solidFill>
                  <a:srgbClr val="17262E"/>
                </a:solidFill>
                <a:latin typeface="Segoe UI"/>
              </a:rPr>
              <a:t>Nothing restarts — the process never crashed</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Logs: "readiness check failed: db connection dropped (chaos)"</a:t>
            </a:r>
          </a:p>
          <a:p>
            <a:pPr>
              <a:spcBef>
                <a:spcPts val="0"/>
              </a:spcBef>
              <a:spcAft>
                <a:spcPts val="400"/>
              </a:spcAft>
            </a:pPr>
            <a:r>
              <a:rPr sz="1150" b="0" i="0">
                <a:solidFill>
                  <a:srgbClr val="17262E"/>
                </a:solidFill>
                <a:latin typeface="Segoe UI"/>
              </a:rPr>
              <a:t>kubectl get endpoints — the pod is gone from the list</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kubectl exec -n &lt;ns&gt; &lt;pod&gt; — node -e "...api/chaos/reset..."  (reset.sh can't reach it)</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The most-asked interview question. Liveness and readiness gate different things.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2E9E63"/>
                </a:solidFill>
                <a:latin typeface="Segoe UI"/>
              </a:rPr>
              <a:t>FAMILY B · KUBERNETES-LEVEL</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B1 and B2 · Bypassing the app</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34</a:t>
            </a:r>
          </a:p>
        </p:txBody>
      </p:sp>
      <p:sp>
        <p:nvSpPr>
          <p:cNvPr id="7" name="Rectangle 6"/>
          <p:cNvSpPr/>
          <p:nvPr/>
        </p:nvSpPr>
        <p:spPr>
          <a:xfrm>
            <a:off x="566928" y="1572768"/>
            <a:ext cx="11064240" cy="7132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4572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./scripts/chaos/kill-random-pod.sh banking</a:t>
            </a:r>
          </a:p>
          <a:p>
            <a:pPr>
              <a:spcBef>
                <a:spcPts val="0"/>
              </a:spcBef>
              <a:spcAft>
                <a:spcPts val="200"/>
              </a:spcAft>
            </a:pPr>
            <a:r>
              <a:rPr sz="1100" b="0" i="0">
                <a:solidFill>
                  <a:srgbClr val="D7E3EA"/>
                </a:solidFill>
                <a:latin typeface="Consolas"/>
              </a:rPr>
              <a:t>./scripts/chaos/scale-to-zero.sh support-tickets support-tickets-frontend</a:t>
            </a:r>
          </a:p>
        </p:txBody>
      </p:sp>
      <p:sp>
        <p:nvSpPr>
          <p:cNvPr id="9" name="Rectangle 8"/>
          <p:cNvSpPr/>
          <p:nvPr/>
        </p:nvSpPr>
        <p:spPr>
          <a:xfrm>
            <a:off x="566928" y="2560320"/>
            <a:ext cx="5394960" cy="21031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560320"/>
            <a:ext cx="44450" cy="2103120"/>
          </a:xfrm>
          <a:prstGeom prst="rect">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715768"/>
            <a:ext cx="4956048" cy="181051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B1 · kill-random-pod</a:t>
            </a:r>
          </a:p>
          <a:p>
            <a:pPr>
              <a:spcBef>
                <a:spcPts val="0"/>
              </a:spcBef>
              <a:spcAft>
                <a:spcPts val="400"/>
              </a:spcAft>
            </a:pPr>
            <a:r>
              <a:rPr sz="1150" b="0" i="0">
                <a:solidFill>
                  <a:srgbClr val="17262E"/>
                </a:solidFill>
                <a:latin typeface="Segoe UI"/>
              </a:rPr>
              <a:t>Restart count +1, a brief blip if you're watching.</a:t>
            </a:r>
          </a:p>
          <a:p>
            <a:pPr>
              <a:spcBef>
                <a:spcPts val="0"/>
              </a:spcBef>
              <a:spcAft>
                <a:spcPts val="400"/>
              </a:spcAft>
            </a:pPr>
            <a:r>
              <a:rPr sz="1150" b="0" i="0">
                <a:solidFill>
                  <a:srgbClr val="17262E"/>
                </a:solidFill>
                <a:latin typeface="Segoe UI"/>
              </a:rPr>
              <a:t/>
            </a:r>
          </a:p>
          <a:p>
            <a:pPr>
              <a:spcAft>
                <a:spcPts val="400"/>
              </a:spcAft>
            </a:pPr>
            <a:r>
              <a:rPr sz="1150" b="1">
                <a:solidFill>
                  <a:srgbClr val="1F7A99"/>
                </a:solidFill>
                <a:latin typeface="Segoe UI"/>
              </a:rPr>
              <a:t>Undo  </a:t>
            </a:r>
            <a:r>
              <a:rPr sz="1150" b="0">
                <a:solidFill>
                  <a:srgbClr val="17262E"/>
                </a:solidFill>
                <a:latin typeface="Segoe UI"/>
              </a:rPr>
              <a:t>self-heals — the Deployment reschedules immediately</a:t>
            </a:r>
          </a:p>
          <a:p>
            <a:pPr>
              <a:spcAft>
                <a:spcPts val="400"/>
              </a:spcAft>
            </a:pPr>
            <a:r>
              <a:rPr sz="1150" b="1">
                <a:solidFill>
                  <a:srgbClr val="1F7A99"/>
                </a:solidFill>
                <a:latin typeface="Segoe UI"/>
              </a:rPr>
              <a:t>The point  </a:t>
            </a:r>
            <a:r>
              <a:rPr sz="1150" b="0">
                <a:solidFill>
                  <a:srgbClr val="17262E"/>
                </a:solidFill>
                <a:latin typeface="Segoe UI"/>
              </a:rPr>
              <a:t>alert on restart COUNT over a window, not one restart</a:t>
            </a:r>
          </a:p>
        </p:txBody>
      </p:sp>
      <p:sp>
        <p:nvSpPr>
          <p:cNvPr id="12" name="Rectangle 11"/>
          <p:cNvSpPr/>
          <p:nvPr/>
        </p:nvSpPr>
        <p:spPr>
          <a:xfrm>
            <a:off x="6236208" y="2560320"/>
            <a:ext cx="5394960" cy="21031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560320"/>
            <a:ext cx="44450" cy="2103120"/>
          </a:xfrm>
          <a:prstGeom prst="rect">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715768"/>
            <a:ext cx="4956048" cy="181051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B2 · scale-to-zero</a:t>
            </a:r>
          </a:p>
          <a:p>
            <a:pPr>
              <a:spcBef>
                <a:spcPts val="0"/>
              </a:spcBef>
              <a:spcAft>
                <a:spcPts val="400"/>
              </a:spcAft>
            </a:pPr>
            <a:r>
              <a:rPr sz="1150" b="0" i="0">
                <a:solidFill>
                  <a:srgbClr val="17262E"/>
                </a:solidFill>
                <a:latin typeface="Segoe UI"/>
              </a:rPr>
              <a:t>Full outage. The ALB returns 503 — no targets at all.</a:t>
            </a:r>
          </a:p>
          <a:p>
            <a:pPr>
              <a:spcBef>
                <a:spcPts val="0"/>
              </a:spcBef>
              <a:spcAft>
                <a:spcPts val="400"/>
              </a:spcAft>
            </a:pPr>
            <a:r>
              <a:rPr sz="1150" b="0" i="0">
                <a:solidFill>
                  <a:srgbClr val="17262E"/>
                </a:solidFill>
                <a:latin typeface="Segoe UI"/>
              </a:rPr>
              <a:t/>
            </a:r>
          </a:p>
          <a:p>
            <a:pPr>
              <a:spcAft>
                <a:spcPts val="400"/>
              </a:spcAft>
            </a:pPr>
            <a:r>
              <a:rPr sz="1150" b="1">
                <a:solidFill>
                  <a:srgbClr val="1F7A99"/>
                </a:solidFill>
                <a:latin typeface="Segoe UI"/>
              </a:rPr>
              <a:t>Undo  </a:t>
            </a:r>
            <a:r>
              <a:rPr sz="1150" b="0">
                <a:solidFill>
                  <a:srgbClr val="17262E"/>
                </a:solidFill>
                <a:latin typeface="Segoe UI"/>
              </a:rPr>
              <a:t>kubectl scale deployment/... --replicas=2</a:t>
            </a:r>
          </a:p>
          <a:p>
            <a:pPr>
              <a:spcAft>
                <a:spcPts val="400"/>
              </a:spcAft>
            </a:pPr>
            <a:r>
              <a:rPr sz="1150" b="1">
                <a:solidFill>
                  <a:srgbClr val="1F7A99"/>
                </a:solidFill>
                <a:latin typeface="Segoe UI"/>
              </a:rPr>
              <a:t>The point  </a:t>
            </a:r>
            <a:r>
              <a:rPr sz="1150" b="0">
                <a:solidFill>
                  <a:srgbClr val="17262E"/>
                </a:solidFill>
                <a:latin typeface="Segoe UI"/>
              </a:rPr>
              <a:t>compare this 503 with C4's 404: an empty target group and an unhealthy one behave differently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D1495B"/>
                </a:solidFill>
                <a:latin typeface="Segoe UI"/>
              </a:rPr>
              <a:t>FAMILY C · CHANGE-DRIVEN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C1 · The tag that never existed</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35</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./scripts/chaos/bad-deploy.sh student-portal student-portal-backend student-portal-backend</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New pods ImagePullBackOff</a:t>
            </a:r>
          </a:p>
          <a:p>
            <a:pPr>
              <a:spcBef>
                <a:spcPts val="0"/>
              </a:spcBef>
              <a:spcAft>
                <a:spcPts val="400"/>
              </a:spcAft>
            </a:pPr>
            <a:r>
              <a:rPr sz="1150" b="0" i="0">
                <a:solidFill>
                  <a:srgbClr val="17262E"/>
                </a:solidFill>
                <a:latin typeface="Segoe UI"/>
              </a:rPr>
              <a:t>Old pods keep serving</a:t>
            </a:r>
          </a:p>
          <a:p>
            <a:pPr>
              <a:spcBef>
                <a:spcPts val="0"/>
              </a:spcBef>
              <a:spcAft>
                <a:spcPts val="400"/>
              </a:spcAft>
            </a:pPr>
            <a:r>
              <a:rPr sz="1150" b="0" i="0">
                <a:solidFill>
                  <a:srgbClr val="17262E"/>
                </a:solidFill>
                <a:latin typeface="Segoe UI"/>
              </a:rPr>
              <a:t>So the symptom is INTERMITTENT, not an outage</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describe pod  →  "Failed to pull image ... not found"</a:t>
            </a:r>
          </a:p>
          <a:p>
            <a:pPr>
              <a:spcBef>
                <a:spcPts val="0"/>
              </a:spcBef>
              <a:spcAft>
                <a:spcPts val="400"/>
              </a:spcAft>
            </a:pPr>
            <a:r>
              <a:rPr sz="1150" b="0" i="0">
                <a:solidFill>
                  <a:srgbClr val="17262E"/>
                </a:solidFill>
                <a:latin typeface="Segoe UI"/>
              </a:rPr>
              <a:t>rollout status  →  stuck waiting for replicas that never come</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kubectl -n student-portal rollout undo deployment/student-portal-backend</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The partial outage is RollingUpdate doing its job — it won't kill healthy pods for replacements that aren't ready.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D1495B"/>
                </a:solidFill>
                <a:latin typeface="Segoe UI"/>
              </a:rPr>
              <a:t>FAMILY C · CHANGE-DRIVEN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C2 · The config that shipped fine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36</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./scripts/chaos/break-config.sh banking</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One new pod never becomes Ready, then CrashLoops</a:t>
            </a:r>
          </a:p>
          <a:p>
            <a:pPr>
              <a:spcBef>
                <a:spcPts val="0"/>
              </a:spcBef>
              <a:spcAft>
                <a:spcPts val="400"/>
              </a:spcAft>
            </a:pPr>
            <a:r>
              <a:rPr sz="1150" b="0" i="0">
                <a:solidFill>
                  <a:srgbClr val="17262E"/>
                </a:solidFill>
                <a:latin typeface="Segoe UI"/>
              </a:rPr>
              <a:t>The rollout stalls</a:t>
            </a:r>
          </a:p>
          <a:p>
            <a:pPr>
              <a:spcBef>
                <a:spcPts val="0"/>
              </a:spcBef>
              <a:spcAft>
                <a:spcPts val="400"/>
              </a:spcAft>
            </a:pPr>
            <a:r>
              <a:rPr sz="1150" b="0" i="0">
                <a:solidFill>
                  <a:srgbClr val="17262E"/>
                </a:solidFill>
                <a:latin typeface="Segoe UI"/>
              </a:rPr>
              <a:t>The app still returns 200 — customers are fine</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Events: "Readiness probe failed ... connection refused" on :4000</a:t>
            </a:r>
          </a:p>
          <a:p>
            <a:pPr>
              <a:spcBef>
                <a:spcPts val="0"/>
              </a:spcBef>
              <a:spcAft>
                <a:spcPts val="400"/>
              </a:spcAft>
            </a:pPr>
            <a:r>
              <a:rPr sz="1150" b="0" i="0">
                <a:solidFill>
                  <a:srgbClr val="17262E"/>
                </a:solidFill>
                <a:latin typeface="Segoe UI"/>
              </a:rPr>
              <a:t>logs &lt;newest pod&gt;  →  "listening on 4001"   ← the penny drops</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./scripts/chaos/break-config.sh banking --undo</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rollout undo does NOT fix this: the pod template never changed, only the ConfigMap it references.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D1495B"/>
                </a:solidFill>
                <a:latin typeface="Segoe UI"/>
              </a:rPr>
              <a:t>FAMILY C · CHANGE-DRIVEN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C3 · Rotated in one place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37</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./scripts/chaos/rotate-secret.sh ecommerce</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New pod Running but 0/1, with ZERO restarts</a:t>
            </a:r>
          </a:p>
          <a:p>
            <a:pPr>
              <a:spcBef>
                <a:spcPts val="0"/>
              </a:spcBef>
              <a:spcAft>
                <a:spcPts val="400"/>
              </a:spcAft>
            </a:pPr>
            <a:r>
              <a:rPr sz="1150" b="0" i="0">
                <a:solidFill>
                  <a:srgbClr val="17262E"/>
                </a:solidFill>
                <a:latin typeface="Segoe UI"/>
              </a:rPr>
              <a:t>No monitor fires at all</a:t>
            </a:r>
          </a:p>
          <a:p>
            <a:pPr>
              <a:spcBef>
                <a:spcPts val="0"/>
              </a:spcBef>
              <a:spcAft>
                <a:spcPts val="400"/>
              </a:spcAft>
            </a:pPr>
            <a:r>
              <a:rPr sz="1150" b="0" i="0">
                <a:solidFill>
                  <a:srgbClr val="17262E"/>
                </a:solidFill>
                <a:latin typeface="Segoe UI"/>
              </a:rPr>
              <a:t>Endpoints list 2 addresses, not 3</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Logs: "password authentication failed for user ecommerce_app"</a:t>
            </a:r>
          </a:p>
          <a:p>
            <a:pPr>
              <a:spcBef>
                <a:spcPts val="0"/>
              </a:spcBef>
              <a:spcAft>
                <a:spcPts val="400"/>
              </a:spcAft>
            </a:pPr>
            <a:r>
              <a:rPr sz="1150" b="0" i="0">
                <a:solidFill>
                  <a:srgbClr val="17262E"/>
                </a:solidFill>
                <a:latin typeface="Segoe UI"/>
              </a:rPr>
              <a:t>port-forward, then curl /healthz (200) vs /readyz (503)</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./scripts/chaos/rotate-secret.sh ecommerce --undo</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The working credential now exists only in the memory of two pods that can't be replaced. Zero impact, high urgency.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D1495B"/>
                </a:solidFill>
                <a:latin typeface="Segoe UI"/>
              </a:rPr>
              <a:t>FAMILY C · CHANGE-DRIVEN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C4 · Green dashboards, angry customers</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38</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./scripts/chaos/break-ingress.sh food-delivery</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A 404 from the BACKEND — not a gateway error</a:t>
            </a:r>
          </a:p>
          <a:p>
            <a:pPr>
              <a:spcBef>
                <a:spcPts val="0"/>
              </a:spcBef>
              <a:spcAft>
                <a:spcPts val="400"/>
              </a:spcAft>
            </a:pPr>
            <a:r>
              <a:rPr sz="1150" b="0" i="0">
                <a:solidFill>
                  <a:srgbClr val="17262E"/>
                </a:solidFill>
                <a:latin typeface="Segoe UI"/>
              </a:rPr>
              <a:t>X-Powered-By: Express in the headers</a:t>
            </a:r>
          </a:p>
          <a:p>
            <a:pPr>
              <a:spcBef>
                <a:spcPts val="0"/>
              </a:spcBef>
              <a:spcAft>
                <a:spcPts val="400"/>
              </a:spcAft>
            </a:pPr>
            <a:r>
              <a:rPr sz="1150" b="0" i="0">
                <a:solidFill>
                  <a:srgbClr val="17262E"/>
                </a:solidFill>
                <a:latin typeface="Segoe UI"/>
              </a:rPr>
              <a:t>/api/* still returns 200</a:t>
            </a:r>
          </a:p>
          <a:p>
            <a:pPr>
              <a:spcBef>
                <a:spcPts val="0"/>
              </a:spcBef>
              <a:spcAft>
                <a:spcPts val="400"/>
              </a:spcAft>
            </a:pPr>
            <a:r>
              <a:rPr sz="1150" b="0" i="0">
                <a:solidFill>
                  <a:srgbClr val="17262E"/>
                </a:solidFill>
                <a:latin typeface="Segoe UI"/>
              </a:rPr>
              <a:t>Every dashboard green; backend throughput RISES</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curl -i https://food-delivery.&lt;domain&gt;/ | head -12</a:t>
            </a:r>
          </a:p>
          <a:p>
            <a:pPr>
              <a:spcBef>
                <a:spcPts val="0"/>
              </a:spcBef>
              <a:spcAft>
                <a:spcPts val="400"/>
              </a:spcAft>
            </a:pPr>
            <a:r>
              <a:rPr sz="1150" b="0" i="0">
                <a:solidFill>
                  <a:srgbClr val="17262E"/>
                </a:solidFill>
                <a:latin typeface="Segoe UI"/>
              </a:rPr>
              <a:t>aws elbv2 describe-target-health ...   (target health is in AWS, not Datadog)</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./scripts/chaos/break-ingress.sh food-delivery --undo</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A total outage your monitoring cannot see, because every instrument sits inside a service that isn't broken.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D1495B"/>
                </a:solidFill>
                <a:latin typeface="Segoe UI"/>
              </a:rPr>
              <a:t>FAMILY C · CHANGE-DRIVEN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C5 · The ceiling that moved</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39</a:t>
            </a:r>
          </a:p>
        </p:txBody>
      </p:sp>
      <p:sp>
        <p:nvSpPr>
          <p:cNvPr id="7" name="Rectangle 6"/>
          <p:cNvSpPr/>
          <p:nvPr/>
        </p:nvSpPr>
        <p:spPr>
          <a:xfrm>
            <a:off x="566928" y="1572768"/>
            <a:ext cx="1106424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10698480" cy="228600"/>
          </a:xfrm>
          <a:prstGeom prst="rect">
            <a:avLst/>
          </a:prstGeom>
          <a:noFill/>
        </p:spPr>
        <p:txBody>
          <a:bodyPr wrap="square" lIns="0" rIns="0" tIns="0" bIns="0">
            <a:spAutoFit/>
          </a:bodyPr>
          <a:lstStyle/>
          <a:p>
            <a:pPr>
              <a:spcBef>
                <a:spcPts val="0"/>
              </a:spcBef>
              <a:spcAft>
                <a:spcPts val="200"/>
              </a:spcAft>
            </a:pPr>
            <a:r>
              <a:rPr sz="1100" b="0" i="0">
                <a:solidFill>
                  <a:srgbClr val="D7E3EA"/>
                </a:solidFill>
                <a:latin typeface="Consolas"/>
              </a:rPr>
              <a:t>./scripts/chaos/shrink-limits.sh support-tickets</a:t>
            </a:r>
          </a:p>
        </p:txBody>
      </p:sp>
      <p:sp>
        <p:nvSpPr>
          <p:cNvPr id="9" name="Rectangle 8"/>
          <p:cNvSpPr/>
          <p:nvPr/>
        </p:nvSpPr>
        <p:spPr>
          <a:xfrm>
            <a:off x="56692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331720"/>
            <a:ext cx="44450" cy="182880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you should see</a:t>
            </a:r>
          </a:p>
          <a:p>
            <a:pPr>
              <a:spcBef>
                <a:spcPts val="0"/>
              </a:spcBef>
              <a:spcAft>
                <a:spcPts val="400"/>
              </a:spcAft>
            </a:pPr>
            <a:r>
              <a:rPr sz="1150" b="0" i="0">
                <a:solidFill>
                  <a:srgbClr val="17262E"/>
                </a:solidFill>
                <a:latin typeface="Segoe UI"/>
              </a:rPr>
              <a:t>New pods OOMKilled during startup (exit 137)</a:t>
            </a:r>
          </a:p>
          <a:p>
            <a:pPr>
              <a:spcBef>
                <a:spcPts val="0"/>
              </a:spcBef>
              <a:spcAft>
                <a:spcPts val="400"/>
              </a:spcAft>
            </a:pPr>
            <a:r>
              <a:rPr sz="1150" b="0" i="0">
                <a:solidFill>
                  <a:srgbClr val="17262E"/>
                </a:solidFill>
                <a:latin typeface="Segoe UI"/>
              </a:rPr>
              <a:t>CrashLoopBackOff; old pods keep serving</a:t>
            </a:r>
          </a:p>
          <a:p>
            <a:pPr>
              <a:spcBef>
                <a:spcPts val="0"/>
              </a:spcBef>
              <a:spcAft>
                <a:spcPts val="400"/>
              </a:spcAft>
            </a:pPr>
            <a:r>
              <a:rPr sz="1150" b="0" i="0">
                <a:solidFill>
                  <a:srgbClr val="17262E"/>
                </a:solidFill>
                <a:latin typeface="Segoe UI"/>
              </a:rPr>
              <a:t>Identical symptom to A3 — opposite cause</a:t>
            </a:r>
          </a:p>
        </p:txBody>
      </p:sp>
      <p:sp>
        <p:nvSpPr>
          <p:cNvPr id="12" name="Rectangle 11"/>
          <p:cNvSpPr/>
          <p:nvPr/>
        </p:nvSpPr>
        <p:spPr>
          <a:xfrm>
            <a:off x="6236208" y="2331720"/>
            <a:ext cx="5394960" cy="18288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2331720"/>
            <a:ext cx="44450" cy="18288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87168"/>
            <a:ext cx="4956048" cy="15361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Where to look</a:t>
            </a:r>
          </a:p>
          <a:p>
            <a:pPr>
              <a:spcBef>
                <a:spcPts val="0"/>
              </a:spcBef>
              <a:spcAft>
                <a:spcPts val="400"/>
              </a:spcAft>
            </a:pPr>
            <a:r>
              <a:rPr sz="1150" b="0" i="0">
                <a:solidFill>
                  <a:srgbClr val="17262E"/>
                </a:solidFill>
                <a:latin typeface="Segoe UI"/>
              </a:rPr>
              <a:t>rollout history, and compare the resources block with another app</a:t>
            </a:r>
          </a:p>
          <a:p>
            <a:pPr>
              <a:spcBef>
                <a:spcPts val="0"/>
              </a:spcBef>
              <a:spcAft>
                <a:spcPts val="400"/>
              </a:spcAft>
            </a:pPr>
            <a:r>
              <a:rPr sz="1150" b="0" i="0">
                <a:solidFill>
                  <a:srgbClr val="17262E"/>
                </a:solidFill>
                <a:latin typeface="Segoe UI"/>
              </a:rPr>
              <a:t>Dashboard: memory usage never grew. The LIMIT moved.</a:t>
            </a:r>
          </a:p>
        </p:txBody>
      </p:sp>
      <p:sp>
        <p:nvSpPr>
          <p:cNvPr id="15" name="Rectangle 14"/>
          <p:cNvSpPr/>
          <p:nvPr/>
        </p:nvSpPr>
        <p:spPr>
          <a:xfrm>
            <a:off x="56692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343400"/>
            <a:ext cx="44450" cy="91440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Undo</a:t>
            </a:r>
          </a:p>
          <a:p>
            <a:pPr>
              <a:spcBef>
                <a:spcPts val="0"/>
              </a:spcBef>
              <a:spcAft>
                <a:spcPts val="400"/>
              </a:spcAft>
            </a:pPr>
            <a:r>
              <a:rPr sz="1050" b="0" i="0">
                <a:solidFill>
                  <a:srgbClr val="17262E"/>
                </a:solidFill>
                <a:latin typeface="Segoe UI"/>
              </a:rPr>
              <a:t>./scripts/chaos/shrink-limits.sh support-tickets --undo</a:t>
            </a:r>
          </a:p>
        </p:txBody>
      </p:sp>
      <p:sp>
        <p:nvSpPr>
          <p:cNvPr id="18" name="Rectangle 17"/>
          <p:cNvSpPr/>
          <p:nvPr/>
        </p:nvSpPr>
        <p:spPr>
          <a:xfrm>
            <a:off x="6236208" y="4343400"/>
            <a:ext cx="5394960" cy="9144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4343400"/>
            <a:ext cx="44450" cy="914400"/>
          </a:xfrm>
          <a:prstGeom prst="rect">
            <a:avLst/>
          </a:prstGeom>
          <a:solidFill>
            <a:srgbClr val="B977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4498848"/>
            <a:ext cx="4956048" cy="6217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point</a:t>
            </a:r>
          </a:p>
          <a:p>
            <a:pPr>
              <a:spcBef>
                <a:spcPts val="0"/>
              </a:spcBef>
              <a:spcAft>
                <a:spcPts val="400"/>
              </a:spcAft>
            </a:pPr>
            <a:r>
              <a:rPr sz="1050" b="0" i="0">
                <a:solidFill>
                  <a:srgbClr val="17262E"/>
                </a:solidFill>
                <a:latin typeface="Segoe UI"/>
              </a:rPr>
              <a:t>rollout undo DOES work here (the pod template changed), unlike C2 and C3. Explaining that difference is worth more than the fix.</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The detection gap</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Three of those twelve are invisible to every monitor the lab ships.</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40</a:t>
            </a:r>
          </a:p>
        </p:txBody>
      </p:sp>
      <p:sp>
        <p:nvSpPr>
          <p:cNvPr id="7" name="Rectangle 6"/>
          <p:cNvSpPr/>
          <p:nvPr/>
        </p:nvSpPr>
        <p:spPr>
          <a:xfrm>
            <a:off x="566928" y="1682496"/>
            <a:ext cx="5394960" cy="2011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82496"/>
            <a:ext cx="44450" cy="201168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837944"/>
            <a:ext cx="4956048" cy="171907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nothing pages on today</a:t>
            </a:r>
          </a:p>
          <a:p>
            <a:pPr>
              <a:spcBef>
                <a:spcPts val="0"/>
              </a:spcBef>
              <a:spcAft>
                <a:spcPts val="400"/>
              </a:spcAft>
            </a:pPr>
            <a:r>
              <a:rPr sz="1150" b="0" i="0">
                <a:solidFill>
                  <a:srgbClr val="17262E"/>
                </a:solidFill>
                <a:latin typeface="Segoe UI"/>
              </a:rPr>
              <a:t>A pod that is Running but never Ready</a:t>
            </a:r>
          </a:p>
          <a:p>
            <a:pPr>
              <a:spcBef>
                <a:spcPts val="0"/>
              </a:spcBef>
              <a:spcAft>
                <a:spcPts val="400"/>
              </a:spcAft>
            </a:pPr>
            <a:r>
              <a:rPr sz="1150" b="0" i="0">
                <a:solidFill>
                  <a:srgbClr val="17262E"/>
                </a:solidFill>
                <a:latin typeface="Segoe UI"/>
              </a:rPr>
              <a:t>A rollout that stalled and will never finish</a:t>
            </a:r>
          </a:p>
          <a:p>
            <a:pPr>
              <a:spcBef>
                <a:spcPts val="0"/>
              </a:spcBef>
              <a:spcAft>
                <a:spcPts val="400"/>
              </a:spcAft>
            </a:pPr>
            <a:r>
              <a:rPr sz="1150" b="0" i="0">
                <a:solidFill>
                  <a:srgbClr val="17262E"/>
                </a:solidFill>
                <a:latin typeface="Segoe UI"/>
              </a:rPr>
              <a:t>Throughput falling to zero</a:t>
            </a:r>
          </a:p>
          <a:p>
            <a:pPr>
              <a:spcBef>
                <a:spcPts val="0"/>
              </a:spcBef>
              <a:spcAft>
                <a:spcPts val="400"/>
              </a:spcAft>
            </a:pPr>
            <a:r>
              <a:rPr sz="1150" b="0" i="0">
                <a:solidFill>
                  <a:srgbClr val="17262E"/>
                </a:solidFill>
                <a:latin typeface="Segoe UI"/>
              </a:rPr>
              <a:t>A deploy that reported success and shipped nothing</a:t>
            </a:r>
          </a:p>
        </p:txBody>
      </p:sp>
      <p:sp>
        <p:nvSpPr>
          <p:cNvPr id="10" name="Rectangle 9"/>
          <p:cNvSpPr/>
          <p:nvPr/>
        </p:nvSpPr>
        <p:spPr>
          <a:xfrm>
            <a:off x="6236208" y="1682496"/>
            <a:ext cx="5394960" cy="2011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6208" y="1682496"/>
            <a:ext cx="44450" cy="201168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837944"/>
            <a:ext cx="4956048" cy="171907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Add: unavailable replicas</a:t>
            </a:r>
          </a:p>
          <a:p>
            <a:pPr>
              <a:spcBef>
                <a:spcPts val="0"/>
              </a:spcBef>
              <a:spcAft>
                <a:spcPts val="400"/>
              </a:spcAft>
            </a:pPr>
            <a:r>
              <a:rPr sz="1050" b="0" i="0">
                <a:solidFill>
                  <a:srgbClr val="17262E"/>
                </a:solidFill>
                <a:latin typeface="Segoe UI"/>
              </a:rPr>
              <a:t>max(last_10m):max:kubernetes_state.deployment</a:t>
            </a:r>
          </a:p>
          <a:p>
            <a:pPr>
              <a:spcBef>
                <a:spcPts val="0"/>
              </a:spcBef>
              <a:spcAft>
                <a:spcPts val="400"/>
              </a:spcAft>
            </a:pPr>
            <a:r>
              <a:rPr sz="1050" b="0" i="0">
                <a:solidFill>
                  <a:srgbClr val="17262E"/>
                </a:solidFill>
                <a:latin typeface="Segoe UI"/>
              </a:rPr>
              <a:t>  .replicas_unavailable{env:lab} by {kube_deployment} &gt; 0</a:t>
            </a:r>
          </a:p>
          <a:p>
            <a:pPr>
              <a:spcBef>
                <a:spcPts val="0"/>
              </a:spcBef>
              <a:spcAft>
                <a:spcPts val="400"/>
              </a:spcAft>
            </a:pPr>
            <a:r>
              <a:rPr sz="1050" b="0" i="0">
                <a:solidFill>
                  <a:srgbClr val="17262E"/>
                </a:solidFill>
                <a:latin typeface="Segoe UI"/>
              </a:rPr>
              <a:t/>
            </a:r>
          </a:p>
          <a:p>
            <a:pPr>
              <a:spcBef>
                <a:spcPts val="0"/>
              </a:spcBef>
              <a:spcAft>
                <a:spcPts val="400"/>
              </a:spcAft>
            </a:pPr>
            <a:r>
              <a:rPr sz="1050" b="0" i="0">
                <a:solidFill>
                  <a:srgbClr val="17262E"/>
                </a:solidFill>
                <a:latin typeface="Segoe UI"/>
              </a:rPr>
              <a:t>Bad image, failed probe, OOMKill loop, quota-blocked surge — four root causes, one query, and it fires while old pods still serve.</a:t>
            </a:r>
          </a:p>
        </p:txBody>
      </p:sp>
      <p:sp>
        <p:nvSpPr>
          <p:cNvPr id="13" name="Rectangle 12"/>
          <p:cNvSpPr/>
          <p:nvPr/>
        </p:nvSpPr>
        <p:spPr>
          <a:xfrm>
            <a:off x="566928" y="3877056"/>
            <a:ext cx="11064240" cy="146304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4032504"/>
            <a:ext cx="10625328" cy="1170432"/>
          </a:xfrm>
          <a:prstGeom prst="rect">
            <a:avLst/>
          </a:prstGeom>
          <a:noFill/>
        </p:spPr>
        <p:txBody>
          <a:bodyPr wrap="square" lIns="0" rIns="0" tIns="0" bIns="0">
            <a:spAutoFit/>
          </a:bodyPr>
          <a:lstStyle/>
          <a:p>
            <a:pPr>
              <a:spcBef>
                <a:spcPts val="0"/>
              </a:spcBef>
              <a:spcAft>
                <a:spcPts val="400"/>
              </a:spcAft>
            </a:pPr>
            <a:r>
              <a:rPr sz="1150" b="0" i="0">
                <a:solidFill>
                  <a:srgbClr val="9FB3BD"/>
                </a:solidFill>
                <a:latin typeface="Segoe UI"/>
              </a:rPr>
              <a:t>Neither ships with the lab on purpose. Building one of them out of your own postmortem's action item, then watching it fire, is the exercise.</a:t>
            </a:r>
          </a:p>
          <a:p>
            <a:pPr>
              <a:spcBef>
                <a:spcPts val="0"/>
              </a:spcBef>
              <a:spcAft>
                <a:spcPts val="400"/>
              </a:spcAft>
            </a:pPr>
            <a:r>
              <a:rPr sz="1150" b="0" i="0">
                <a:solidFill>
                  <a:srgbClr val="9FB3BD"/>
                </a:solidFill>
                <a:latin typeface="Segoe UI"/>
              </a:rPr>
              <a:t/>
            </a:r>
          </a:p>
          <a:p>
            <a:pPr>
              <a:spcAft>
                <a:spcPts val="400"/>
              </a:spcAft>
            </a:pPr>
            <a:r>
              <a:rPr sz="1150" b="1">
                <a:solidFill>
                  <a:srgbClr val="E8A020"/>
                </a:solidFill>
                <a:latin typeface="Segoe UI"/>
              </a:rPr>
              <a:t>Verified on a live cluster:  </a:t>
            </a:r>
            <a:r>
              <a:rPr sz="1150" b="0">
                <a:solidFill>
                  <a:srgbClr val="9FB3BD"/>
                </a:solidFill>
                <a:latin typeface="Segoe UI"/>
              </a:rPr>
              <a:t>during C4 the backend throughput RISES, because the ALB health-checks it. A throughput monitor would not catch it — only a synthetic check from outside the cluster would.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The ten scenarios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Each wraps one or more failure modes in a briefing with no answer attached.</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41</a:t>
            </a:r>
          </a:p>
        </p:txBody>
      </p:sp>
      <p:sp>
        <p:nvSpPr>
          <p:cNvPr id="7" name="TextBox 6"/>
          <p:cNvSpPr txBox="1"/>
          <p:nvPr/>
        </p:nvSpPr>
        <p:spPr>
          <a:xfrm>
            <a:off x="566928" y="1682496"/>
            <a:ext cx="54864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a:t>
            </a:r>
          </a:p>
        </p:txBody>
      </p:sp>
      <p:sp>
        <p:nvSpPr>
          <p:cNvPr id="8" name="TextBox 7"/>
          <p:cNvSpPr txBox="1"/>
          <p:nvPr/>
        </p:nvSpPr>
        <p:spPr>
          <a:xfrm>
            <a:off x="1115568" y="1682496"/>
            <a:ext cx="420624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SCENARIO</a:t>
            </a:r>
          </a:p>
        </p:txBody>
      </p:sp>
      <p:sp>
        <p:nvSpPr>
          <p:cNvPr id="9" name="TextBox 8"/>
          <p:cNvSpPr txBox="1"/>
          <p:nvPr/>
        </p:nvSpPr>
        <p:spPr>
          <a:xfrm>
            <a:off x="5321808" y="1682496"/>
            <a:ext cx="274320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APP</a:t>
            </a:r>
          </a:p>
        </p:txBody>
      </p:sp>
      <p:sp>
        <p:nvSpPr>
          <p:cNvPr id="10" name="TextBox 9"/>
          <p:cNvSpPr txBox="1"/>
          <p:nvPr/>
        </p:nvSpPr>
        <p:spPr>
          <a:xfrm>
            <a:off x="8065008" y="1682496"/>
            <a:ext cx="182880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STARTS WITH</a:t>
            </a:r>
          </a:p>
        </p:txBody>
      </p:sp>
      <p:sp>
        <p:nvSpPr>
          <p:cNvPr id="11" name="TextBox 10"/>
          <p:cNvSpPr txBox="1"/>
          <p:nvPr/>
        </p:nvSpPr>
        <p:spPr>
          <a:xfrm>
            <a:off x="9893808" y="1682496"/>
            <a:ext cx="173736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USES</a:t>
            </a:r>
          </a:p>
        </p:txBody>
      </p:sp>
      <p:sp>
        <p:nvSpPr>
          <p:cNvPr id="12" name="Rectangle 11"/>
          <p:cNvSpPr/>
          <p:nvPr/>
        </p:nvSpPr>
        <p:spPr>
          <a:xfrm>
            <a:off x="566928" y="1965960"/>
            <a:ext cx="11064240" cy="12700"/>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48256"/>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01</a:t>
            </a:r>
          </a:p>
        </p:txBody>
      </p:sp>
      <p:sp>
        <p:nvSpPr>
          <p:cNvPr id="14" name="TextBox 13"/>
          <p:cNvSpPr txBox="1"/>
          <p:nvPr/>
        </p:nvSpPr>
        <p:spPr>
          <a:xfrm>
            <a:off x="1115568" y="2048256"/>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Silent Checkout</a:t>
            </a:r>
          </a:p>
        </p:txBody>
      </p:sp>
      <p:sp>
        <p:nvSpPr>
          <p:cNvPr id="15" name="TextBox 14"/>
          <p:cNvSpPr txBox="1"/>
          <p:nvPr/>
        </p:nvSpPr>
        <p:spPr>
          <a:xfrm>
            <a:off x="5321808" y="2048256"/>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ecommerce</a:t>
            </a:r>
          </a:p>
        </p:txBody>
      </p:sp>
      <p:sp>
        <p:nvSpPr>
          <p:cNvPr id="16" name="TextBox 15"/>
          <p:cNvSpPr txBox="1"/>
          <p:nvPr/>
        </p:nvSpPr>
        <p:spPr>
          <a:xfrm>
            <a:off x="8065008" y="2048256"/>
            <a:ext cx="16824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condition</a:t>
            </a:r>
          </a:p>
        </p:txBody>
      </p:sp>
      <p:sp>
        <p:nvSpPr>
          <p:cNvPr id="17" name="TextBox 16"/>
          <p:cNvSpPr txBox="1"/>
          <p:nvPr/>
        </p:nvSpPr>
        <p:spPr>
          <a:xfrm>
            <a:off x="9893808" y="2048256"/>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A1 + A2</a:t>
            </a:r>
          </a:p>
        </p:txBody>
      </p:sp>
      <p:sp>
        <p:nvSpPr>
          <p:cNvPr id="18" name="Rectangle 17"/>
          <p:cNvSpPr/>
          <p:nvPr/>
        </p:nvSpPr>
        <p:spPr>
          <a:xfrm>
            <a:off x="566928" y="2295144"/>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359152"/>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02</a:t>
            </a:r>
          </a:p>
        </p:txBody>
      </p:sp>
      <p:sp>
        <p:nvSpPr>
          <p:cNvPr id="20" name="TextBox 19"/>
          <p:cNvSpPr txBox="1"/>
          <p:nvPr/>
        </p:nvSpPr>
        <p:spPr>
          <a:xfrm>
            <a:off x="1115568" y="2359152"/>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Payday Panic</a:t>
            </a:r>
          </a:p>
        </p:txBody>
      </p:sp>
      <p:sp>
        <p:nvSpPr>
          <p:cNvPr id="21" name="TextBox 20"/>
          <p:cNvSpPr txBox="1"/>
          <p:nvPr/>
        </p:nvSpPr>
        <p:spPr>
          <a:xfrm>
            <a:off x="5321808" y="2359152"/>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banking</a:t>
            </a:r>
          </a:p>
        </p:txBody>
      </p:sp>
      <p:sp>
        <p:nvSpPr>
          <p:cNvPr id="22" name="TextBox 21"/>
          <p:cNvSpPr txBox="1"/>
          <p:nvPr/>
        </p:nvSpPr>
        <p:spPr>
          <a:xfrm>
            <a:off x="8065008" y="2359152"/>
            <a:ext cx="16824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condition</a:t>
            </a:r>
          </a:p>
        </p:txBody>
      </p:sp>
      <p:sp>
        <p:nvSpPr>
          <p:cNvPr id="23" name="TextBox 22"/>
          <p:cNvSpPr txBox="1"/>
          <p:nvPr/>
        </p:nvSpPr>
        <p:spPr>
          <a:xfrm>
            <a:off x="9893808" y="2359152"/>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A5</a:t>
            </a:r>
          </a:p>
        </p:txBody>
      </p:sp>
      <p:sp>
        <p:nvSpPr>
          <p:cNvPr id="24" name="Rectangle 23"/>
          <p:cNvSpPr/>
          <p:nvPr/>
        </p:nvSpPr>
        <p:spPr>
          <a:xfrm>
            <a:off x="566928" y="2606040"/>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2670048"/>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03</a:t>
            </a:r>
          </a:p>
        </p:txBody>
      </p:sp>
      <p:sp>
        <p:nvSpPr>
          <p:cNvPr id="26" name="TextBox 25"/>
          <p:cNvSpPr txBox="1"/>
          <p:nvPr/>
        </p:nvSpPr>
        <p:spPr>
          <a:xfrm>
            <a:off x="1115568" y="2670048"/>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Stuck Order</a:t>
            </a:r>
          </a:p>
        </p:txBody>
      </p:sp>
      <p:sp>
        <p:nvSpPr>
          <p:cNvPr id="27" name="TextBox 26"/>
          <p:cNvSpPr txBox="1"/>
          <p:nvPr/>
        </p:nvSpPr>
        <p:spPr>
          <a:xfrm>
            <a:off x="5321808" y="2670048"/>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food-delivery</a:t>
            </a:r>
          </a:p>
        </p:txBody>
      </p:sp>
      <p:sp>
        <p:nvSpPr>
          <p:cNvPr id="28" name="TextBox 27"/>
          <p:cNvSpPr txBox="1"/>
          <p:nvPr/>
        </p:nvSpPr>
        <p:spPr>
          <a:xfrm>
            <a:off x="8065008" y="2670048"/>
            <a:ext cx="16824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condition</a:t>
            </a:r>
          </a:p>
        </p:txBody>
      </p:sp>
      <p:sp>
        <p:nvSpPr>
          <p:cNvPr id="29" name="TextBox 28"/>
          <p:cNvSpPr txBox="1"/>
          <p:nvPr/>
        </p:nvSpPr>
        <p:spPr>
          <a:xfrm>
            <a:off x="9893808" y="2670048"/>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Redis to 0</a:t>
            </a:r>
          </a:p>
        </p:txBody>
      </p:sp>
      <p:sp>
        <p:nvSpPr>
          <p:cNvPr id="30" name="Rectangle 29"/>
          <p:cNvSpPr/>
          <p:nvPr/>
        </p:nvSpPr>
        <p:spPr>
          <a:xfrm>
            <a:off x="566928" y="2916936"/>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2980944"/>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04</a:t>
            </a:r>
          </a:p>
        </p:txBody>
      </p:sp>
      <p:sp>
        <p:nvSpPr>
          <p:cNvPr id="32" name="TextBox 31"/>
          <p:cNvSpPr txBox="1"/>
          <p:nvPr/>
        </p:nvSpPr>
        <p:spPr>
          <a:xfrm>
            <a:off x="1115568" y="2980944"/>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Grades Gone Missing</a:t>
            </a:r>
          </a:p>
        </p:txBody>
      </p:sp>
      <p:sp>
        <p:nvSpPr>
          <p:cNvPr id="33" name="TextBox 32"/>
          <p:cNvSpPr txBox="1"/>
          <p:nvPr/>
        </p:nvSpPr>
        <p:spPr>
          <a:xfrm>
            <a:off x="5321808" y="2980944"/>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student-portal</a:t>
            </a:r>
          </a:p>
        </p:txBody>
      </p:sp>
      <p:sp>
        <p:nvSpPr>
          <p:cNvPr id="34" name="TextBox 33"/>
          <p:cNvSpPr txBox="1"/>
          <p:nvPr/>
        </p:nvSpPr>
        <p:spPr>
          <a:xfrm>
            <a:off x="8065008" y="2980944"/>
            <a:ext cx="1682496" cy="310896"/>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change</a:t>
            </a:r>
          </a:p>
        </p:txBody>
      </p:sp>
      <p:sp>
        <p:nvSpPr>
          <p:cNvPr id="35" name="TextBox 34"/>
          <p:cNvSpPr txBox="1"/>
          <p:nvPr/>
        </p:nvSpPr>
        <p:spPr>
          <a:xfrm>
            <a:off x="9893808" y="2980944"/>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C1</a:t>
            </a:r>
          </a:p>
        </p:txBody>
      </p:sp>
      <p:sp>
        <p:nvSpPr>
          <p:cNvPr id="36" name="Rectangle 35"/>
          <p:cNvSpPr/>
          <p:nvPr/>
        </p:nvSpPr>
        <p:spPr>
          <a:xfrm>
            <a:off x="566928" y="3227832"/>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3291840"/>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05</a:t>
            </a:r>
          </a:p>
        </p:txBody>
      </p:sp>
      <p:sp>
        <p:nvSpPr>
          <p:cNvPr id="38" name="TextBox 37"/>
          <p:cNvSpPr txBox="1"/>
          <p:nvPr/>
        </p:nvSpPr>
        <p:spPr>
          <a:xfrm>
            <a:off x="1115568" y="3291840"/>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Midnight Memory Leak</a:t>
            </a:r>
          </a:p>
        </p:txBody>
      </p:sp>
      <p:sp>
        <p:nvSpPr>
          <p:cNvPr id="39" name="TextBox 38"/>
          <p:cNvSpPr txBox="1"/>
          <p:nvPr/>
        </p:nvSpPr>
        <p:spPr>
          <a:xfrm>
            <a:off x="5321808" y="3291840"/>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support-tickets</a:t>
            </a:r>
          </a:p>
        </p:txBody>
      </p:sp>
      <p:sp>
        <p:nvSpPr>
          <p:cNvPr id="40" name="TextBox 39"/>
          <p:cNvSpPr txBox="1"/>
          <p:nvPr/>
        </p:nvSpPr>
        <p:spPr>
          <a:xfrm>
            <a:off x="8065008" y="3291840"/>
            <a:ext cx="16824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condition</a:t>
            </a:r>
          </a:p>
        </p:txBody>
      </p:sp>
      <p:sp>
        <p:nvSpPr>
          <p:cNvPr id="41" name="TextBox 40"/>
          <p:cNvSpPr txBox="1"/>
          <p:nvPr/>
        </p:nvSpPr>
        <p:spPr>
          <a:xfrm>
            <a:off x="9893808" y="3291840"/>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A3</a:t>
            </a:r>
          </a:p>
        </p:txBody>
      </p:sp>
      <p:sp>
        <p:nvSpPr>
          <p:cNvPr id="42" name="Rectangle 41"/>
          <p:cNvSpPr/>
          <p:nvPr/>
        </p:nvSpPr>
        <p:spPr>
          <a:xfrm>
            <a:off x="566928" y="353872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3602736"/>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06</a:t>
            </a:r>
          </a:p>
        </p:txBody>
      </p:sp>
      <p:sp>
        <p:nvSpPr>
          <p:cNvPr id="44" name="TextBox 43"/>
          <p:cNvSpPr txBox="1"/>
          <p:nvPr/>
        </p:nvSpPr>
        <p:spPr>
          <a:xfrm>
            <a:off x="1115568" y="3602736"/>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Noisy Neighbor</a:t>
            </a:r>
          </a:p>
        </p:txBody>
      </p:sp>
      <p:sp>
        <p:nvSpPr>
          <p:cNvPr id="45" name="TextBox 44"/>
          <p:cNvSpPr txBox="1"/>
          <p:nvPr/>
        </p:nvSpPr>
        <p:spPr>
          <a:xfrm>
            <a:off x="5321808" y="3602736"/>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ecommerce + banking</a:t>
            </a:r>
          </a:p>
        </p:txBody>
      </p:sp>
      <p:sp>
        <p:nvSpPr>
          <p:cNvPr id="46" name="TextBox 45"/>
          <p:cNvSpPr txBox="1"/>
          <p:nvPr/>
        </p:nvSpPr>
        <p:spPr>
          <a:xfrm>
            <a:off x="8065008" y="3602736"/>
            <a:ext cx="16824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condition</a:t>
            </a:r>
          </a:p>
        </p:txBody>
      </p:sp>
      <p:sp>
        <p:nvSpPr>
          <p:cNvPr id="47" name="TextBox 46"/>
          <p:cNvSpPr txBox="1"/>
          <p:nvPr/>
        </p:nvSpPr>
        <p:spPr>
          <a:xfrm>
            <a:off x="9893808" y="3602736"/>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manual pg_sleep</a:t>
            </a:r>
          </a:p>
        </p:txBody>
      </p:sp>
      <p:sp>
        <p:nvSpPr>
          <p:cNvPr id="48" name="Rectangle 47"/>
          <p:cNvSpPr/>
          <p:nvPr/>
        </p:nvSpPr>
        <p:spPr>
          <a:xfrm>
            <a:off x="566928" y="3849624"/>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 y="3913632"/>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07</a:t>
            </a:r>
          </a:p>
        </p:txBody>
      </p:sp>
      <p:sp>
        <p:nvSpPr>
          <p:cNvPr id="50" name="TextBox 49"/>
          <p:cNvSpPr txBox="1"/>
          <p:nvPr/>
        </p:nvSpPr>
        <p:spPr>
          <a:xfrm>
            <a:off x="1115568" y="3913632"/>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4 PM Config Change</a:t>
            </a:r>
          </a:p>
        </p:txBody>
      </p:sp>
      <p:sp>
        <p:nvSpPr>
          <p:cNvPr id="51" name="TextBox 50"/>
          <p:cNvSpPr txBox="1"/>
          <p:nvPr/>
        </p:nvSpPr>
        <p:spPr>
          <a:xfrm>
            <a:off x="5321808" y="3913632"/>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banking</a:t>
            </a:r>
          </a:p>
        </p:txBody>
      </p:sp>
      <p:sp>
        <p:nvSpPr>
          <p:cNvPr id="52" name="TextBox 51"/>
          <p:cNvSpPr txBox="1"/>
          <p:nvPr/>
        </p:nvSpPr>
        <p:spPr>
          <a:xfrm>
            <a:off x="8065008" y="3913632"/>
            <a:ext cx="1682496" cy="310896"/>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change</a:t>
            </a:r>
          </a:p>
        </p:txBody>
      </p:sp>
      <p:sp>
        <p:nvSpPr>
          <p:cNvPr id="53" name="TextBox 52"/>
          <p:cNvSpPr txBox="1"/>
          <p:nvPr/>
        </p:nvSpPr>
        <p:spPr>
          <a:xfrm>
            <a:off x="9893808" y="3913632"/>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C2</a:t>
            </a:r>
          </a:p>
        </p:txBody>
      </p:sp>
      <p:sp>
        <p:nvSpPr>
          <p:cNvPr id="54" name="Rectangle 53"/>
          <p:cNvSpPr/>
          <p:nvPr/>
        </p:nvSpPr>
        <p:spPr>
          <a:xfrm>
            <a:off x="566928" y="4160520"/>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6928" y="4224528"/>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08</a:t>
            </a:r>
          </a:p>
        </p:txBody>
      </p:sp>
      <p:sp>
        <p:nvSpPr>
          <p:cNvPr id="56" name="TextBox 55"/>
          <p:cNvSpPr txBox="1"/>
          <p:nvPr/>
        </p:nvSpPr>
        <p:spPr>
          <a:xfrm>
            <a:off x="1115568" y="4224528"/>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Rotated Password</a:t>
            </a:r>
          </a:p>
        </p:txBody>
      </p:sp>
      <p:sp>
        <p:nvSpPr>
          <p:cNvPr id="57" name="TextBox 56"/>
          <p:cNvSpPr txBox="1"/>
          <p:nvPr/>
        </p:nvSpPr>
        <p:spPr>
          <a:xfrm>
            <a:off x="5321808" y="4224528"/>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ecommerce</a:t>
            </a:r>
          </a:p>
        </p:txBody>
      </p:sp>
      <p:sp>
        <p:nvSpPr>
          <p:cNvPr id="58" name="TextBox 57"/>
          <p:cNvSpPr txBox="1"/>
          <p:nvPr/>
        </p:nvSpPr>
        <p:spPr>
          <a:xfrm>
            <a:off x="8065008" y="4224528"/>
            <a:ext cx="1682496" cy="310896"/>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change</a:t>
            </a:r>
          </a:p>
        </p:txBody>
      </p:sp>
      <p:sp>
        <p:nvSpPr>
          <p:cNvPr id="59" name="TextBox 58"/>
          <p:cNvSpPr txBox="1"/>
          <p:nvPr/>
        </p:nvSpPr>
        <p:spPr>
          <a:xfrm>
            <a:off x="9893808" y="4224528"/>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C3</a:t>
            </a:r>
          </a:p>
        </p:txBody>
      </p:sp>
      <p:sp>
        <p:nvSpPr>
          <p:cNvPr id="60" name="Rectangle 59"/>
          <p:cNvSpPr/>
          <p:nvPr/>
        </p:nvSpPr>
        <p:spPr>
          <a:xfrm>
            <a:off x="566928" y="4471416"/>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66928" y="4535424"/>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09</a:t>
            </a:r>
          </a:p>
        </p:txBody>
      </p:sp>
      <p:sp>
        <p:nvSpPr>
          <p:cNvPr id="62" name="TextBox 61"/>
          <p:cNvSpPr txBox="1"/>
          <p:nvPr/>
        </p:nvSpPr>
        <p:spPr>
          <a:xfrm>
            <a:off x="1115568" y="4535424"/>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Green Dashboards, Angry Customers</a:t>
            </a:r>
          </a:p>
        </p:txBody>
      </p:sp>
      <p:sp>
        <p:nvSpPr>
          <p:cNvPr id="63" name="TextBox 62"/>
          <p:cNvSpPr txBox="1"/>
          <p:nvPr/>
        </p:nvSpPr>
        <p:spPr>
          <a:xfrm>
            <a:off x="5321808" y="4535424"/>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food-delivery</a:t>
            </a:r>
          </a:p>
        </p:txBody>
      </p:sp>
      <p:sp>
        <p:nvSpPr>
          <p:cNvPr id="64" name="TextBox 63"/>
          <p:cNvSpPr txBox="1"/>
          <p:nvPr/>
        </p:nvSpPr>
        <p:spPr>
          <a:xfrm>
            <a:off x="8065008" y="4535424"/>
            <a:ext cx="1682496" cy="310896"/>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change</a:t>
            </a:r>
          </a:p>
        </p:txBody>
      </p:sp>
      <p:sp>
        <p:nvSpPr>
          <p:cNvPr id="65" name="TextBox 64"/>
          <p:cNvSpPr txBox="1"/>
          <p:nvPr/>
        </p:nvSpPr>
        <p:spPr>
          <a:xfrm>
            <a:off x="9893808" y="4535424"/>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C4</a:t>
            </a:r>
          </a:p>
        </p:txBody>
      </p:sp>
      <p:sp>
        <p:nvSpPr>
          <p:cNvPr id="66" name="Rectangle 65"/>
          <p:cNvSpPr/>
          <p:nvPr/>
        </p:nvSpPr>
        <p:spPr>
          <a:xfrm>
            <a:off x="566928" y="4782312"/>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6928" y="4846320"/>
            <a:ext cx="4023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10</a:t>
            </a:r>
          </a:p>
        </p:txBody>
      </p:sp>
      <p:sp>
        <p:nvSpPr>
          <p:cNvPr id="68" name="TextBox 67"/>
          <p:cNvSpPr txBox="1"/>
          <p:nvPr/>
        </p:nvSpPr>
        <p:spPr>
          <a:xfrm>
            <a:off x="1115568" y="4846320"/>
            <a:ext cx="405993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Tightened Limit</a:t>
            </a:r>
          </a:p>
        </p:txBody>
      </p:sp>
      <p:sp>
        <p:nvSpPr>
          <p:cNvPr id="69" name="TextBox 68"/>
          <p:cNvSpPr txBox="1"/>
          <p:nvPr/>
        </p:nvSpPr>
        <p:spPr>
          <a:xfrm>
            <a:off x="5321808" y="4846320"/>
            <a:ext cx="259689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support-tickets</a:t>
            </a:r>
          </a:p>
        </p:txBody>
      </p:sp>
      <p:sp>
        <p:nvSpPr>
          <p:cNvPr id="70" name="TextBox 69"/>
          <p:cNvSpPr txBox="1"/>
          <p:nvPr/>
        </p:nvSpPr>
        <p:spPr>
          <a:xfrm>
            <a:off x="8065008" y="4846320"/>
            <a:ext cx="1682496" cy="310896"/>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change</a:t>
            </a:r>
          </a:p>
        </p:txBody>
      </p:sp>
      <p:sp>
        <p:nvSpPr>
          <p:cNvPr id="71" name="TextBox 70"/>
          <p:cNvSpPr txBox="1"/>
          <p:nvPr/>
        </p:nvSpPr>
        <p:spPr>
          <a:xfrm>
            <a:off x="9893808" y="4846320"/>
            <a:ext cx="1591056" cy="310896"/>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C5</a:t>
            </a:r>
          </a:p>
        </p:txBody>
      </p:sp>
      <p:sp>
        <p:nvSpPr>
          <p:cNvPr id="72" name="Rectangle 71"/>
          <p:cNvSpPr/>
          <p:nvPr/>
        </p:nvSpPr>
        <p:spPr>
          <a:xfrm>
            <a:off x="566928" y="509320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66928" y="5340096"/>
            <a:ext cx="11064240" cy="365760"/>
          </a:xfrm>
          <a:prstGeom prst="rect">
            <a:avLst/>
          </a:prstGeom>
          <a:noFill/>
        </p:spPr>
        <p:txBody>
          <a:bodyPr wrap="square" lIns="0" rIns="0" tIns="0" bIns="0">
            <a:spAutoFit/>
          </a:bodyPr>
          <a:lstStyle/>
          <a:p>
            <a:pPr>
              <a:spcBef>
                <a:spcPts val="0"/>
              </a:spcBef>
              <a:spcAft>
                <a:spcPts val="0"/>
              </a:spcAft>
            </a:pPr>
            <a:r>
              <a:rPr sz="1100" b="0" i="1">
                <a:solidFill>
                  <a:srgbClr val="5B6B73"/>
                </a:solidFill>
                <a:latin typeface="Segoe UI"/>
              </a:rPr>
              <a:t>The answer key gives every one of them a DevOps walkthrough and an SRE walkthrough. Work them without reading it first.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A running order that builds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Roughly 20 to 30 minutes each, with discussion.</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42</a:t>
            </a:r>
          </a:p>
        </p:txBody>
      </p:sp>
      <p:sp>
        <p:nvSpPr>
          <p:cNvPr id="7" name="TextBox 6"/>
          <p:cNvSpPr txBox="1"/>
          <p:nvPr/>
        </p:nvSpPr>
        <p:spPr>
          <a:xfrm>
            <a:off x="566928" y="1682496"/>
            <a:ext cx="54864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
            </a:r>
          </a:p>
        </p:txBody>
      </p:sp>
      <p:sp>
        <p:nvSpPr>
          <p:cNvPr id="8" name="TextBox 7"/>
          <p:cNvSpPr txBox="1"/>
          <p:nvPr/>
        </p:nvSpPr>
        <p:spPr>
          <a:xfrm>
            <a:off x="1115568" y="1682496"/>
            <a:ext cx="329184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RUN</a:t>
            </a:r>
          </a:p>
        </p:txBody>
      </p:sp>
      <p:sp>
        <p:nvSpPr>
          <p:cNvPr id="9" name="TextBox 8"/>
          <p:cNvSpPr txBox="1"/>
          <p:nvPr/>
        </p:nvSpPr>
        <p:spPr>
          <a:xfrm>
            <a:off x="4407408" y="1682496"/>
            <a:ext cx="722376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WHY HERE</a:t>
            </a:r>
          </a:p>
        </p:txBody>
      </p:sp>
      <p:sp>
        <p:nvSpPr>
          <p:cNvPr id="10" name="Rectangle 9"/>
          <p:cNvSpPr/>
          <p:nvPr/>
        </p:nvSpPr>
        <p:spPr>
          <a:xfrm>
            <a:off x="566928" y="1965960"/>
            <a:ext cx="11064240" cy="12700"/>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048256"/>
            <a:ext cx="4023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1</a:t>
            </a:r>
          </a:p>
        </p:txBody>
      </p:sp>
      <p:sp>
        <p:nvSpPr>
          <p:cNvPr id="12" name="TextBox 11"/>
          <p:cNvSpPr txBox="1"/>
          <p:nvPr/>
        </p:nvSpPr>
        <p:spPr>
          <a:xfrm>
            <a:off x="1115568" y="2048256"/>
            <a:ext cx="31455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A1 on support-tickets</a:t>
            </a:r>
          </a:p>
        </p:txBody>
      </p:sp>
      <p:sp>
        <p:nvSpPr>
          <p:cNvPr id="13" name="TextBox 12"/>
          <p:cNvSpPr txBox="1"/>
          <p:nvPr/>
        </p:nvSpPr>
        <p:spPr>
          <a:xfrm>
            <a:off x="4407408" y="2048256"/>
            <a:ext cx="707745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Simplest app, cleanest signal. Teaches p95 vs average immediately</a:t>
            </a:r>
          </a:p>
        </p:txBody>
      </p:sp>
      <p:sp>
        <p:nvSpPr>
          <p:cNvPr id="14" name="Rectangle 13"/>
          <p:cNvSpPr/>
          <p:nvPr/>
        </p:nvSpPr>
        <p:spPr>
          <a:xfrm>
            <a:off x="566928" y="244144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05456"/>
            <a:ext cx="4023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2</a:t>
            </a:r>
          </a:p>
        </p:txBody>
      </p:sp>
      <p:sp>
        <p:nvSpPr>
          <p:cNvPr id="16" name="TextBox 15"/>
          <p:cNvSpPr txBox="1"/>
          <p:nvPr/>
        </p:nvSpPr>
        <p:spPr>
          <a:xfrm>
            <a:off x="1115568" y="2505456"/>
            <a:ext cx="31455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A5 on banking</a:t>
            </a:r>
          </a:p>
        </p:txBody>
      </p:sp>
      <p:sp>
        <p:nvSpPr>
          <p:cNvPr id="17" name="TextBox 16"/>
          <p:cNvSpPr txBox="1"/>
          <p:nvPr/>
        </p:nvSpPr>
        <p:spPr>
          <a:xfrm>
            <a:off x="4407408" y="2505456"/>
            <a:ext cx="707745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Running vs Ready — the most-asked interview question</a:t>
            </a:r>
          </a:p>
        </p:txBody>
      </p:sp>
      <p:sp>
        <p:nvSpPr>
          <p:cNvPr id="18" name="Rectangle 17"/>
          <p:cNvSpPr/>
          <p:nvPr/>
        </p:nvSpPr>
        <p:spPr>
          <a:xfrm>
            <a:off x="566928" y="289864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962656"/>
            <a:ext cx="4023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3</a:t>
            </a:r>
          </a:p>
        </p:txBody>
      </p:sp>
      <p:sp>
        <p:nvSpPr>
          <p:cNvPr id="20" name="TextBox 19"/>
          <p:cNvSpPr txBox="1"/>
          <p:nvPr/>
        </p:nvSpPr>
        <p:spPr>
          <a:xfrm>
            <a:off x="1115568" y="2962656"/>
            <a:ext cx="31455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A3 on support-tickets</a:t>
            </a:r>
          </a:p>
        </p:txBody>
      </p:sp>
      <p:sp>
        <p:nvSpPr>
          <p:cNvPr id="21" name="TextBox 20"/>
          <p:cNvSpPr txBox="1"/>
          <p:nvPr/>
        </p:nvSpPr>
        <p:spPr>
          <a:xfrm>
            <a:off x="4407408" y="2962656"/>
            <a:ext cx="707745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A self-healing incident; sets up the contrast for step 5</a:t>
            </a:r>
          </a:p>
        </p:txBody>
      </p:sp>
      <p:sp>
        <p:nvSpPr>
          <p:cNvPr id="22" name="Rectangle 21"/>
          <p:cNvSpPr/>
          <p:nvPr/>
        </p:nvSpPr>
        <p:spPr>
          <a:xfrm>
            <a:off x="566928" y="335584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419856"/>
            <a:ext cx="4023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4</a:t>
            </a:r>
          </a:p>
        </p:txBody>
      </p:sp>
      <p:sp>
        <p:nvSpPr>
          <p:cNvPr id="24" name="TextBox 23"/>
          <p:cNvSpPr txBox="1"/>
          <p:nvPr/>
        </p:nvSpPr>
        <p:spPr>
          <a:xfrm>
            <a:off x="1115568" y="3419856"/>
            <a:ext cx="31455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C2 on banking</a:t>
            </a:r>
          </a:p>
        </p:txBody>
      </p:sp>
      <p:sp>
        <p:nvSpPr>
          <p:cNvPr id="25" name="TextBox 24"/>
          <p:cNvSpPr txBox="1"/>
          <p:nvPr/>
        </p:nvSpPr>
        <p:spPr>
          <a:xfrm>
            <a:off x="4407408" y="3419856"/>
            <a:ext cx="707745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First change-driven one: “what changed?” before “what's broken?”</a:t>
            </a:r>
          </a:p>
        </p:txBody>
      </p:sp>
      <p:sp>
        <p:nvSpPr>
          <p:cNvPr id="26" name="Rectangle 25"/>
          <p:cNvSpPr/>
          <p:nvPr/>
        </p:nvSpPr>
        <p:spPr>
          <a:xfrm>
            <a:off x="566928" y="381304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877056"/>
            <a:ext cx="4023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5</a:t>
            </a:r>
          </a:p>
        </p:txBody>
      </p:sp>
      <p:sp>
        <p:nvSpPr>
          <p:cNvPr id="28" name="TextBox 27"/>
          <p:cNvSpPr txBox="1"/>
          <p:nvPr/>
        </p:nvSpPr>
        <p:spPr>
          <a:xfrm>
            <a:off x="1115568" y="3877056"/>
            <a:ext cx="31455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C5 on support-tickets</a:t>
            </a:r>
          </a:p>
        </p:txBody>
      </p:sp>
      <p:sp>
        <p:nvSpPr>
          <p:cNvPr id="29" name="TextBox 28"/>
          <p:cNvSpPr txBox="1"/>
          <p:nvPr/>
        </p:nvSpPr>
        <p:spPr>
          <a:xfrm>
            <a:off x="4407408" y="3877056"/>
            <a:ext cx="707745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Same OOMKill as step 3, opposite cause. The contrast IS the lesson</a:t>
            </a:r>
          </a:p>
        </p:txBody>
      </p:sp>
      <p:sp>
        <p:nvSpPr>
          <p:cNvPr id="30" name="Rectangle 29"/>
          <p:cNvSpPr/>
          <p:nvPr/>
        </p:nvSpPr>
        <p:spPr>
          <a:xfrm>
            <a:off x="566928" y="427024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334256"/>
            <a:ext cx="4023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6</a:t>
            </a:r>
          </a:p>
        </p:txBody>
      </p:sp>
      <p:sp>
        <p:nvSpPr>
          <p:cNvPr id="32" name="TextBox 31"/>
          <p:cNvSpPr txBox="1"/>
          <p:nvPr/>
        </p:nvSpPr>
        <p:spPr>
          <a:xfrm>
            <a:off x="1115568" y="4334256"/>
            <a:ext cx="314553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C4 on food-delivery</a:t>
            </a:r>
          </a:p>
        </p:txBody>
      </p:sp>
      <p:sp>
        <p:nvSpPr>
          <p:cNvPr id="33" name="TextBox 32"/>
          <p:cNvSpPr txBox="1"/>
          <p:nvPr/>
        </p:nvSpPr>
        <p:spPr>
          <a:xfrm>
            <a:off x="4407408" y="4334256"/>
            <a:ext cx="7077456" cy="45720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Finish here: total outage, every dashboard green</a:t>
            </a:r>
          </a:p>
        </p:txBody>
      </p:sp>
      <p:sp>
        <p:nvSpPr>
          <p:cNvPr id="34" name="Rectangle 33"/>
          <p:cNvSpPr/>
          <p:nvPr/>
        </p:nvSpPr>
        <p:spPr>
          <a:xfrm>
            <a:off x="566928" y="472744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Runbook example: the first ten minutes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Short, ordered, and written to be read by someone who did not build the service.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scenario 01-the-silent-checkout.md</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43</a:t>
            </a:r>
          </a:p>
        </p:txBody>
      </p:sp>
      <p:sp>
        <p:nvSpPr>
          <p:cNvPr id="7" name="Rectangle 6"/>
          <p:cNvSpPr/>
          <p:nvPr/>
        </p:nvSpPr>
        <p:spPr>
          <a:xfrm>
            <a:off x="566928" y="1682496"/>
            <a:ext cx="11064240" cy="4572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10625328" cy="164592"/>
          </a:xfrm>
          <a:prstGeom prst="rect">
            <a:avLst/>
          </a:prstGeom>
          <a:noFill/>
        </p:spPr>
        <p:txBody>
          <a:bodyPr wrap="square" lIns="0" rIns="0" tIns="0" bIns="0">
            <a:spAutoFit/>
          </a:bodyPr>
          <a:lstStyle/>
          <a:p>
            <a:pPr>
              <a:spcBef>
                <a:spcPts val="0"/>
              </a:spcBef>
              <a:spcAft>
                <a:spcPts val="400"/>
              </a:spcAft>
            </a:pPr>
            <a:r>
              <a:rPr sz="1200" b="0" i="0">
                <a:solidFill>
                  <a:srgbClr val="D7E3EA"/>
                </a:solidFill>
                <a:latin typeface="Segoe UI"/>
              </a:rPr>
              <a:t>docs/runbooks/high-latency.md</a:t>
            </a:r>
          </a:p>
        </p:txBody>
      </p:sp>
      <p:sp>
        <p:nvSpPr>
          <p:cNvPr id="9" name="Rectangle 8"/>
          <p:cNvSpPr/>
          <p:nvPr/>
        </p:nvSpPr>
        <p:spPr>
          <a:xfrm>
            <a:off x="566928" y="2322576"/>
            <a:ext cx="3200400" cy="31089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505456"/>
            <a:ext cx="2743200" cy="228600"/>
          </a:xfrm>
          <a:prstGeom prst="rect">
            <a:avLst/>
          </a:prstGeom>
          <a:noFill/>
        </p:spPr>
        <p:txBody>
          <a:bodyPr wrap="square" lIns="0" rIns="0" tIns="0" bIns="0">
            <a:spAutoFit/>
          </a:bodyPr>
          <a:lstStyle/>
          <a:p>
            <a:pPr>
              <a:spcBef>
                <a:spcPts val="0"/>
              </a:spcBef>
              <a:spcAft>
                <a:spcPts val="0"/>
              </a:spcAft>
            </a:pPr>
            <a:r>
              <a:rPr sz="900" b="1" i="0">
                <a:solidFill>
                  <a:srgbClr val="1F7A99"/>
                </a:solidFill>
                <a:latin typeface="Segoe UI"/>
              </a:rPr>
              <a:t>TRIGGER</a:t>
            </a:r>
          </a:p>
        </p:txBody>
      </p:sp>
      <p:sp>
        <p:nvSpPr>
          <p:cNvPr id="11" name="TextBox 10"/>
          <p:cNvSpPr txBox="1"/>
          <p:nvPr/>
        </p:nvSpPr>
        <p:spPr>
          <a:xfrm>
            <a:off x="795528" y="2706624"/>
            <a:ext cx="274320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Ecommerce checkout p95 above 2s for 5 minutes</a:t>
            </a:r>
          </a:p>
        </p:txBody>
      </p:sp>
      <p:sp>
        <p:nvSpPr>
          <p:cNvPr id="12" name="TextBox 11"/>
          <p:cNvSpPr txBox="1"/>
          <p:nvPr/>
        </p:nvSpPr>
        <p:spPr>
          <a:xfrm>
            <a:off x="795528" y="3008376"/>
            <a:ext cx="2743200" cy="228600"/>
          </a:xfrm>
          <a:prstGeom prst="rect">
            <a:avLst/>
          </a:prstGeom>
          <a:noFill/>
        </p:spPr>
        <p:txBody>
          <a:bodyPr wrap="square" lIns="0" rIns="0" tIns="0" bIns="0">
            <a:spAutoFit/>
          </a:bodyPr>
          <a:lstStyle/>
          <a:p>
            <a:pPr>
              <a:spcBef>
                <a:spcPts val="0"/>
              </a:spcBef>
              <a:spcAft>
                <a:spcPts val="0"/>
              </a:spcAft>
            </a:pPr>
            <a:r>
              <a:rPr sz="900" b="1" i="0">
                <a:solidFill>
                  <a:srgbClr val="1F7A99"/>
                </a:solidFill>
                <a:latin typeface="Segoe UI"/>
              </a:rPr>
              <a:t>SEVERITY</a:t>
            </a:r>
          </a:p>
        </p:txBody>
      </p:sp>
      <p:sp>
        <p:nvSpPr>
          <p:cNvPr id="13" name="TextBox 12"/>
          <p:cNvSpPr txBox="1"/>
          <p:nvPr/>
        </p:nvSpPr>
        <p:spPr>
          <a:xfrm>
            <a:off x="795528" y="3209544"/>
            <a:ext cx="274320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SEV2</a:t>
            </a:r>
          </a:p>
        </p:txBody>
      </p:sp>
      <p:sp>
        <p:nvSpPr>
          <p:cNvPr id="14" name="TextBox 13"/>
          <p:cNvSpPr txBox="1"/>
          <p:nvPr/>
        </p:nvSpPr>
        <p:spPr>
          <a:xfrm>
            <a:off x="795528" y="3511296"/>
            <a:ext cx="2743200" cy="228600"/>
          </a:xfrm>
          <a:prstGeom prst="rect">
            <a:avLst/>
          </a:prstGeom>
          <a:noFill/>
        </p:spPr>
        <p:txBody>
          <a:bodyPr wrap="square" lIns="0" rIns="0" tIns="0" bIns="0">
            <a:spAutoFit/>
          </a:bodyPr>
          <a:lstStyle/>
          <a:p>
            <a:pPr>
              <a:spcBef>
                <a:spcPts val="0"/>
              </a:spcBef>
              <a:spcAft>
                <a:spcPts val="0"/>
              </a:spcAft>
            </a:pPr>
            <a:r>
              <a:rPr sz="900" b="1" i="0">
                <a:solidFill>
                  <a:srgbClr val="1F7A99"/>
                </a:solidFill>
                <a:latin typeface="Segoe UI"/>
              </a:rPr>
              <a:t>USER IMPACT</a:t>
            </a:r>
          </a:p>
        </p:txBody>
      </p:sp>
      <p:sp>
        <p:nvSpPr>
          <p:cNvPr id="15" name="TextBox 14"/>
          <p:cNvSpPr txBox="1"/>
          <p:nvPr/>
        </p:nvSpPr>
        <p:spPr>
          <a:xfrm>
            <a:off x="795528" y="3712464"/>
            <a:ext cx="274320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Checkout hangs, carts get abandoned</a:t>
            </a:r>
          </a:p>
        </p:txBody>
      </p:sp>
      <p:sp>
        <p:nvSpPr>
          <p:cNvPr id="16" name="TextBox 15"/>
          <p:cNvSpPr txBox="1"/>
          <p:nvPr/>
        </p:nvSpPr>
        <p:spPr>
          <a:xfrm>
            <a:off x="795528" y="4014216"/>
            <a:ext cx="2743200" cy="228600"/>
          </a:xfrm>
          <a:prstGeom prst="rect">
            <a:avLst/>
          </a:prstGeom>
          <a:noFill/>
        </p:spPr>
        <p:txBody>
          <a:bodyPr wrap="square" lIns="0" rIns="0" tIns="0" bIns="0">
            <a:spAutoFit/>
          </a:bodyPr>
          <a:lstStyle/>
          <a:p>
            <a:pPr>
              <a:spcBef>
                <a:spcPts val="0"/>
              </a:spcBef>
              <a:spcAft>
                <a:spcPts val="0"/>
              </a:spcAft>
            </a:pPr>
            <a:r>
              <a:rPr sz="900" b="1" i="0">
                <a:solidFill>
                  <a:srgbClr val="1F7A99"/>
                </a:solidFill>
                <a:latin typeface="Segoe UI"/>
              </a:rPr>
              <a:t>PRIMARY</a:t>
            </a:r>
          </a:p>
        </p:txBody>
      </p:sp>
      <p:sp>
        <p:nvSpPr>
          <p:cNvPr id="17" name="TextBox 16"/>
          <p:cNvSpPr txBox="1"/>
          <p:nvPr/>
        </p:nvSpPr>
        <p:spPr>
          <a:xfrm>
            <a:off x="795528" y="4215384"/>
            <a:ext cx="274320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Ecommerce service owner</a:t>
            </a:r>
          </a:p>
        </p:txBody>
      </p:sp>
      <p:sp>
        <p:nvSpPr>
          <p:cNvPr id="18" name="TextBox 17"/>
          <p:cNvSpPr txBox="1"/>
          <p:nvPr/>
        </p:nvSpPr>
        <p:spPr>
          <a:xfrm>
            <a:off x="795528" y="4517136"/>
            <a:ext cx="2743200" cy="228600"/>
          </a:xfrm>
          <a:prstGeom prst="rect">
            <a:avLst/>
          </a:prstGeom>
          <a:noFill/>
        </p:spPr>
        <p:txBody>
          <a:bodyPr wrap="square" lIns="0" rIns="0" tIns="0" bIns="0">
            <a:spAutoFit/>
          </a:bodyPr>
          <a:lstStyle/>
          <a:p>
            <a:pPr>
              <a:spcBef>
                <a:spcPts val="0"/>
              </a:spcBef>
              <a:spcAft>
                <a:spcPts val="0"/>
              </a:spcAft>
            </a:pPr>
            <a:r>
              <a:rPr sz="900" b="1" i="0">
                <a:solidFill>
                  <a:srgbClr val="1F7A99"/>
                </a:solidFill>
                <a:latin typeface="Segoe UI"/>
              </a:rPr>
              <a:t>SECONDARY</a:t>
            </a:r>
          </a:p>
        </p:txBody>
      </p:sp>
      <p:sp>
        <p:nvSpPr>
          <p:cNvPr id="19" name="TextBox 18"/>
          <p:cNvSpPr txBox="1"/>
          <p:nvPr/>
        </p:nvSpPr>
        <p:spPr>
          <a:xfrm>
            <a:off x="795528" y="4718304"/>
            <a:ext cx="274320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Platform on call</a:t>
            </a:r>
          </a:p>
        </p:txBody>
      </p:sp>
      <p:sp>
        <p:nvSpPr>
          <p:cNvPr id="20" name="TextBox 19"/>
          <p:cNvSpPr txBox="1"/>
          <p:nvPr/>
        </p:nvSpPr>
        <p:spPr>
          <a:xfrm>
            <a:off x="795528" y="5020056"/>
            <a:ext cx="2743200" cy="228600"/>
          </a:xfrm>
          <a:prstGeom prst="rect">
            <a:avLst/>
          </a:prstGeom>
          <a:noFill/>
        </p:spPr>
        <p:txBody>
          <a:bodyPr wrap="square" lIns="0" rIns="0" tIns="0" bIns="0">
            <a:spAutoFit/>
          </a:bodyPr>
          <a:lstStyle/>
          <a:p>
            <a:pPr>
              <a:spcBef>
                <a:spcPts val="0"/>
              </a:spcBef>
              <a:spcAft>
                <a:spcPts val="0"/>
              </a:spcAft>
            </a:pPr>
            <a:r>
              <a:rPr sz="900" b="1" i="0">
                <a:solidFill>
                  <a:srgbClr val="1F7A99"/>
                </a:solidFill>
                <a:latin typeface="Segoe UI"/>
              </a:rPr>
              <a:t>DASHBOARD</a:t>
            </a:r>
          </a:p>
        </p:txBody>
      </p:sp>
      <p:sp>
        <p:nvSpPr>
          <p:cNvPr id="21" name="TextBox 20"/>
          <p:cNvSpPr txBox="1"/>
          <p:nvPr/>
        </p:nvSpPr>
        <p:spPr>
          <a:xfrm>
            <a:off x="795528" y="5221224"/>
            <a:ext cx="2743200" cy="27432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SRE Lab · Ecommerce</a:t>
            </a:r>
          </a:p>
        </p:txBody>
      </p:sp>
      <p:sp>
        <p:nvSpPr>
          <p:cNvPr id="22" name="Rectangle 21"/>
          <p:cNvSpPr/>
          <p:nvPr/>
        </p:nvSpPr>
        <p:spPr>
          <a:xfrm>
            <a:off x="4041648" y="2322576"/>
            <a:ext cx="7589520" cy="548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41648" y="2322576"/>
            <a:ext cx="44450" cy="54864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9392" y="2459736"/>
            <a:ext cx="685800" cy="548640"/>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1</a:t>
            </a:r>
          </a:p>
        </p:txBody>
      </p:sp>
      <p:sp>
        <p:nvSpPr>
          <p:cNvPr id="25" name="TextBox 24"/>
          <p:cNvSpPr txBox="1"/>
          <p:nvPr/>
        </p:nvSpPr>
        <p:spPr>
          <a:xfrm>
            <a:off x="4892040" y="2386584"/>
            <a:ext cx="2743200" cy="5486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Confirm real users are affected</a:t>
            </a:r>
          </a:p>
        </p:txBody>
      </p:sp>
      <p:sp>
        <p:nvSpPr>
          <p:cNvPr id="26" name="TextBox 25"/>
          <p:cNvSpPr txBox="1"/>
          <p:nvPr/>
        </p:nvSpPr>
        <p:spPr>
          <a:xfrm>
            <a:off x="7744968" y="2414016"/>
            <a:ext cx="3703320" cy="54864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Open the checkout widget, then try the flow yourself.</a:t>
            </a:r>
          </a:p>
        </p:txBody>
      </p:sp>
      <p:sp>
        <p:nvSpPr>
          <p:cNvPr id="27" name="Rectangle 26"/>
          <p:cNvSpPr/>
          <p:nvPr/>
        </p:nvSpPr>
        <p:spPr>
          <a:xfrm>
            <a:off x="4041648" y="2944368"/>
            <a:ext cx="7589520" cy="548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41648" y="2944368"/>
            <a:ext cx="44450" cy="54864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79392" y="3081528"/>
            <a:ext cx="685800" cy="548640"/>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2</a:t>
            </a:r>
          </a:p>
        </p:txBody>
      </p:sp>
      <p:sp>
        <p:nvSpPr>
          <p:cNvPr id="30" name="TextBox 29"/>
          <p:cNvSpPr txBox="1"/>
          <p:nvPr/>
        </p:nvSpPr>
        <p:spPr>
          <a:xfrm>
            <a:off x="4892040" y="3008376"/>
            <a:ext cx="2743200" cy="5486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Scope it</a:t>
            </a:r>
          </a:p>
        </p:txBody>
      </p:sp>
      <p:sp>
        <p:nvSpPr>
          <p:cNvPr id="31" name="TextBox 30"/>
          <p:cNvSpPr txBox="1"/>
          <p:nvPr/>
        </p:nvSpPr>
        <p:spPr>
          <a:xfrm>
            <a:off x="7744968" y="3035808"/>
            <a:ext cx="3703320" cy="54864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One endpoint or all of them? One pod, or every pod?</a:t>
            </a:r>
          </a:p>
        </p:txBody>
      </p:sp>
      <p:sp>
        <p:nvSpPr>
          <p:cNvPr id="32" name="Rectangle 31"/>
          <p:cNvSpPr/>
          <p:nvPr/>
        </p:nvSpPr>
        <p:spPr>
          <a:xfrm>
            <a:off x="4041648" y="3566160"/>
            <a:ext cx="7589520" cy="548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041648" y="3566160"/>
            <a:ext cx="44450" cy="54864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79392" y="3703320"/>
            <a:ext cx="685800" cy="548640"/>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3</a:t>
            </a:r>
          </a:p>
        </p:txBody>
      </p:sp>
      <p:sp>
        <p:nvSpPr>
          <p:cNvPr id="35" name="TextBox 34"/>
          <p:cNvSpPr txBox="1"/>
          <p:nvPr/>
        </p:nvSpPr>
        <p:spPr>
          <a:xfrm>
            <a:off x="4892040" y="3630168"/>
            <a:ext cx="2743200" cy="5486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Go to APM before kubectl</a:t>
            </a:r>
          </a:p>
        </p:txBody>
      </p:sp>
      <p:sp>
        <p:nvSpPr>
          <p:cNvPr id="36" name="TextBox 35"/>
          <p:cNvSpPr txBox="1"/>
          <p:nvPr/>
        </p:nvSpPr>
        <p:spPr>
          <a:xfrm>
            <a:off x="7744968" y="3657600"/>
            <a:ext cx="3703320" cy="54864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Which span owns the time: browser, backend, or Postgres?</a:t>
            </a:r>
          </a:p>
        </p:txBody>
      </p:sp>
      <p:sp>
        <p:nvSpPr>
          <p:cNvPr id="37" name="Rectangle 36"/>
          <p:cNvSpPr/>
          <p:nvPr/>
        </p:nvSpPr>
        <p:spPr>
          <a:xfrm>
            <a:off x="4041648" y="4187952"/>
            <a:ext cx="7589520" cy="548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041648" y="4187952"/>
            <a:ext cx="44450" cy="54864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79392" y="4325112"/>
            <a:ext cx="685800" cy="548640"/>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4</a:t>
            </a:r>
          </a:p>
        </p:txBody>
      </p:sp>
      <p:sp>
        <p:nvSpPr>
          <p:cNvPr id="40" name="TextBox 39"/>
          <p:cNvSpPr txBox="1"/>
          <p:nvPr/>
        </p:nvSpPr>
        <p:spPr>
          <a:xfrm>
            <a:off x="4892040" y="4251960"/>
            <a:ext cx="2743200" cy="5486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Check the dependencies</a:t>
            </a:r>
          </a:p>
        </p:txBody>
      </p:sp>
      <p:sp>
        <p:nvSpPr>
          <p:cNvPr id="41" name="TextBox 40"/>
          <p:cNvSpPr txBox="1"/>
          <p:nvPr/>
        </p:nvSpPr>
        <p:spPr>
          <a:xfrm>
            <a:off x="7744968" y="4279392"/>
            <a:ext cx="3703320" cy="54864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RDS connections first, then Redis if the app uses it.</a:t>
            </a:r>
          </a:p>
        </p:txBody>
      </p:sp>
      <p:sp>
        <p:nvSpPr>
          <p:cNvPr id="42" name="Rectangle 41"/>
          <p:cNvSpPr/>
          <p:nvPr/>
        </p:nvSpPr>
        <p:spPr>
          <a:xfrm>
            <a:off x="4041648" y="4809744"/>
            <a:ext cx="7589520" cy="5486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041648" y="4809744"/>
            <a:ext cx="44450" cy="54864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79392" y="4946904"/>
            <a:ext cx="685800" cy="548640"/>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5</a:t>
            </a:r>
          </a:p>
        </p:txBody>
      </p:sp>
      <p:sp>
        <p:nvSpPr>
          <p:cNvPr id="45" name="TextBox 44"/>
          <p:cNvSpPr txBox="1"/>
          <p:nvPr/>
        </p:nvSpPr>
        <p:spPr>
          <a:xfrm>
            <a:off x="4892040" y="4873752"/>
            <a:ext cx="2743200" cy="5486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Read one slow trace end to end</a:t>
            </a:r>
          </a:p>
        </p:txBody>
      </p:sp>
      <p:sp>
        <p:nvSpPr>
          <p:cNvPr id="46" name="TextBox 45"/>
          <p:cNvSpPr txBox="1"/>
          <p:nvPr/>
        </p:nvSpPr>
        <p:spPr>
          <a:xfrm>
            <a:off x="7744968" y="4901184"/>
            <a:ext cx="3703320" cy="548640"/>
          </a:xfrm>
          <a:prstGeom prst="rect">
            <a:avLst/>
          </a:prstGeom>
          <a:noFill/>
        </p:spPr>
        <p:txBody>
          <a:bodyPr wrap="square" lIns="0" rIns="0" tIns="0" bIns="0">
            <a:spAutoFit/>
          </a:bodyPr>
          <a:lstStyle/>
          <a:p>
            <a:pPr>
              <a:spcBef>
                <a:spcPts val="0"/>
              </a:spcBef>
              <a:spcAft>
                <a:spcPts val="0"/>
              </a:spcAft>
            </a:pPr>
            <a:r>
              <a:rPr sz="1050" b="0" i="0">
                <a:solidFill>
                  <a:srgbClr val="5B6B73"/>
                </a:solidFill>
                <a:latin typeface="Segoe UI"/>
              </a:rPr>
              <a:t>Then open the log line for that trace id. Do not guess.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Runbook example: decide, escalate, close</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The part most runbooks are missing: what to do once you know something.</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44</a:t>
            </a:r>
          </a:p>
        </p:txBody>
      </p:sp>
      <p:sp>
        <p:nvSpPr>
          <p:cNvPr id="7" name="Rectangle 6"/>
          <p:cNvSpPr/>
          <p:nvPr/>
        </p:nvSpPr>
        <p:spPr>
          <a:xfrm>
            <a:off x="566928" y="1682496"/>
            <a:ext cx="6766560" cy="11887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95528" y="1901952"/>
            <a:ext cx="146304" cy="146304"/>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810512"/>
            <a:ext cx="6035040" cy="3200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A recent change or an injected fault explains it</a:t>
            </a:r>
          </a:p>
        </p:txBody>
      </p:sp>
      <p:sp>
        <p:nvSpPr>
          <p:cNvPr id="10" name="TextBox 9"/>
          <p:cNvSpPr txBox="1"/>
          <p:nvPr/>
        </p:nvSpPr>
        <p:spPr>
          <a:xfrm>
            <a:off x="1069848" y="2157984"/>
            <a:ext cx="6035040" cy="457200"/>
          </a:xfrm>
          <a:prstGeom prst="rect">
            <a:avLst/>
          </a:prstGeom>
          <a:noFill/>
        </p:spPr>
        <p:txBody>
          <a:bodyPr wrap="square" lIns="0" rIns="0" tIns="0" bIns="0">
            <a:spAutoFit/>
          </a:bodyPr>
          <a:lstStyle/>
          <a:p>
            <a:pPr>
              <a:spcBef>
                <a:spcPts val="0"/>
              </a:spcBef>
              <a:spcAft>
                <a:spcPts val="0"/>
              </a:spcAft>
            </a:pPr>
            <a:r>
              <a:rPr sz="1100" b="0" i="0">
                <a:solidFill>
                  <a:srgbClr val="17262E"/>
                </a:solidFill>
                <a:latin typeface="Segoe UI"/>
              </a:rPr>
              <a:t>Undo it first, diagnose afterwards. Re-check p95 within five minutes.</a:t>
            </a:r>
          </a:p>
        </p:txBody>
      </p:sp>
      <p:sp>
        <p:nvSpPr>
          <p:cNvPr id="11" name="Rectangle 10"/>
          <p:cNvSpPr/>
          <p:nvPr/>
        </p:nvSpPr>
        <p:spPr>
          <a:xfrm>
            <a:off x="1069848" y="2523744"/>
            <a:ext cx="384048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2651760"/>
            <a:ext cx="3474720" cy="228600"/>
          </a:xfrm>
          <a:prstGeom prst="rect">
            <a:avLst/>
          </a:prstGeom>
          <a:noFill/>
        </p:spPr>
        <p:txBody>
          <a:bodyPr wrap="square" lIns="0" rIns="0" tIns="0" bIns="0">
            <a:spAutoFit/>
          </a:bodyPr>
          <a:lstStyle/>
          <a:p>
            <a:pPr>
              <a:spcBef>
                <a:spcPts val="0"/>
              </a:spcBef>
              <a:spcAft>
                <a:spcPts val="200"/>
              </a:spcAft>
            </a:pPr>
            <a:r>
              <a:rPr sz="1000" b="0" i="0">
                <a:solidFill>
                  <a:srgbClr val="D7E3EA"/>
                </a:solidFill>
                <a:latin typeface="Consolas"/>
              </a:rPr>
              <a:t>./scripts/chaos/reset.sh ecommerce</a:t>
            </a:r>
          </a:p>
        </p:txBody>
      </p:sp>
      <p:sp>
        <p:nvSpPr>
          <p:cNvPr id="13" name="Rectangle 12"/>
          <p:cNvSpPr/>
          <p:nvPr/>
        </p:nvSpPr>
        <p:spPr>
          <a:xfrm>
            <a:off x="566928" y="3008376"/>
            <a:ext cx="6766560" cy="10058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5528" y="3227832"/>
            <a:ext cx="146304" cy="146304"/>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3136392"/>
            <a:ext cx="6035040" cy="3200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A dependency is unhealthy</a:t>
            </a:r>
          </a:p>
        </p:txBody>
      </p:sp>
      <p:sp>
        <p:nvSpPr>
          <p:cNvPr id="16" name="TextBox 15"/>
          <p:cNvSpPr txBox="1"/>
          <p:nvPr/>
        </p:nvSpPr>
        <p:spPr>
          <a:xfrm>
            <a:off x="1069848" y="3483864"/>
            <a:ext cx="6035040" cy="457200"/>
          </a:xfrm>
          <a:prstGeom prst="rect">
            <a:avLst/>
          </a:prstGeom>
          <a:noFill/>
        </p:spPr>
        <p:txBody>
          <a:bodyPr wrap="square" lIns="0" rIns="0" tIns="0" bIns="0">
            <a:spAutoFit/>
          </a:bodyPr>
          <a:lstStyle/>
          <a:p>
            <a:pPr>
              <a:spcBef>
                <a:spcPts val="0"/>
              </a:spcBef>
              <a:spcAft>
                <a:spcPts val="0"/>
              </a:spcAft>
            </a:pPr>
            <a:r>
              <a:rPr sz="1100" b="0" i="0">
                <a:solidFill>
                  <a:srgbClr val="17262E"/>
                </a:solidFill>
                <a:latin typeface="Segoe UI"/>
              </a:rPr>
              <a:t>If /readyz is failing, the pod has already left the Service. Check RDS connections and the credentials Secret.</a:t>
            </a:r>
          </a:p>
        </p:txBody>
      </p:sp>
      <p:sp>
        <p:nvSpPr>
          <p:cNvPr id="17" name="Rectangle 16"/>
          <p:cNvSpPr/>
          <p:nvPr/>
        </p:nvSpPr>
        <p:spPr>
          <a:xfrm>
            <a:off x="566928" y="4334256"/>
            <a:ext cx="6766560" cy="10058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95528" y="4553712"/>
            <a:ext cx="146304" cy="146304"/>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4462272"/>
            <a:ext cx="6035040" cy="3200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Neither, fifteen minutes in</a:t>
            </a:r>
          </a:p>
        </p:txBody>
      </p:sp>
      <p:sp>
        <p:nvSpPr>
          <p:cNvPr id="20" name="TextBox 19"/>
          <p:cNvSpPr txBox="1"/>
          <p:nvPr/>
        </p:nvSpPr>
        <p:spPr>
          <a:xfrm>
            <a:off x="1069848" y="4809744"/>
            <a:ext cx="6035040" cy="457200"/>
          </a:xfrm>
          <a:prstGeom prst="rect">
            <a:avLst/>
          </a:prstGeom>
          <a:noFill/>
        </p:spPr>
        <p:txBody>
          <a:bodyPr wrap="square" lIns="0" rIns="0" tIns="0" bIns="0">
            <a:spAutoFit/>
          </a:bodyPr>
          <a:lstStyle/>
          <a:p>
            <a:pPr>
              <a:spcBef>
                <a:spcPts val="0"/>
              </a:spcBef>
              <a:spcAft>
                <a:spcPts val="0"/>
              </a:spcAft>
            </a:pPr>
            <a:r>
              <a:rPr sz="1100" b="0" i="0">
                <a:solidFill>
                  <a:srgbClr val="17262E"/>
                </a:solidFill>
                <a:latin typeface="Segoe UI"/>
              </a:rPr>
              <a:t>Escalate to the service owner and declare an incident. Do not keep digging on your own.</a:t>
            </a:r>
          </a:p>
        </p:txBody>
      </p:sp>
      <p:sp>
        <p:nvSpPr>
          <p:cNvPr id="21" name="Rectangle 20"/>
          <p:cNvSpPr/>
          <p:nvPr/>
        </p:nvSpPr>
        <p:spPr>
          <a:xfrm>
            <a:off x="7607808" y="1682496"/>
            <a:ext cx="4023360" cy="18288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7264" y="1837944"/>
            <a:ext cx="3584448" cy="1536192"/>
          </a:xfrm>
          <a:prstGeom prst="rect">
            <a:avLst/>
          </a:prstGeom>
          <a:noFill/>
        </p:spPr>
        <p:txBody>
          <a:bodyPr wrap="square" lIns="0" rIns="0" tIns="0" bIns="0">
            <a:spAutoFit/>
          </a:bodyPr>
          <a:lstStyle/>
          <a:p>
            <a:pPr>
              <a:spcBef>
                <a:spcPts val="0"/>
              </a:spcBef>
              <a:spcAft>
                <a:spcPts val="600"/>
              </a:spcAft>
            </a:pPr>
            <a:r>
              <a:rPr sz="1000" b="1" i="0">
                <a:solidFill>
                  <a:srgbClr val="D1495B"/>
                </a:solidFill>
                <a:latin typeface="Segoe UI"/>
              </a:rPr>
              <a:t>DO NOT</a:t>
            </a:r>
          </a:p>
          <a:p>
            <a:pPr>
              <a:spcBef>
                <a:spcPts val="0"/>
              </a:spcBef>
              <a:spcAft>
                <a:spcPts val="400"/>
              </a:spcAft>
            </a:pPr>
            <a:r>
              <a:rPr sz="1100" b="0" i="0">
                <a:solidFill>
                  <a:srgbClr val="9FB3BD"/>
                </a:solidFill>
                <a:latin typeface="Segoe UI"/>
              </a:rPr>
              <a:t>Delete the pod before you have captured a slow trace. You delete the evidence.</a:t>
            </a:r>
          </a:p>
          <a:p>
            <a:pPr>
              <a:spcBef>
                <a:spcPts val="0"/>
              </a:spcBef>
              <a:spcAft>
                <a:spcPts val="400"/>
              </a:spcAft>
            </a:pPr>
            <a:r>
              <a:rPr sz="1100" b="0" i="0">
                <a:solidFill>
                  <a:srgbClr val="9FB3BD"/>
                </a:solidFill>
                <a:latin typeface="Segoe UI"/>
              </a:rPr>
              <a:t>Silence the monitor.</a:t>
            </a:r>
          </a:p>
          <a:p>
            <a:pPr>
              <a:spcBef>
                <a:spcPts val="0"/>
              </a:spcBef>
              <a:spcAft>
                <a:spcPts val="400"/>
              </a:spcAft>
            </a:pPr>
            <a:r>
              <a:rPr sz="1100" b="0" i="0">
                <a:solidFill>
                  <a:srgbClr val="9FB3BD"/>
                </a:solidFill>
                <a:latin typeface="Segoe UI"/>
              </a:rPr>
              <a:t>Fix it and walk away without writing down the timeline.</a:t>
            </a:r>
          </a:p>
        </p:txBody>
      </p:sp>
      <p:sp>
        <p:nvSpPr>
          <p:cNvPr id="23" name="Rectangle 22"/>
          <p:cNvSpPr/>
          <p:nvPr/>
        </p:nvSpPr>
        <p:spPr>
          <a:xfrm>
            <a:off x="7607808" y="3694176"/>
            <a:ext cx="4023360" cy="15087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07808" y="3694176"/>
            <a:ext cx="44450" cy="150876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7264" y="3849624"/>
            <a:ext cx="3584448" cy="1216152"/>
          </a:xfrm>
          <a:prstGeom prst="rect">
            <a:avLst/>
          </a:prstGeom>
          <a:noFill/>
        </p:spPr>
        <p:txBody>
          <a:bodyPr wrap="square" lIns="0" rIns="0" tIns="0" bIns="0">
            <a:spAutoFit/>
          </a:bodyPr>
          <a:lstStyle/>
          <a:p>
            <a:pPr>
              <a:spcBef>
                <a:spcPts val="0"/>
              </a:spcBef>
              <a:spcAft>
                <a:spcPts val="600"/>
              </a:spcAft>
            </a:pPr>
            <a:r>
              <a:rPr sz="1000" b="1" i="0">
                <a:solidFill>
                  <a:srgbClr val="2E7D55"/>
                </a:solidFill>
                <a:latin typeface="Segoe UI"/>
              </a:rPr>
              <a:t>EXIT CRITERIA</a:t>
            </a:r>
          </a:p>
          <a:p>
            <a:pPr>
              <a:spcBef>
                <a:spcPts val="0"/>
              </a:spcBef>
              <a:spcAft>
                <a:spcPts val="400"/>
              </a:spcAft>
            </a:pPr>
            <a:r>
              <a:rPr sz="1100" b="0" i="0">
                <a:solidFill>
                  <a:srgbClr val="17262E"/>
                </a:solidFill>
                <a:latin typeface="Segoe UI"/>
              </a:rPr>
              <a:t>Checkout p95 back to baseline for ten minutes, and the flow works end to end in the browser. Only then close it and start the postmortem.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Find it in Datadog, then fix it</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Dashboard first, kubectl second. The order is the whole skill.</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45</a:t>
            </a:r>
          </a:p>
        </p:txBody>
      </p:sp>
      <p:sp>
        <p:nvSpPr>
          <p:cNvPr id="7" name="Rectangle 6"/>
          <p:cNvSpPr/>
          <p:nvPr/>
        </p:nvSpPr>
        <p:spPr>
          <a:xfrm>
            <a:off x="566928" y="1682496"/>
            <a:ext cx="1106424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82496"/>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819656"/>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1</a:t>
            </a:r>
          </a:p>
        </p:txBody>
      </p:sp>
      <p:sp>
        <p:nvSpPr>
          <p:cNvPr id="10" name="TextBox 9"/>
          <p:cNvSpPr txBox="1"/>
          <p:nvPr/>
        </p:nvSpPr>
        <p:spPr>
          <a:xfrm>
            <a:off x="1417320" y="1746504"/>
            <a:ext cx="274320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How did we know?</a:t>
            </a:r>
          </a:p>
        </p:txBody>
      </p:sp>
      <p:sp>
        <p:nvSpPr>
          <p:cNvPr id="11" name="TextBox 10"/>
          <p:cNvSpPr txBox="1"/>
          <p:nvPr/>
        </p:nvSpPr>
        <p:spPr>
          <a:xfrm>
            <a:off x="4270248" y="1773936"/>
            <a:ext cx="7178040" cy="658368"/>
          </a:xfrm>
          <a:prstGeom prst="rect">
            <a:avLst/>
          </a:prstGeom>
          <a:noFill/>
        </p:spPr>
        <p:txBody>
          <a:bodyPr wrap="square" lIns="0" rIns="0" tIns="0" bIns="0">
            <a:spAutoFit/>
          </a:bodyPr>
          <a:lstStyle/>
          <a:p>
            <a:pPr>
              <a:spcBef>
                <a:spcPts val="0"/>
              </a:spcBef>
              <a:spcAft>
                <a:spcPts val="0"/>
              </a:spcAft>
            </a:pPr>
            <a:r>
              <a:rPr sz="1150" b="0" i="0">
                <a:solidFill>
                  <a:srgbClr val="5B6B73"/>
                </a:solidFill>
                <a:latin typeface="Segoe UI"/>
              </a:rPr>
              <a:t>A monitor fired, or the app felt wrong. Write down the time — you need it for the postmortem.</a:t>
            </a:r>
          </a:p>
        </p:txBody>
      </p:sp>
      <p:sp>
        <p:nvSpPr>
          <p:cNvPr id="12" name="Rectangle 11"/>
          <p:cNvSpPr/>
          <p:nvPr/>
        </p:nvSpPr>
        <p:spPr>
          <a:xfrm>
            <a:off x="566928" y="2432304"/>
            <a:ext cx="1106424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432304"/>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569464"/>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2</a:t>
            </a:r>
          </a:p>
        </p:txBody>
      </p:sp>
      <p:sp>
        <p:nvSpPr>
          <p:cNvPr id="15" name="TextBox 14"/>
          <p:cNvSpPr txBox="1"/>
          <p:nvPr/>
        </p:nvSpPr>
        <p:spPr>
          <a:xfrm>
            <a:off x="1417320" y="2496312"/>
            <a:ext cx="274320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What could users not do?</a:t>
            </a:r>
          </a:p>
        </p:txBody>
      </p:sp>
      <p:sp>
        <p:nvSpPr>
          <p:cNvPr id="16" name="TextBox 15"/>
          <p:cNvSpPr txBox="1"/>
          <p:nvPr/>
        </p:nvSpPr>
        <p:spPr>
          <a:xfrm>
            <a:off x="4270248" y="2523744"/>
            <a:ext cx="7178040" cy="658368"/>
          </a:xfrm>
          <a:prstGeom prst="rect">
            <a:avLst/>
          </a:prstGeom>
          <a:noFill/>
        </p:spPr>
        <p:txBody>
          <a:bodyPr wrap="square" lIns="0" rIns="0" tIns="0" bIns="0">
            <a:spAutoFit/>
          </a:bodyPr>
          <a:lstStyle/>
          <a:p>
            <a:pPr>
              <a:spcBef>
                <a:spcPts val="0"/>
              </a:spcBef>
              <a:spcAft>
                <a:spcPts val="0"/>
              </a:spcAft>
            </a:pPr>
            <a:r>
              <a:rPr sz="1150" b="0" i="0">
                <a:solidFill>
                  <a:srgbClr val="5B6B73"/>
                </a:solidFill>
                <a:latin typeface="Segoe UI"/>
              </a:rPr>
              <a:t>Say it the way a customer would: checkout hangs, not the pod restarted.</a:t>
            </a:r>
          </a:p>
        </p:txBody>
      </p:sp>
      <p:sp>
        <p:nvSpPr>
          <p:cNvPr id="17" name="Rectangle 16"/>
          <p:cNvSpPr/>
          <p:nvPr/>
        </p:nvSpPr>
        <p:spPr>
          <a:xfrm>
            <a:off x="566928" y="3182112"/>
            <a:ext cx="1106424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182112"/>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319272"/>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3</a:t>
            </a:r>
          </a:p>
        </p:txBody>
      </p:sp>
      <p:sp>
        <p:nvSpPr>
          <p:cNvPr id="20" name="TextBox 19"/>
          <p:cNvSpPr txBox="1"/>
          <p:nvPr/>
        </p:nvSpPr>
        <p:spPr>
          <a:xfrm>
            <a:off x="1417320" y="3246120"/>
            <a:ext cx="274320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Which widget moved first?</a:t>
            </a:r>
          </a:p>
        </p:txBody>
      </p:sp>
      <p:sp>
        <p:nvSpPr>
          <p:cNvPr id="21" name="TextBox 20"/>
          <p:cNvSpPr txBox="1"/>
          <p:nvPr/>
        </p:nvSpPr>
        <p:spPr>
          <a:xfrm>
            <a:off x="4270248" y="3273552"/>
            <a:ext cx="7178040" cy="658368"/>
          </a:xfrm>
          <a:prstGeom prst="rect">
            <a:avLst/>
          </a:prstGeom>
          <a:noFill/>
        </p:spPr>
        <p:txBody>
          <a:bodyPr wrap="square" lIns="0" rIns="0" tIns="0" bIns="0">
            <a:spAutoFit/>
          </a:bodyPr>
          <a:lstStyle/>
          <a:p>
            <a:pPr>
              <a:spcBef>
                <a:spcPts val="0"/>
              </a:spcBef>
              <a:spcAft>
                <a:spcPts val="0"/>
              </a:spcAft>
            </a:pPr>
            <a:r>
              <a:rPr sz="1150" b="0" i="0">
                <a:solidFill>
                  <a:srgbClr val="5B6B73"/>
                </a:solidFill>
                <a:latin typeface="Segoe UI"/>
              </a:rPr>
              <a:t>And by how much? Compare against your baseline. This is the graded question.</a:t>
            </a:r>
          </a:p>
        </p:txBody>
      </p:sp>
      <p:sp>
        <p:nvSpPr>
          <p:cNvPr id="22" name="Rectangle 21"/>
          <p:cNvSpPr/>
          <p:nvPr/>
        </p:nvSpPr>
        <p:spPr>
          <a:xfrm>
            <a:off x="566928" y="3931920"/>
            <a:ext cx="1106424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931920"/>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069080"/>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4</a:t>
            </a:r>
          </a:p>
        </p:txBody>
      </p:sp>
      <p:sp>
        <p:nvSpPr>
          <p:cNvPr id="25" name="TextBox 24"/>
          <p:cNvSpPr txBox="1"/>
          <p:nvPr/>
        </p:nvSpPr>
        <p:spPr>
          <a:xfrm>
            <a:off x="1417320" y="3995928"/>
            <a:ext cx="274320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Only now, kubectl</a:t>
            </a:r>
          </a:p>
        </p:txBody>
      </p:sp>
      <p:sp>
        <p:nvSpPr>
          <p:cNvPr id="26" name="TextBox 25"/>
          <p:cNvSpPr txBox="1"/>
          <p:nvPr/>
        </p:nvSpPr>
        <p:spPr>
          <a:xfrm>
            <a:off x="4270248" y="4023360"/>
            <a:ext cx="7178040" cy="658368"/>
          </a:xfrm>
          <a:prstGeom prst="rect">
            <a:avLst/>
          </a:prstGeom>
          <a:noFill/>
        </p:spPr>
        <p:txBody>
          <a:bodyPr wrap="square" lIns="0" rIns="0" tIns="0" bIns="0">
            <a:spAutoFit/>
          </a:bodyPr>
          <a:lstStyle/>
          <a:p>
            <a:pPr>
              <a:spcBef>
                <a:spcPts val="0"/>
              </a:spcBef>
              <a:spcAft>
                <a:spcPts val="0"/>
              </a:spcAft>
            </a:pPr>
            <a:r>
              <a:rPr sz="1150" b="0" i="0">
                <a:solidFill>
                  <a:srgbClr val="5B6B73"/>
                </a:solidFill>
                <a:latin typeface="Segoe UI"/>
              </a:rPr>
              <a:t>get pods, describe, logs. Try the commands before opening the runbook.</a:t>
            </a:r>
          </a:p>
        </p:txBody>
      </p:sp>
      <p:sp>
        <p:nvSpPr>
          <p:cNvPr id="27" name="Rectangle 26"/>
          <p:cNvSpPr/>
          <p:nvPr/>
        </p:nvSpPr>
        <p:spPr>
          <a:xfrm>
            <a:off x="566928" y="4681728"/>
            <a:ext cx="11064240" cy="658368"/>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681728"/>
            <a:ext cx="44450" cy="658368"/>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818888"/>
            <a:ext cx="685800" cy="658368"/>
          </a:xfrm>
          <a:prstGeom prst="rect">
            <a:avLst/>
          </a:prstGeom>
          <a:noFill/>
        </p:spPr>
        <p:txBody>
          <a:bodyPr wrap="square" lIns="0" rIns="0" tIns="0" bIns="0">
            <a:spAutoFit/>
          </a:bodyPr>
          <a:lstStyle/>
          <a:p>
            <a:pPr>
              <a:spcBef>
                <a:spcPts val="0"/>
              </a:spcBef>
              <a:spcAft>
                <a:spcPts val="0"/>
              </a:spcAft>
            </a:pPr>
            <a:r>
              <a:rPr sz="1600" b="1" i="0">
                <a:solidFill>
                  <a:srgbClr val="1F7A99"/>
                </a:solidFill>
                <a:latin typeface="Segoe UI"/>
              </a:rPr>
              <a:t>5</a:t>
            </a:r>
          </a:p>
        </p:txBody>
      </p:sp>
      <p:sp>
        <p:nvSpPr>
          <p:cNvPr id="30" name="TextBox 29"/>
          <p:cNvSpPr txBox="1"/>
          <p:nvPr/>
        </p:nvSpPr>
        <p:spPr>
          <a:xfrm>
            <a:off x="1417320" y="4745736"/>
            <a:ext cx="2743200" cy="658368"/>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Fix it and prove it</a:t>
            </a:r>
          </a:p>
        </p:txBody>
      </p:sp>
      <p:sp>
        <p:nvSpPr>
          <p:cNvPr id="31" name="TextBox 30"/>
          <p:cNvSpPr txBox="1"/>
          <p:nvPr/>
        </p:nvSpPr>
        <p:spPr>
          <a:xfrm>
            <a:off x="4270248" y="4773168"/>
            <a:ext cx="7178040" cy="658368"/>
          </a:xfrm>
          <a:prstGeom prst="rect">
            <a:avLst/>
          </a:prstGeom>
          <a:noFill/>
        </p:spPr>
        <p:txBody>
          <a:bodyPr wrap="square" lIns="0" rIns="0" tIns="0" bIns="0">
            <a:spAutoFit/>
          </a:bodyPr>
          <a:lstStyle/>
          <a:p>
            <a:pPr>
              <a:spcBef>
                <a:spcPts val="0"/>
              </a:spcBef>
              <a:spcAft>
                <a:spcPts val="0"/>
              </a:spcAft>
            </a:pPr>
            <a:r>
              <a:rPr sz="1150" b="0" i="0">
                <a:solidFill>
                  <a:srgbClr val="5B6B73"/>
                </a:solidFill>
                <a:latin typeface="Segoe UI"/>
              </a:rPr>
              <a:t>Confirm recovery in the app itself and on the dashboard. Metrics lag a minute or two.</a:t>
            </a:r>
          </a:p>
        </p:txBody>
      </p:sp>
      <p:sp>
        <p:nvSpPr>
          <p:cNvPr id="32" name="TextBox 31"/>
          <p:cNvSpPr txBox="1"/>
          <p:nvPr/>
        </p:nvSpPr>
        <p:spPr>
          <a:xfrm>
            <a:off x="566928" y="5477256"/>
            <a:ext cx="11064240" cy="365760"/>
          </a:xfrm>
          <a:prstGeom prst="rect">
            <a:avLst/>
          </a:prstGeom>
          <a:noFill/>
        </p:spPr>
        <p:txBody>
          <a:bodyPr wrap="square" lIns="0" rIns="0" tIns="0" bIns="0">
            <a:spAutoFit/>
          </a:bodyPr>
          <a:lstStyle/>
          <a:p>
            <a:pPr>
              <a:spcBef>
                <a:spcPts val="0"/>
              </a:spcBef>
              <a:spcAft>
                <a:spcPts val="0"/>
              </a:spcAft>
            </a:pPr>
            <a:r>
              <a:rPr sz="1150" b="0" i="1">
                <a:solidFill>
                  <a:srgbClr val="5B6B73"/>
                </a:solidFill>
                <a:latin typeface="Segoe UI"/>
              </a:rPr>
              <a:t>If you opened a terminal before you opened a dashboard, you skipped the exercise.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Write the postmortem</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Fill this in while the incident is still fresh. Half a page is enough.</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46</a:t>
            </a:r>
          </a:p>
        </p:txBody>
      </p:sp>
      <p:sp>
        <p:nvSpPr>
          <p:cNvPr id="7" name="Rectangle 6"/>
          <p:cNvSpPr/>
          <p:nvPr/>
        </p:nvSpPr>
        <p:spPr>
          <a:xfrm>
            <a:off x="566928" y="1682496"/>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95528" y="1883664"/>
            <a:ext cx="146304" cy="14630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792224"/>
            <a:ext cx="457200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Detection</a:t>
            </a:r>
          </a:p>
        </p:txBody>
      </p:sp>
      <p:sp>
        <p:nvSpPr>
          <p:cNvPr id="10" name="TextBox 9"/>
          <p:cNvSpPr txBox="1"/>
          <p:nvPr/>
        </p:nvSpPr>
        <p:spPr>
          <a:xfrm>
            <a:off x="1069848" y="2121408"/>
            <a:ext cx="4663440"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Which monitor fired, at what time, and how you first heard about it.</a:t>
            </a:r>
          </a:p>
        </p:txBody>
      </p:sp>
      <p:sp>
        <p:nvSpPr>
          <p:cNvPr id="11" name="Rectangle 10"/>
          <p:cNvSpPr/>
          <p:nvPr/>
        </p:nvSpPr>
        <p:spPr>
          <a:xfrm>
            <a:off x="6281928" y="1682496"/>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10528" y="1883664"/>
            <a:ext cx="146304" cy="14630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84848" y="1792224"/>
            <a:ext cx="457200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Customer impact</a:t>
            </a:r>
          </a:p>
        </p:txBody>
      </p:sp>
      <p:sp>
        <p:nvSpPr>
          <p:cNvPr id="14" name="TextBox 13"/>
          <p:cNvSpPr txBox="1"/>
          <p:nvPr/>
        </p:nvSpPr>
        <p:spPr>
          <a:xfrm>
            <a:off x="6784848" y="2121408"/>
            <a:ext cx="4663440"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What users could not do, for how long, and roughly how many.</a:t>
            </a:r>
          </a:p>
        </p:txBody>
      </p:sp>
      <p:sp>
        <p:nvSpPr>
          <p:cNvPr id="15" name="Rectangle 14"/>
          <p:cNvSpPr/>
          <p:nvPr/>
        </p:nvSpPr>
        <p:spPr>
          <a:xfrm>
            <a:off x="566928" y="2734056"/>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95528" y="2935224"/>
            <a:ext cx="146304" cy="14630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2843784"/>
            <a:ext cx="457200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Diagnosis</a:t>
            </a:r>
          </a:p>
        </p:txBody>
      </p:sp>
      <p:sp>
        <p:nvSpPr>
          <p:cNvPr id="18" name="TextBox 17"/>
          <p:cNvSpPr txBox="1"/>
          <p:nvPr/>
        </p:nvSpPr>
        <p:spPr>
          <a:xfrm>
            <a:off x="1069848" y="3172968"/>
            <a:ext cx="4663440"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path you took: dashboard, then trace, then log line.</a:t>
            </a:r>
          </a:p>
        </p:txBody>
      </p:sp>
      <p:sp>
        <p:nvSpPr>
          <p:cNvPr id="19" name="Rectangle 18"/>
          <p:cNvSpPr/>
          <p:nvPr/>
        </p:nvSpPr>
        <p:spPr>
          <a:xfrm>
            <a:off x="6281928" y="2734056"/>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10528" y="2935224"/>
            <a:ext cx="146304" cy="14630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84848" y="2843784"/>
            <a:ext cx="457200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Fix</a:t>
            </a:r>
          </a:p>
        </p:txBody>
      </p:sp>
      <p:sp>
        <p:nvSpPr>
          <p:cNvPr id="22" name="TextBox 21"/>
          <p:cNvSpPr txBox="1"/>
          <p:nvPr/>
        </p:nvSpPr>
        <p:spPr>
          <a:xfrm>
            <a:off x="6784848" y="3172968"/>
            <a:ext cx="4663440"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What you changed, and the evidence it worked.</a:t>
            </a:r>
          </a:p>
        </p:txBody>
      </p:sp>
      <p:sp>
        <p:nvSpPr>
          <p:cNvPr id="23" name="Rectangle 22"/>
          <p:cNvSpPr/>
          <p:nvPr/>
        </p:nvSpPr>
        <p:spPr>
          <a:xfrm>
            <a:off x="566928" y="3785616"/>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5528" y="3986784"/>
            <a:ext cx="146304" cy="14630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9848" y="3895344"/>
            <a:ext cx="457200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Error budget burned</a:t>
            </a:r>
          </a:p>
        </p:txBody>
      </p:sp>
      <p:sp>
        <p:nvSpPr>
          <p:cNvPr id="26" name="TextBox 25"/>
          <p:cNvSpPr txBox="1"/>
          <p:nvPr/>
        </p:nvSpPr>
        <p:spPr>
          <a:xfrm>
            <a:off x="1069848" y="4224528"/>
            <a:ext cx="4663440"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Use the method in docs/error-budget.md.</a:t>
            </a:r>
          </a:p>
        </p:txBody>
      </p:sp>
      <p:sp>
        <p:nvSpPr>
          <p:cNvPr id="27" name="Rectangle 26"/>
          <p:cNvSpPr/>
          <p:nvPr/>
        </p:nvSpPr>
        <p:spPr>
          <a:xfrm>
            <a:off x="6281928" y="3785616"/>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10528" y="3986784"/>
            <a:ext cx="146304" cy="14630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84848" y="3895344"/>
            <a:ext cx="457200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One prevention item</a:t>
            </a:r>
          </a:p>
        </p:txBody>
      </p:sp>
      <p:sp>
        <p:nvSpPr>
          <p:cNvPr id="30" name="TextBox 29"/>
          <p:cNvSpPr txBox="1"/>
          <p:nvPr/>
        </p:nvSpPr>
        <p:spPr>
          <a:xfrm>
            <a:off x="6784848" y="4224528"/>
            <a:ext cx="4663440"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A better alert, a probe, a limit. One thing, with an owner.</a:t>
            </a:r>
          </a:p>
        </p:txBody>
      </p:sp>
      <p:sp>
        <p:nvSpPr>
          <p:cNvPr id="31" name="Rectangle 30"/>
          <p:cNvSpPr/>
          <p:nvPr/>
        </p:nvSpPr>
        <p:spPr>
          <a:xfrm>
            <a:off x="566928" y="4974336"/>
            <a:ext cx="11064240" cy="6400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129784"/>
            <a:ext cx="10625328" cy="347472"/>
          </a:xfrm>
          <a:prstGeom prst="rect">
            <a:avLst/>
          </a:prstGeom>
          <a:noFill/>
        </p:spPr>
        <p:txBody>
          <a:bodyPr wrap="square" lIns="0" rIns="0" tIns="0" bIns="0">
            <a:spAutoFit/>
          </a:bodyPr>
          <a:lstStyle/>
          <a:p>
            <a:pPr>
              <a:spcBef>
                <a:spcPts val="0"/>
              </a:spcBef>
              <a:spcAft>
                <a:spcPts val="400"/>
              </a:spcAft>
            </a:pPr>
            <a:r>
              <a:rPr sz="1200" b="0" i="0">
                <a:solidFill>
                  <a:srgbClr val="FFFFFF"/>
                </a:solidFill>
                <a:latin typeface="Segoe UI"/>
              </a:rPr>
              <a:t>Blameless means the write-up names systems and gaps in detection, never a person who should have noticed.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Postmortem example: slow checkout</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Half a page, written the same afternoon.</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47</a:t>
            </a:r>
          </a:p>
        </p:txBody>
      </p:sp>
      <p:sp>
        <p:nvSpPr>
          <p:cNvPr id="7" name="Rectangle 6"/>
          <p:cNvSpPr/>
          <p:nvPr/>
        </p:nvSpPr>
        <p:spPr>
          <a:xfrm>
            <a:off x="566928" y="1682496"/>
            <a:ext cx="5120640" cy="16002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4681728" cy="13075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Summary</a:t>
            </a:r>
          </a:p>
          <a:p>
            <a:pPr>
              <a:spcBef>
                <a:spcPts val="0"/>
              </a:spcBef>
              <a:spcAft>
                <a:spcPts val="400"/>
              </a:spcAft>
            </a:pPr>
            <a:r>
              <a:rPr sz="1100" b="0" i="0">
                <a:solidFill>
                  <a:srgbClr val="17262E"/>
                </a:solidFill>
                <a:latin typeface="Segoe UI"/>
              </a:rPr>
              <a:t>Ecommerce checkout slowed from 400ms to about 3s at p95. Nothing errored, so the error-rate monitor stayed quiet and the average latency widget barely moved. Cleared 23 minutes after it started.</a:t>
            </a:r>
          </a:p>
        </p:txBody>
      </p:sp>
      <p:sp>
        <p:nvSpPr>
          <p:cNvPr id="9" name="Rectangle 8"/>
          <p:cNvSpPr/>
          <p:nvPr/>
        </p:nvSpPr>
        <p:spPr>
          <a:xfrm>
            <a:off x="566928" y="3465576"/>
            <a:ext cx="1572768" cy="8686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3602736"/>
            <a:ext cx="1371600" cy="365760"/>
          </a:xfrm>
          <a:prstGeom prst="rect">
            <a:avLst/>
          </a:prstGeom>
          <a:noFill/>
        </p:spPr>
        <p:txBody>
          <a:bodyPr wrap="square" lIns="0" rIns="0" tIns="0" bIns="0">
            <a:spAutoFit/>
          </a:bodyPr>
          <a:lstStyle/>
          <a:p>
            <a:pPr algn="ctr">
              <a:spcBef>
                <a:spcPts val="0"/>
              </a:spcBef>
              <a:spcAft>
                <a:spcPts val="0"/>
              </a:spcAft>
            </a:pPr>
            <a:r>
              <a:rPr sz="1700" b="1" i="0">
                <a:solidFill>
                  <a:srgbClr val="E8A020"/>
                </a:solidFill>
                <a:latin typeface="Segoe UI"/>
              </a:rPr>
              <a:t>23 min</a:t>
            </a:r>
          </a:p>
        </p:txBody>
      </p:sp>
      <p:sp>
        <p:nvSpPr>
          <p:cNvPr id="11" name="TextBox 10"/>
          <p:cNvSpPr txBox="1"/>
          <p:nvPr/>
        </p:nvSpPr>
        <p:spPr>
          <a:xfrm>
            <a:off x="658368" y="4014216"/>
            <a:ext cx="1463040" cy="274320"/>
          </a:xfrm>
          <a:prstGeom prst="rect">
            <a:avLst/>
          </a:prstGeom>
          <a:noFill/>
        </p:spPr>
        <p:txBody>
          <a:bodyPr wrap="square" lIns="0" rIns="0" tIns="0" bIns="0">
            <a:spAutoFit/>
          </a:bodyPr>
          <a:lstStyle/>
          <a:p>
            <a:pPr algn="ctr">
              <a:spcBef>
                <a:spcPts val="0"/>
              </a:spcBef>
              <a:spcAft>
                <a:spcPts val="0"/>
              </a:spcAft>
            </a:pPr>
            <a:r>
              <a:rPr sz="950" b="0" i="0">
                <a:solidFill>
                  <a:srgbClr val="9FB3BD"/>
                </a:solidFill>
                <a:latin typeface="Segoe UI"/>
              </a:rPr>
              <a:t>degraded</a:t>
            </a:r>
          </a:p>
        </p:txBody>
      </p:sp>
      <p:sp>
        <p:nvSpPr>
          <p:cNvPr id="12" name="Rectangle 11"/>
          <p:cNvSpPr/>
          <p:nvPr/>
        </p:nvSpPr>
        <p:spPr>
          <a:xfrm>
            <a:off x="2304288" y="3465576"/>
            <a:ext cx="1572768" cy="8686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1448" y="3602736"/>
            <a:ext cx="1371600" cy="365760"/>
          </a:xfrm>
          <a:prstGeom prst="rect">
            <a:avLst/>
          </a:prstGeom>
          <a:noFill/>
        </p:spPr>
        <p:txBody>
          <a:bodyPr wrap="square" lIns="0" rIns="0" tIns="0" bIns="0">
            <a:spAutoFit/>
          </a:bodyPr>
          <a:lstStyle/>
          <a:p>
            <a:pPr algn="ctr">
              <a:spcBef>
                <a:spcPts val="0"/>
              </a:spcBef>
              <a:spcAft>
                <a:spcPts val="0"/>
              </a:spcAft>
            </a:pPr>
            <a:r>
              <a:rPr sz="1700" b="1" i="0">
                <a:solidFill>
                  <a:srgbClr val="E8A020"/>
                </a:solidFill>
                <a:latin typeface="Segoe UI"/>
              </a:rPr>
              <a:t>~400</a:t>
            </a:r>
          </a:p>
        </p:txBody>
      </p:sp>
      <p:sp>
        <p:nvSpPr>
          <p:cNvPr id="14" name="TextBox 13"/>
          <p:cNvSpPr txBox="1"/>
          <p:nvPr/>
        </p:nvSpPr>
        <p:spPr>
          <a:xfrm>
            <a:off x="2395728" y="4014216"/>
            <a:ext cx="1463040" cy="274320"/>
          </a:xfrm>
          <a:prstGeom prst="rect">
            <a:avLst/>
          </a:prstGeom>
          <a:noFill/>
        </p:spPr>
        <p:txBody>
          <a:bodyPr wrap="square" lIns="0" rIns="0" tIns="0" bIns="0">
            <a:spAutoFit/>
          </a:bodyPr>
          <a:lstStyle/>
          <a:p>
            <a:pPr algn="ctr">
              <a:spcBef>
                <a:spcPts val="0"/>
              </a:spcBef>
              <a:spcAft>
                <a:spcPts val="0"/>
              </a:spcAft>
            </a:pPr>
            <a:r>
              <a:rPr sz="950" b="0" i="0">
                <a:solidFill>
                  <a:srgbClr val="9FB3BD"/>
                </a:solidFill>
                <a:latin typeface="Segoe UI"/>
              </a:rPr>
              <a:t>slow checkouts</a:t>
            </a:r>
          </a:p>
        </p:txBody>
      </p:sp>
      <p:sp>
        <p:nvSpPr>
          <p:cNvPr id="15" name="Rectangle 14"/>
          <p:cNvSpPr/>
          <p:nvPr/>
        </p:nvSpPr>
        <p:spPr>
          <a:xfrm>
            <a:off x="4041648" y="3465576"/>
            <a:ext cx="1572768" cy="8686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78808" y="3602736"/>
            <a:ext cx="1371600" cy="365760"/>
          </a:xfrm>
          <a:prstGeom prst="rect">
            <a:avLst/>
          </a:prstGeom>
          <a:noFill/>
        </p:spPr>
        <p:txBody>
          <a:bodyPr wrap="square" lIns="0" rIns="0" tIns="0" bIns="0">
            <a:spAutoFit/>
          </a:bodyPr>
          <a:lstStyle/>
          <a:p>
            <a:pPr algn="ctr">
              <a:spcBef>
                <a:spcPts val="0"/>
              </a:spcBef>
              <a:spcAft>
                <a:spcPts val="0"/>
              </a:spcAft>
            </a:pPr>
            <a:r>
              <a:rPr sz="1700" b="1" i="0">
                <a:solidFill>
                  <a:srgbClr val="E8A020"/>
                </a:solidFill>
                <a:latin typeface="Segoe UI"/>
              </a:rPr>
              <a:t>4%</a:t>
            </a:r>
          </a:p>
        </p:txBody>
      </p:sp>
      <p:sp>
        <p:nvSpPr>
          <p:cNvPr id="17" name="TextBox 16"/>
          <p:cNvSpPr txBox="1"/>
          <p:nvPr/>
        </p:nvSpPr>
        <p:spPr>
          <a:xfrm>
            <a:off x="4133088" y="4014216"/>
            <a:ext cx="1463040" cy="274320"/>
          </a:xfrm>
          <a:prstGeom prst="rect">
            <a:avLst/>
          </a:prstGeom>
          <a:noFill/>
        </p:spPr>
        <p:txBody>
          <a:bodyPr wrap="square" lIns="0" rIns="0" tIns="0" bIns="0">
            <a:spAutoFit/>
          </a:bodyPr>
          <a:lstStyle/>
          <a:p>
            <a:pPr algn="ctr">
              <a:spcBef>
                <a:spcPts val="0"/>
              </a:spcBef>
              <a:spcAft>
                <a:spcPts val="0"/>
              </a:spcAft>
            </a:pPr>
            <a:r>
              <a:rPr sz="950" b="0" i="0">
                <a:solidFill>
                  <a:srgbClr val="9FB3BD"/>
                </a:solidFill>
                <a:latin typeface="Segoe UI"/>
              </a:rPr>
              <a:t>of the monthly budget</a:t>
            </a:r>
          </a:p>
        </p:txBody>
      </p:sp>
      <p:sp>
        <p:nvSpPr>
          <p:cNvPr id="18" name="Rectangle 17"/>
          <p:cNvSpPr/>
          <p:nvPr/>
        </p:nvSpPr>
        <p:spPr>
          <a:xfrm>
            <a:off x="566928" y="4471416"/>
            <a:ext cx="5120640" cy="7772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4626864"/>
            <a:ext cx="4681728" cy="484632"/>
          </a:xfrm>
          <a:prstGeom prst="rect">
            <a:avLst/>
          </a:prstGeom>
          <a:noFill/>
        </p:spPr>
        <p:txBody>
          <a:bodyPr wrap="square" lIns="0" rIns="0" tIns="0" bIns="0">
            <a:spAutoFit/>
          </a:bodyPr>
          <a:lstStyle/>
          <a:p>
            <a:pPr>
              <a:spcBef>
                <a:spcPts val="0"/>
              </a:spcBef>
              <a:spcAft>
                <a:spcPts val="400"/>
              </a:spcAft>
            </a:pPr>
            <a:r>
              <a:rPr sz="1100" b="0" i="0">
                <a:solidFill>
                  <a:srgbClr val="17262E"/>
                </a:solidFill>
                <a:latin typeface="Segoe UI"/>
              </a:rPr>
              <a:t>Detected by the latency monitor, six minutes before the first complaint.</a:t>
            </a:r>
          </a:p>
        </p:txBody>
      </p:sp>
      <p:sp>
        <p:nvSpPr>
          <p:cNvPr id="20" name="Rectangle 19"/>
          <p:cNvSpPr/>
          <p:nvPr/>
        </p:nvSpPr>
        <p:spPr>
          <a:xfrm>
            <a:off x="5961888" y="1682496"/>
            <a:ext cx="5669280" cy="356616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36208" y="1865376"/>
            <a:ext cx="3657600" cy="320040"/>
          </a:xfrm>
          <a:prstGeom prst="rect">
            <a:avLst/>
          </a:prstGeom>
          <a:noFill/>
        </p:spPr>
        <p:txBody>
          <a:bodyPr wrap="square" lIns="0" rIns="0" tIns="0" bIns="0">
            <a:spAutoFit/>
          </a:bodyPr>
          <a:lstStyle/>
          <a:p>
            <a:pPr>
              <a:spcBef>
                <a:spcPts val="0"/>
              </a:spcBef>
              <a:spcAft>
                <a:spcPts val="0"/>
              </a:spcAft>
            </a:pPr>
            <a:r>
              <a:rPr sz="1500" b="1" i="0">
                <a:solidFill>
                  <a:srgbClr val="FFFFFF"/>
                </a:solidFill>
                <a:latin typeface="Segoe UI"/>
              </a:rPr>
              <a:t>Timeline</a:t>
            </a:r>
          </a:p>
        </p:txBody>
      </p:sp>
      <p:sp>
        <p:nvSpPr>
          <p:cNvPr id="22" name="TextBox 21"/>
          <p:cNvSpPr txBox="1"/>
          <p:nvPr/>
        </p:nvSpPr>
        <p:spPr>
          <a:xfrm>
            <a:off x="6236208" y="2340864"/>
            <a:ext cx="822960" cy="274320"/>
          </a:xfrm>
          <a:prstGeom prst="rect">
            <a:avLst/>
          </a:prstGeom>
          <a:noFill/>
        </p:spPr>
        <p:txBody>
          <a:bodyPr wrap="square" lIns="0" rIns="0" tIns="0" bIns="0">
            <a:spAutoFit/>
          </a:bodyPr>
          <a:lstStyle/>
          <a:p>
            <a:pPr>
              <a:spcBef>
                <a:spcPts val="0"/>
              </a:spcBef>
              <a:spcAft>
                <a:spcPts val="0"/>
              </a:spcAft>
            </a:pPr>
            <a:r>
              <a:rPr sz="1050" b="1" i="0">
                <a:solidFill>
                  <a:srgbClr val="E8A020"/>
                </a:solidFill>
                <a:latin typeface="Consolas"/>
              </a:rPr>
              <a:t>13:58</a:t>
            </a:r>
          </a:p>
        </p:txBody>
      </p:sp>
      <p:sp>
        <p:nvSpPr>
          <p:cNvPr id="23" name="TextBox 22"/>
          <p:cNvSpPr txBox="1"/>
          <p:nvPr/>
        </p:nvSpPr>
        <p:spPr>
          <a:xfrm>
            <a:off x="7196328" y="2340864"/>
            <a:ext cx="4206240" cy="27432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latency fault injected on the ecommerce backend</a:t>
            </a:r>
          </a:p>
        </p:txBody>
      </p:sp>
      <p:sp>
        <p:nvSpPr>
          <p:cNvPr id="24" name="TextBox 23"/>
          <p:cNvSpPr txBox="1"/>
          <p:nvPr/>
        </p:nvSpPr>
        <p:spPr>
          <a:xfrm>
            <a:off x="6236208" y="2697480"/>
            <a:ext cx="822960" cy="274320"/>
          </a:xfrm>
          <a:prstGeom prst="rect">
            <a:avLst/>
          </a:prstGeom>
          <a:noFill/>
        </p:spPr>
        <p:txBody>
          <a:bodyPr wrap="square" lIns="0" rIns="0" tIns="0" bIns="0">
            <a:spAutoFit/>
          </a:bodyPr>
          <a:lstStyle/>
          <a:p>
            <a:pPr>
              <a:spcBef>
                <a:spcPts val="0"/>
              </a:spcBef>
              <a:spcAft>
                <a:spcPts val="0"/>
              </a:spcAft>
            </a:pPr>
            <a:r>
              <a:rPr sz="1050" b="1" i="0">
                <a:solidFill>
                  <a:srgbClr val="E8A020"/>
                </a:solidFill>
                <a:latin typeface="Consolas"/>
              </a:rPr>
              <a:t>14:02</a:t>
            </a:r>
          </a:p>
        </p:txBody>
      </p:sp>
      <p:sp>
        <p:nvSpPr>
          <p:cNvPr id="25" name="TextBox 24"/>
          <p:cNvSpPr txBox="1"/>
          <p:nvPr/>
        </p:nvSpPr>
        <p:spPr>
          <a:xfrm>
            <a:off x="7196328" y="2697480"/>
            <a:ext cx="4206240" cy="27432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checkout p95 monitor fires at 3.1s</a:t>
            </a:r>
          </a:p>
        </p:txBody>
      </p:sp>
      <p:sp>
        <p:nvSpPr>
          <p:cNvPr id="26" name="TextBox 25"/>
          <p:cNvSpPr txBox="1"/>
          <p:nvPr/>
        </p:nvSpPr>
        <p:spPr>
          <a:xfrm>
            <a:off x="6236208" y="3054096"/>
            <a:ext cx="822960" cy="274320"/>
          </a:xfrm>
          <a:prstGeom prst="rect">
            <a:avLst/>
          </a:prstGeom>
          <a:noFill/>
        </p:spPr>
        <p:txBody>
          <a:bodyPr wrap="square" lIns="0" rIns="0" tIns="0" bIns="0">
            <a:spAutoFit/>
          </a:bodyPr>
          <a:lstStyle/>
          <a:p>
            <a:pPr>
              <a:spcBef>
                <a:spcPts val="0"/>
              </a:spcBef>
              <a:spcAft>
                <a:spcPts val="0"/>
              </a:spcAft>
            </a:pPr>
            <a:r>
              <a:rPr sz="1050" b="1" i="0">
                <a:solidFill>
                  <a:srgbClr val="E8A020"/>
                </a:solidFill>
                <a:latin typeface="Consolas"/>
              </a:rPr>
              <a:t>14:06</a:t>
            </a:r>
          </a:p>
        </p:txBody>
      </p:sp>
      <p:sp>
        <p:nvSpPr>
          <p:cNvPr id="27" name="TextBox 26"/>
          <p:cNvSpPr txBox="1"/>
          <p:nvPr/>
        </p:nvSpPr>
        <p:spPr>
          <a:xfrm>
            <a:off x="7196328" y="3054096"/>
            <a:ext cx="4206240" cy="27432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on call opens the Ecommerce dashboard</a:t>
            </a:r>
          </a:p>
        </p:txBody>
      </p:sp>
      <p:sp>
        <p:nvSpPr>
          <p:cNvPr id="28" name="TextBox 27"/>
          <p:cNvSpPr txBox="1"/>
          <p:nvPr/>
        </p:nvSpPr>
        <p:spPr>
          <a:xfrm>
            <a:off x="6236208" y="3410712"/>
            <a:ext cx="822960" cy="274320"/>
          </a:xfrm>
          <a:prstGeom prst="rect">
            <a:avLst/>
          </a:prstGeom>
          <a:noFill/>
        </p:spPr>
        <p:txBody>
          <a:bodyPr wrap="square" lIns="0" rIns="0" tIns="0" bIns="0">
            <a:spAutoFit/>
          </a:bodyPr>
          <a:lstStyle/>
          <a:p>
            <a:pPr>
              <a:spcBef>
                <a:spcPts val="0"/>
              </a:spcBef>
              <a:spcAft>
                <a:spcPts val="0"/>
              </a:spcAft>
            </a:pPr>
            <a:r>
              <a:rPr sz="1050" b="1" i="0">
                <a:solidFill>
                  <a:srgbClr val="E8A020"/>
                </a:solidFill>
                <a:latin typeface="Consolas"/>
              </a:rPr>
              <a:t>14:09</a:t>
            </a:r>
          </a:p>
        </p:txBody>
      </p:sp>
      <p:sp>
        <p:nvSpPr>
          <p:cNvPr id="29" name="TextBox 28"/>
          <p:cNvSpPr txBox="1"/>
          <p:nvPr/>
        </p:nvSpPr>
        <p:spPr>
          <a:xfrm>
            <a:off x="7196328" y="3410712"/>
            <a:ext cx="4206240" cy="27432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average latency looks fine; p95 is four times baseline</a:t>
            </a:r>
          </a:p>
        </p:txBody>
      </p:sp>
      <p:sp>
        <p:nvSpPr>
          <p:cNvPr id="30" name="TextBox 29"/>
          <p:cNvSpPr txBox="1"/>
          <p:nvPr/>
        </p:nvSpPr>
        <p:spPr>
          <a:xfrm>
            <a:off x="6236208" y="3767328"/>
            <a:ext cx="822960" cy="274320"/>
          </a:xfrm>
          <a:prstGeom prst="rect">
            <a:avLst/>
          </a:prstGeom>
          <a:noFill/>
        </p:spPr>
        <p:txBody>
          <a:bodyPr wrap="square" lIns="0" rIns="0" tIns="0" bIns="0">
            <a:spAutoFit/>
          </a:bodyPr>
          <a:lstStyle/>
          <a:p>
            <a:pPr>
              <a:spcBef>
                <a:spcPts val="0"/>
              </a:spcBef>
              <a:spcAft>
                <a:spcPts val="0"/>
              </a:spcAft>
            </a:pPr>
            <a:r>
              <a:rPr sz="1050" b="1" i="0">
                <a:solidFill>
                  <a:srgbClr val="E8A020"/>
                </a:solidFill>
                <a:latin typeface="Consolas"/>
              </a:rPr>
              <a:t>14:14</a:t>
            </a:r>
          </a:p>
        </p:txBody>
      </p:sp>
      <p:sp>
        <p:nvSpPr>
          <p:cNvPr id="31" name="TextBox 30"/>
          <p:cNvSpPr txBox="1"/>
          <p:nvPr/>
        </p:nvSpPr>
        <p:spPr>
          <a:xfrm>
            <a:off x="7196328" y="3767328"/>
            <a:ext cx="4206240" cy="27432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APM shows the delay inside the backend span, not Postgres</a:t>
            </a:r>
          </a:p>
        </p:txBody>
      </p:sp>
      <p:sp>
        <p:nvSpPr>
          <p:cNvPr id="32" name="TextBox 31"/>
          <p:cNvSpPr txBox="1"/>
          <p:nvPr/>
        </p:nvSpPr>
        <p:spPr>
          <a:xfrm>
            <a:off x="6236208" y="4123944"/>
            <a:ext cx="822960" cy="274320"/>
          </a:xfrm>
          <a:prstGeom prst="rect">
            <a:avLst/>
          </a:prstGeom>
          <a:noFill/>
        </p:spPr>
        <p:txBody>
          <a:bodyPr wrap="square" lIns="0" rIns="0" tIns="0" bIns="0">
            <a:spAutoFit/>
          </a:bodyPr>
          <a:lstStyle/>
          <a:p>
            <a:pPr>
              <a:spcBef>
                <a:spcPts val="0"/>
              </a:spcBef>
              <a:spcAft>
                <a:spcPts val="0"/>
              </a:spcAft>
            </a:pPr>
            <a:r>
              <a:rPr sz="1050" b="1" i="0">
                <a:solidFill>
                  <a:srgbClr val="E8A020"/>
                </a:solidFill>
                <a:latin typeface="Consolas"/>
              </a:rPr>
              <a:t>14:18</a:t>
            </a:r>
          </a:p>
        </p:txBody>
      </p:sp>
      <p:sp>
        <p:nvSpPr>
          <p:cNvPr id="33" name="TextBox 32"/>
          <p:cNvSpPr txBox="1"/>
          <p:nvPr/>
        </p:nvSpPr>
        <p:spPr>
          <a:xfrm>
            <a:off x="7196328" y="4123944"/>
            <a:ext cx="4206240" cy="27432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fault cleared with chaos/reset.sh</a:t>
            </a:r>
          </a:p>
        </p:txBody>
      </p:sp>
      <p:sp>
        <p:nvSpPr>
          <p:cNvPr id="34" name="TextBox 33"/>
          <p:cNvSpPr txBox="1"/>
          <p:nvPr/>
        </p:nvSpPr>
        <p:spPr>
          <a:xfrm>
            <a:off x="6236208" y="4480560"/>
            <a:ext cx="822960" cy="274320"/>
          </a:xfrm>
          <a:prstGeom prst="rect">
            <a:avLst/>
          </a:prstGeom>
          <a:noFill/>
        </p:spPr>
        <p:txBody>
          <a:bodyPr wrap="square" lIns="0" rIns="0" tIns="0" bIns="0">
            <a:spAutoFit/>
          </a:bodyPr>
          <a:lstStyle/>
          <a:p>
            <a:pPr>
              <a:spcBef>
                <a:spcPts val="0"/>
              </a:spcBef>
              <a:spcAft>
                <a:spcPts val="0"/>
              </a:spcAft>
            </a:pPr>
            <a:r>
              <a:rPr sz="1050" b="1" i="0">
                <a:solidFill>
                  <a:srgbClr val="E8A020"/>
                </a:solidFill>
                <a:latin typeface="Consolas"/>
              </a:rPr>
              <a:t>14:21</a:t>
            </a:r>
          </a:p>
        </p:txBody>
      </p:sp>
      <p:sp>
        <p:nvSpPr>
          <p:cNvPr id="35" name="TextBox 34"/>
          <p:cNvSpPr txBox="1"/>
          <p:nvPr/>
        </p:nvSpPr>
        <p:spPr>
          <a:xfrm>
            <a:off x="7196328" y="4480560"/>
            <a:ext cx="4206240" cy="27432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p95 back under 500ms</a:t>
            </a:r>
          </a:p>
        </p:txBody>
      </p:sp>
      <p:sp>
        <p:nvSpPr>
          <p:cNvPr id="36" name="TextBox 35"/>
          <p:cNvSpPr txBox="1"/>
          <p:nvPr/>
        </p:nvSpPr>
        <p:spPr>
          <a:xfrm>
            <a:off x="6236208" y="4837176"/>
            <a:ext cx="822960" cy="274320"/>
          </a:xfrm>
          <a:prstGeom prst="rect">
            <a:avLst/>
          </a:prstGeom>
          <a:noFill/>
        </p:spPr>
        <p:txBody>
          <a:bodyPr wrap="square" lIns="0" rIns="0" tIns="0" bIns="0">
            <a:spAutoFit/>
          </a:bodyPr>
          <a:lstStyle/>
          <a:p>
            <a:pPr>
              <a:spcBef>
                <a:spcPts val="0"/>
              </a:spcBef>
              <a:spcAft>
                <a:spcPts val="0"/>
              </a:spcAft>
            </a:pPr>
            <a:r>
              <a:rPr sz="1050" b="1" i="0">
                <a:solidFill>
                  <a:srgbClr val="E8A020"/>
                </a:solidFill>
                <a:latin typeface="Consolas"/>
              </a:rPr>
              <a:t>14:31</a:t>
            </a:r>
          </a:p>
        </p:txBody>
      </p:sp>
      <p:sp>
        <p:nvSpPr>
          <p:cNvPr id="37" name="TextBox 36"/>
          <p:cNvSpPr txBox="1"/>
          <p:nvPr/>
        </p:nvSpPr>
        <p:spPr>
          <a:xfrm>
            <a:off x="7196328" y="4837176"/>
            <a:ext cx="4206240" cy="27432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incident closed, postmortem started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Postmortem example: cause and follow-up</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Systems and gaps in detection, never a name.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48</a:t>
            </a:r>
          </a:p>
        </p:txBody>
      </p:sp>
      <p:sp>
        <p:nvSpPr>
          <p:cNvPr id="7" name="Rectangle 6"/>
          <p:cNvSpPr/>
          <p:nvPr/>
        </p:nvSpPr>
        <p:spPr>
          <a:xfrm>
            <a:off x="566928" y="1682496"/>
            <a:ext cx="5852160" cy="10972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95528" y="1901952"/>
            <a:ext cx="146304" cy="14630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810512"/>
            <a:ext cx="512064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Root cause</a:t>
            </a:r>
          </a:p>
        </p:txBody>
      </p:sp>
      <p:sp>
        <p:nvSpPr>
          <p:cNvPr id="10" name="TextBox 9"/>
          <p:cNvSpPr txBox="1"/>
          <p:nvPr/>
        </p:nvSpPr>
        <p:spPr>
          <a:xfrm>
            <a:off x="1069848" y="2139696"/>
            <a:ext cx="5120640" cy="54864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A delay was introduced ahead of every response on the ecommerce backend. In production this is the same shape as a slow dependency or a bad release.</a:t>
            </a:r>
          </a:p>
        </p:txBody>
      </p:sp>
      <p:sp>
        <p:nvSpPr>
          <p:cNvPr id="11" name="Rectangle 10"/>
          <p:cNvSpPr/>
          <p:nvPr/>
        </p:nvSpPr>
        <p:spPr>
          <a:xfrm>
            <a:off x="566928" y="2916936"/>
            <a:ext cx="5852160" cy="10972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5528" y="3136392"/>
            <a:ext cx="146304" cy="14630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044952"/>
            <a:ext cx="512064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Why the alerts stayed quiet</a:t>
            </a:r>
          </a:p>
        </p:txBody>
      </p:sp>
      <p:sp>
        <p:nvSpPr>
          <p:cNvPr id="14" name="TextBox 13"/>
          <p:cNvSpPr txBox="1"/>
          <p:nvPr/>
        </p:nvSpPr>
        <p:spPr>
          <a:xfrm>
            <a:off x="1069848" y="3374136"/>
            <a:ext cx="5120640" cy="54864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Nothing returned an error, so the error-rate monitor had nothing to fire on. Slowness is not failure, and it needs its own alert.</a:t>
            </a:r>
          </a:p>
        </p:txBody>
      </p:sp>
      <p:sp>
        <p:nvSpPr>
          <p:cNvPr id="15" name="Rectangle 14"/>
          <p:cNvSpPr/>
          <p:nvPr/>
        </p:nvSpPr>
        <p:spPr>
          <a:xfrm>
            <a:off x="566928" y="4151376"/>
            <a:ext cx="5852160" cy="10972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95528" y="4370832"/>
            <a:ext cx="146304" cy="14630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4279392"/>
            <a:ext cx="5120640" cy="27432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Why it took seven minutes to see</a:t>
            </a:r>
          </a:p>
        </p:txBody>
      </p:sp>
      <p:sp>
        <p:nvSpPr>
          <p:cNvPr id="18" name="TextBox 17"/>
          <p:cNvSpPr txBox="1"/>
          <p:nvPr/>
        </p:nvSpPr>
        <p:spPr>
          <a:xfrm>
            <a:off x="1069848" y="4608576"/>
            <a:ext cx="5120640" cy="54864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The first widget we opened showed average latency, which barely moved. The p95 widget told the real story straight away.</a:t>
            </a:r>
          </a:p>
        </p:txBody>
      </p:sp>
      <p:sp>
        <p:nvSpPr>
          <p:cNvPr id="19" name="Rectangle 18"/>
          <p:cNvSpPr/>
          <p:nvPr/>
        </p:nvSpPr>
        <p:spPr>
          <a:xfrm>
            <a:off x="6876288" y="1682496"/>
            <a:ext cx="4754880" cy="36118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50608" y="1865376"/>
            <a:ext cx="3657600" cy="320040"/>
          </a:xfrm>
          <a:prstGeom prst="rect">
            <a:avLst/>
          </a:prstGeom>
          <a:noFill/>
        </p:spPr>
        <p:txBody>
          <a:bodyPr wrap="square" lIns="0" rIns="0" tIns="0" bIns="0">
            <a:spAutoFit/>
          </a:bodyPr>
          <a:lstStyle/>
          <a:p>
            <a:pPr>
              <a:spcBef>
                <a:spcPts val="0"/>
              </a:spcBef>
              <a:spcAft>
                <a:spcPts val="0"/>
              </a:spcAft>
            </a:pPr>
            <a:r>
              <a:rPr sz="1500" b="1" i="0">
                <a:solidFill>
                  <a:srgbClr val="FFFFFF"/>
                </a:solidFill>
                <a:latin typeface="Segoe UI"/>
              </a:rPr>
              <a:t>Action items</a:t>
            </a:r>
          </a:p>
        </p:txBody>
      </p:sp>
      <p:sp>
        <p:nvSpPr>
          <p:cNvPr id="21" name="Oval 20"/>
          <p:cNvSpPr/>
          <p:nvPr/>
        </p:nvSpPr>
        <p:spPr>
          <a:xfrm>
            <a:off x="7150608" y="2368296"/>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50608" y="2423160"/>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1</a:t>
            </a:r>
          </a:p>
        </p:txBody>
      </p:sp>
      <p:sp>
        <p:nvSpPr>
          <p:cNvPr id="23" name="TextBox 22"/>
          <p:cNvSpPr txBox="1"/>
          <p:nvPr/>
        </p:nvSpPr>
        <p:spPr>
          <a:xfrm>
            <a:off x="7607808" y="2386584"/>
            <a:ext cx="2743200" cy="45720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Page on checkout p95, not on average</a:t>
            </a:r>
          </a:p>
        </p:txBody>
      </p:sp>
      <p:sp>
        <p:nvSpPr>
          <p:cNvPr id="24" name="TextBox 23"/>
          <p:cNvSpPr txBox="1"/>
          <p:nvPr/>
        </p:nvSpPr>
        <p:spPr>
          <a:xfrm>
            <a:off x="10442448" y="2404872"/>
            <a:ext cx="1097280" cy="274320"/>
          </a:xfrm>
          <a:prstGeom prst="rect">
            <a:avLst/>
          </a:prstGeom>
          <a:noFill/>
        </p:spPr>
        <p:txBody>
          <a:bodyPr wrap="square" lIns="0" rIns="0" tIns="0" bIns="0">
            <a:spAutoFit/>
          </a:bodyPr>
          <a:lstStyle/>
          <a:p>
            <a:pPr>
              <a:spcBef>
                <a:spcPts val="0"/>
              </a:spcBef>
              <a:spcAft>
                <a:spcPts val="0"/>
              </a:spcAft>
            </a:pPr>
            <a:r>
              <a:rPr sz="1000" b="1" i="0">
                <a:solidFill>
                  <a:srgbClr val="E8A020"/>
                </a:solidFill>
                <a:latin typeface="Segoe UI"/>
              </a:rPr>
              <a:t>ecommerce</a:t>
            </a:r>
          </a:p>
        </p:txBody>
      </p:sp>
      <p:sp>
        <p:nvSpPr>
          <p:cNvPr id="25" name="Oval 24"/>
          <p:cNvSpPr/>
          <p:nvPr/>
        </p:nvSpPr>
        <p:spPr>
          <a:xfrm>
            <a:off x="7150608" y="3026664"/>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50608" y="3081528"/>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2</a:t>
            </a:r>
          </a:p>
        </p:txBody>
      </p:sp>
      <p:sp>
        <p:nvSpPr>
          <p:cNvPr id="27" name="TextBox 26"/>
          <p:cNvSpPr txBox="1"/>
          <p:nvPr/>
        </p:nvSpPr>
        <p:spPr>
          <a:xfrm>
            <a:off x="7607808" y="3044952"/>
            <a:ext cx="2743200" cy="45720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Put p95 first on the dashboard</a:t>
            </a:r>
          </a:p>
        </p:txBody>
      </p:sp>
      <p:sp>
        <p:nvSpPr>
          <p:cNvPr id="28" name="TextBox 27"/>
          <p:cNvSpPr txBox="1"/>
          <p:nvPr/>
        </p:nvSpPr>
        <p:spPr>
          <a:xfrm>
            <a:off x="10442448" y="3063240"/>
            <a:ext cx="1097280" cy="274320"/>
          </a:xfrm>
          <a:prstGeom prst="rect">
            <a:avLst/>
          </a:prstGeom>
          <a:noFill/>
        </p:spPr>
        <p:txBody>
          <a:bodyPr wrap="square" lIns="0" rIns="0" tIns="0" bIns="0">
            <a:spAutoFit/>
          </a:bodyPr>
          <a:lstStyle/>
          <a:p>
            <a:pPr>
              <a:spcBef>
                <a:spcPts val="0"/>
              </a:spcBef>
              <a:spcAft>
                <a:spcPts val="0"/>
              </a:spcAft>
            </a:pPr>
            <a:r>
              <a:rPr sz="1000" b="1" i="0">
                <a:solidFill>
                  <a:srgbClr val="E8A020"/>
                </a:solidFill>
                <a:latin typeface="Segoe UI"/>
              </a:rPr>
              <a:t>ecommerce</a:t>
            </a:r>
          </a:p>
        </p:txBody>
      </p:sp>
      <p:sp>
        <p:nvSpPr>
          <p:cNvPr id="29" name="Oval 28"/>
          <p:cNvSpPr/>
          <p:nvPr/>
        </p:nvSpPr>
        <p:spPr>
          <a:xfrm>
            <a:off x="7150608" y="3685032"/>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50608" y="3739896"/>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3</a:t>
            </a:r>
          </a:p>
        </p:txBody>
      </p:sp>
      <p:sp>
        <p:nvSpPr>
          <p:cNvPr id="31" name="TextBox 30"/>
          <p:cNvSpPr txBox="1"/>
          <p:nvPr/>
        </p:nvSpPr>
        <p:spPr>
          <a:xfrm>
            <a:off x="7607808" y="3703320"/>
            <a:ext cx="2743200" cy="45720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Alert on unavailable replicas</a:t>
            </a:r>
          </a:p>
        </p:txBody>
      </p:sp>
      <p:sp>
        <p:nvSpPr>
          <p:cNvPr id="32" name="TextBox 31"/>
          <p:cNvSpPr txBox="1"/>
          <p:nvPr/>
        </p:nvSpPr>
        <p:spPr>
          <a:xfrm>
            <a:off x="10442448" y="3721608"/>
            <a:ext cx="1097280" cy="274320"/>
          </a:xfrm>
          <a:prstGeom prst="rect">
            <a:avLst/>
          </a:prstGeom>
          <a:noFill/>
        </p:spPr>
        <p:txBody>
          <a:bodyPr wrap="square" lIns="0" rIns="0" tIns="0" bIns="0">
            <a:spAutoFit/>
          </a:bodyPr>
          <a:lstStyle/>
          <a:p>
            <a:pPr>
              <a:spcBef>
                <a:spcPts val="0"/>
              </a:spcBef>
              <a:spcAft>
                <a:spcPts val="0"/>
              </a:spcAft>
            </a:pPr>
            <a:r>
              <a:rPr sz="1000" b="1" i="0">
                <a:solidFill>
                  <a:srgbClr val="E8A020"/>
                </a:solidFill>
                <a:latin typeface="Segoe UI"/>
              </a:rPr>
              <a:t>platform</a:t>
            </a:r>
          </a:p>
        </p:txBody>
      </p:sp>
      <p:sp>
        <p:nvSpPr>
          <p:cNvPr id="33" name="Oval 32"/>
          <p:cNvSpPr/>
          <p:nvPr/>
        </p:nvSpPr>
        <p:spPr>
          <a:xfrm>
            <a:off x="7150608" y="4343400"/>
            <a:ext cx="301752" cy="301752"/>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50608" y="4398264"/>
            <a:ext cx="301752" cy="301752"/>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4</a:t>
            </a:r>
          </a:p>
        </p:txBody>
      </p:sp>
      <p:sp>
        <p:nvSpPr>
          <p:cNvPr id="35" name="TextBox 34"/>
          <p:cNvSpPr txBox="1"/>
          <p:nvPr/>
        </p:nvSpPr>
        <p:spPr>
          <a:xfrm>
            <a:off x="7607808" y="4361688"/>
            <a:ext cx="2743200" cy="45720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Add a synthetic check from outside the cluster</a:t>
            </a:r>
          </a:p>
        </p:txBody>
      </p:sp>
      <p:sp>
        <p:nvSpPr>
          <p:cNvPr id="36" name="TextBox 35"/>
          <p:cNvSpPr txBox="1"/>
          <p:nvPr/>
        </p:nvSpPr>
        <p:spPr>
          <a:xfrm>
            <a:off x="10442448" y="4379976"/>
            <a:ext cx="1097280" cy="274320"/>
          </a:xfrm>
          <a:prstGeom prst="rect">
            <a:avLst/>
          </a:prstGeom>
          <a:noFill/>
        </p:spPr>
        <p:txBody>
          <a:bodyPr wrap="square" lIns="0" rIns="0" tIns="0" bIns="0">
            <a:spAutoFit/>
          </a:bodyPr>
          <a:lstStyle/>
          <a:p>
            <a:pPr>
              <a:spcBef>
                <a:spcPts val="0"/>
              </a:spcBef>
              <a:spcAft>
                <a:spcPts val="0"/>
              </a:spcAft>
            </a:pPr>
            <a:r>
              <a:rPr sz="1000" b="1" i="0">
                <a:solidFill>
                  <a:srgbClr val="E8A020"/>
                </a:solidFill>
                <a:latin typeface="Segoe UI"/>
              </a:rPr>
              <a:t>platform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Repeat, then tear it down</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Go back and pick another scenario. When you are done for the day, destroy it.</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49</a:t>
            </a:r>
          </a:p>
        </p:txBody>
      </p:sp>
      <p:sp>
        <p:nvSpPr>
          <p:cNvPr id="7" name="Rectangle 6"/>
          <p:cNvSpPr/>
          <p:nvPr/>
        </p:nvSpPr>
        <p:spPr>
          <a:xfrm>
            <a:off x="566928" y="1682496"/>
            <a:ext cx="6766560" cy="484632"/>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0512"/>
            <a:ext cx="6400800" cy="228600"/>
          </a:xfrm>
          <a:prstGeom prst="rect">
            <a:avLst/>
          </a:prstGeom>
          <a:noFill/>
        </p:spPr>
        <p:txBody>
          <a:bodyPr wrap="square" lIns="0" rIns="0" tIns="0" bIns="0">
            <a:spAutoFit/>
          </a:bodyPr>
          <a:lstStyle/>
          <a:p>
            <a:pPr>
              <a:spcBef>
                <a:spcPts val="0"/>
              </a:spcBef>
              <a:spcAft>
                <a:spcPts val="200"/>
              </a:spcAft>
            </a:pPr>
            <a:r>
              <a:rPr sz="1300" b="0" i="0">
                <a:solidFill>
                  <a:srgbClr val="D7E3EA"/>
                </a:solidFill>
                <a:latin typeface="Consolas"/>
              </a:rPr>
              <a:t>./scripts/teardown.sh</a:t>
            </a:r>
          </a:p>
        </p:txBody>
      </p:sp>
      <p:sp>
        <p:nvSpPr>
          <p:cNvPr id="9" name="Rectangle 8"/>
          <p:cNvSpPr/>
          <p:nvPr/>
        </p:nvSpPr>
        <p:spPr>
          <a:xfrm>
            <a:off x="566928" y="2459736"/>
            <a:ext cx="6766560" cy="146304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615184"/>
            <a:ext cx="6327648" cy="117043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it does, in this order</a:t>
            </a:r>
          </a:p>
          <a:p>
            <a:pPr>
              <a:spcBef>
                <a:spcPts val="0"/>
              </a:spcBef>
              <a:spcAft>
                <a:spcPts val="400"/>
              </a:spcAft>
            </a:pPr>
            <a:r>
              <a:rPr sz="1100" b="0" i="0">
                <a:solidFill>
                  <a:srgbClr val="17262E"/>
                </a:solidFill>
                <a:latin typeface="Segoe UI"/>
              </a:rPr>
              <a:t>Deletes the Ingress resources first, so the shared ALB is released cleanly</a:t>
            </a:r>
          </a:p>
          <a:p>
            <a:pPr>
              <a:spcBef>
                <a:spcPts val="0"/>
              </a:spcBef>
              <a:spcAft>
                <a:spcPts val="400"/>
              </a:spcAft>
            </a:pPr>
            <a:r>
              <a:rPr sz="1100" b="0" i="0">
                <a:solidFill>
                  <a:srgbClr val="17262E"/>
                </a:solidFill>
                <a:latin typeface="Segoe UI"/>
              </a:rPr>
              <a:t>Uninstalls Datadog</a:t>
            </a:r>
          </a:p>
          <a:p>
            <a:pPr>
              <a:spcBef>
                <a:spcPts val="0"/>
              </a:spcBef>
              <a:spcAft>
                <a:spcPts val="400"/>
              </a:spcAft>
            </a:pPr>
            <a:r>
              <a:rPr sz="1100" b="0" i="0">
                <a:solidFill>
                  <a:srgbClr val="17262E"/>
                </a:solidFill>
                <a:latin typeface="Segoe UI"/>
              </a:rPr>
              <a:t>Deletes the five app namespaces</a:t>
            </a:r>
          </a:p>
          <a:p>
            <a:pPr>
              <a:spcBef>
                <a:spcPts val="0"/>
              </a:spcBef>
              <a:spcAft>
                <a:spcPts val="400"/>
              </a:spcAft>
            </a:pPr>
            <a:r>
              <a:rPr sz="1100" b="0" i="0">
                <a:solidFill>
                  <a:srgbClr val="17262E"/>
                </a:solidFill>
                <a:latin typeface="Segoe UI"/>
              </a:rPr>
              <a:t>Runs terraform destroy</a:t>
            </a:r>
          </a:p>
        </p:txBody>
      </p:sp>
      <p:sp>
        <p:nvSpPr>
          <p:cNvPr id="11" name="Rectangle 10"/>
          <p:cNvSpPr/>
          <p:nvPr/>
        </p:nvSpPr>
        <p:spPr>
          <a:xfrm>
            <a:off x="566928" y="4105656"/>
            <a:ext cx="6766560" cy="13258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4261104"/>
            <a:ext cx="6327648" cy="103327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Order matters here too</a:t>
            </a:r>
          </a:p>
          <a:p>
            <a:pPr>
              <a:spcBef>
                <a:spcPts val="0"/>
              </a:spcBef>
              <a:spcAft>
                <a:spcPts val="400"/>
              </a:spcAft>
            </a:pPr>
            <a:r>
              <a:rPr sz="1100" b="0" i="0">
                <a:solidFill>
                  <a:srgbClr val="17262E"/>
                </a:solidFill>
                <a:latin typeface="Segoe UI"/>
              </a:rPr>
              <a:t>Load balancers created by Kubernetes are not managed by Terraform. Destroy the cluster first and the ALB is orphaned: still billing, and invisible in your plan.</a:t>
            </a:r>
          </a:p>
        </p:txBody>
      </p:sp>
      <p:sp>
        <p:nvSpPr>
          <p:cNvPr id="13" name="Rectangle 12"/>
          <p:cNvSpPr/>
          <p:nvPr/>
        </p:nvSpPr>
        <p:spPr>
          <a:xfrm>
            <a:off x="7607808" y="1682496"/>
            <a:ext cx="4023360" cy="18288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1837944"/>
            <a:ext cx="3584448" cy="1536192"/>
          </a:xfrm>
          <a:prstGeom prst="rect">
            <a:avLst/>
          </a:prstGeom>
          <a:noFill/>
        </p:spPr>
        <p:txBody>
          <a:bodyPr wrap="square" lIns="0" rIns="0" tIns="0" bIns="0">
            <a:spAutoFit/>
          </a:bodyPr>
          <a:lstStyle/>
          <a:p>
            <a:pPr>
              <a:spcBef>
                <a:spcPts val="0"/>
              </a:spcBef>
              <a:spcAft>
                <a:spcPts val="600"/>
              </a:spcAft>
            </a:pPr>
            <a:r>
              <a:rPr sz="1000" b="1" i="0">
                <a:solidFill>
                  <a:srgbClr val="D1495B"/>
                </a:solidFill>
                <a:latin typeface="Segoe UI"/>
              </a:rPr>
              <a:t>CHECK THE CONSOLE AFTERWARDS</a:t>
            </a:r>
          </a:p>
          <a:p>
            <a:pPr>
              <a:spcBef>
                <a:spcPts val="0"/>
              </a:spcBef>
              <a:spcAft>
                <a:spcPts val="400"/>
              </a:spcAft>
            </a:pPr>
            <a:r>
              <a:rPr sz="1100" b="0" i="0">
                <a:solidFill>
                  <a:srgbClr val="9FB3BD"/>
                </a:solidFill>
                <a:latin typeface="Segoe UI"/>
              </a:rPr>
              <a:t>EC2 load balancers</a:t>
            </a:r>
          </a:p>
          <a:p>
            <a:pPr>
              <a:spcBef>
                <a:spcPts val="0"/>
              </a:spcBef>
              <a:spcAft>
                <a:spcPts val="400"/>
              </a:spcAft>
            </a:pPr>
            <a:r>
              <a:rPr sz="1100" b="0" i="0">
                <a:solidFill>
                  <a:srgbClr val="9FB3BD"/>
                </a:solidFill>
                <a:latin typeface="Segoe UI"/>
              </a:rPr>
              <a:t>NAT gateways and elastic IPs</a:t>
            </a:r>
          </a:p>
          <a:p>
            <a:pPr>
              <a:spcBef>
                <a:spcPts val="0"/>
              </a:spcBef>
              <a:spcAft>
                <a:spcPts val="400"/>
              </a:spcAft>
            </a:pPr>
            <a:r>
              <a:rPr sz="1100" b="0" i="0">
                <a:solidFill>
                  <a:srgbClr val="9FB3BD"/>
                </a:solidFill>
                <a:latin typeface="Segoe UI"/>
              </a:rPr>
              <a:t>ECR repositories</a:t>
            </a:r>
          </a:p>
          <a:p>
            <a:pPr>
              <a:spcBef>
                <a:spcPts val="0"/>
              </a:spcBef>
              <a:spcAft>
                <a:spcPts val="400"/>
              </a:spcAft>
            </a:pPr>
            <a:r>
              <a:rPr sz="1100" b="0" i="0">
                <a:solidFill>
                  <a:srgbClr val="9FB3BD"/>
                </a:solidFill>
                <a:latin typeface="Segoe UI"/>
              </a:rPr>
              <a:t>RDS instances</a:t>
            </a:r>
          </a:p>
        </p:txBody>
      </p:sp>
      <p:sp>
        <p:nvSpPr>
          <p:cNvPr id="15" name="Rectangle 14"/>
          <p:cNvSpPr/>
          <p:nvPr/>
        </p:nvSpPr>
        <p:spPr>
          <a:xfrm>
            <a:off x="7607808" y="3694176"/>
            <a:ext cx="4023360" cy="17373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07808" y="3694176"/>
            <a:ext cx="44450" cy="173736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27264" y="3849624"/>
            <a:ext cx="3584448" cy="144475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The certificate stays</a:t>
            </a:r>
          </a:p>
          <a:p>
            <a:pPr>
              <a:spcBef>
                <a:spcPts val="0"/>
              </a:spcBef>
              <a:spcAft>
                <a:spcPts val="400"/>
              </a:spcAft>
            </a:pPr>
            <a:r>
              <a:rPr sz="1100" b="0" i="0">
                <a:solidFill>
                  <a:srgbClr val="17262E"/>
                </a:solidFill>
                <a:latin typeface="Segoe UI"/>
              </a:rPr>
              <a:t>The lab uses an ACM certificate but never owns one, so teardown can't delete a certificate something else on your domain is using. Certificates are free.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When it goes wrong</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The issues students actually hit, and what fixes them.</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3 · Breaking it on purpose</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50</a:t>
            </a:r>
          </a:p>
        </p:txBody>
      </p:sp>
      <p:sp>
        <p:nvSpPr>
          <p:cNvPr id="7" name="TextBox 6"/>
          <p:cNvSpPr txBox="1"/>
          <p:nvPr/>
        </p:nvSpPr>
        <p:spPr>
          <a:xfrm>
            <a:off x="566928" y="1682496"/>
            <a:ext cx="429768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SYMPTOM</a:t>
            </a:r>
          </a:p>
        </p:txBody>
      </p:sp>
      <p:sp>
        <p:nvSpPr>
          <p:cNvPr id="8" name="TextBox 7"/>
          <p:cNvSpPr txBox="1"/>
          <p:nvPr/>
        </p:nvSpPr>
        <p:spPr>
          <a:xfrm>
            <a:off x="4864608" y="1682496"/>
            <a:ext cx="6766560" cy="274320"/>
          </a:xfrm>
          <a:prstGeom prst="rect">
            <a:avLst/>
          </a:prstGeom>
          <a:noFill/>
        </p:spPr>
        <p:txBody>
          <a:bodyPr wrap="square" lIns="0" rIns="0" tIns="0" bIns="0">
            <a:spAutoFit/>
          </a:bodyPr>
          <a:lstStyle/>
          <a:p>
            <a:pPr>
              <a:spcBef>
                <a:spcPts val="0"/>
              </a:spcBef>
              <a:spcAft>
                <a:spcPts val="0"/>
              </a:spcAft>
            </a:pPr>
            <a:r>
              <a:rPr sz="900" b="1" i="0">
                <a:solidFill>
                  <a:srgbClr val="5B6B73"/>
                </a:solidFill>
                <a:latin typeface="Segoe UI"/>
              </a:rPr>
              <a:t>WHAT IS REALLY GOING ON</a:t>
            </a:r>
          </a:p>
        </p:txBody>
      </p:sp>
      <p:sp>
        <p:nvSpPr>
          <p:cNvPr id="9" name="Rectangle 8"/>
          <p:cNvSpPr/>
          <p:nvPr/>
        </p:nvSpPr>
        <p:spPr>
          <a:xfrm>
            <a:off x="566928" y="1965960"/>
            <a:ext cx="11064240" cy="12700"/>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048256"/>
            <a:ext cx="4151376" cy="365760"/>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Nothing ever appears in Datadog</a:t>
            </a:r>
          </a:p>
        </p:txBody>
      </p:sp>
      <p:sp>
        <p:nvSpPr>
          <p:cNvPr id="11" name="TextBox 10"/>
          <p:cNvSpPr txBox="1"/>
          <p:nvPr/>
        </p:nvSpPr>
        <p:spPr>
          <a:xfrm>
            <a:off x="4864608" y="2048256"/>
            <a:ext cx="6620256"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Wrong site value. The Agent runs happily and never authenticates. Re-run with the right DATADOG_SITE</a:t>
            </a:r>
          </a:p>
        </p:txBody>
      </p:sp>
      <p:sp>
        <p:nvSpPr>
          <p:cNvPr id="12" name="Rectangle 11"/>
          <p:cNvSpPr/>
          <p:nvPr/>
        </p:nvSpPr>
        <p:spPr>
          <a:xfrm>
            <a:off x="566928" y="235000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414016"/>
            <a:ext cx="4151376" cy="365760"/>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kubectl talks to the wrong cluster</a:t>
            </a:r>
          </a:p>
        </p:txBody>
      </p:sp>
      <p:sp>
        <p:nvSpPr>
          <p:cNvPr id="14" name="TextBox 13"/>
          <p:cNvSpPr txBox="1"/>
          <p:nvPr/>
        </p:nvSpPr>
        <p:spPr>
          <a:xfrm>
            <a:off x="4864608" y="2414016"/>
            <a:ext cx="6620256"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Docker Desktop rewrote your context on start. aws eks update-kubeconfig --name sre-lab</a:t>
            </a:r>
          </a:p>
        </p:txBody>
      </p:sp>
      <p:sp>
        <p:nvSpPr>
          <p:cNvPr id="15" name="Rectangle 14"/>
          <p:cNvSpPr/>
          <p:nvPr/>
        </p:nvSpPr>
        <p:spPr>
          <a:xfrm>
            <a:off x="566928" y="271576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779776"/>
            <a:ext cx="4151376" cy="365760"/>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Preflight aborts on NS delegation</a:t>
            </a:r>
          </a:p>
        </p:txBody>
      </p:sp>
      <p:sp>
        <p:nvSpPr>
          <p:cNvPr id="17" name="TextBox 16"/>
          <p:cNvSpPr txBox="1"/>
          <p:nvPr/>
        </p:nvSpPr>
        <p:spPr>
          <a:xfrm>
            <a:off x="4864608" y="2779776"/>
            <a:ext cx="6620256"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Your registrar is not pointed at the Route 53 hosted zone. Update the NS records, then re-run</a:t>
            </a:r>
          </a:p>
        </p:txBody>
      </p:sp>
      <p:sp>
        <p:nvSpPr>
          <p:cNvPr id="18" name="Rectangle 17"/>
          <p:cNvSpPr/>
          <p:nvPr/>
        </p:nvSpPr>
        <p:spPr>
          <a:xfrm>
            <a:off x="566928" y="308152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45536"/>
            <a:ext cx="4151376" cy="365760"/>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HPA shows cpu: &lt;unknown&gt;</a:t>
            </a:r>
          </a:p>
        </p:txBody>
      </p:sp>
      <p:sp>
        <p:nvSpPr>
          <p:cNvPr id="20" name="TextBox 19"/>
          <p:cNvSpPr txBox="1"/>
          <p:nvPr/>
        </p:nvSpPr>
        <p:spPr>
          <a:xfrm>
            <a:off x="4864608" y="3145536"/>
            <a:ext cx="6620256"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metrics-server missing. setup.sh step 9 installs it; cpu-spike cannot work without it</a:t>
            </a:r>
          </a:p>
        </p:txBody>
      </p:sp>
      <p:sp>
        <p:nvSpPr>
          <p:cNvPr id="21" name="Rectangle 20"/>
          <p:cNvSpPr/>
          <p:nvPr/>
        </p:nvSpPr>
        <p:spPr>
          <a:xfrm>
            <a:off x="566928" y="344728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511296"/>
            <a:ext cx="4151376" cy="365760"/>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setup.sh succeeded but an app is on the old image</a:t>
            </a:r>
          </a:p>
        </p:txBody>
      </p:sp>
      <p:sp>
        <p:nvSpPr>
          <p:cNvPr id="23" name="TextBox 22"/>
          <p:cNvSpPr txBox="1"/>
          <p:nvPr/>
        </p:nvSpPr>
        <p:spPr>
          <a:xfrm>
            <a:off x="4864608" y="3511296"/>
            <a:ext cx="6620256"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A rollout stalled — often a namespace quota with no headroom for the surge pod. Step 8 now catches this</a:t>
            </a:r>
          </a:p>
        </p:txBody>
      </p:sp>
      <p:sp>
        <p:nvSpPr>
          <p:cNvPr id="24" name="Rectangle 23"/>
          <p:cNvSpPr/>
          <p:nvPr/>
        </p:nvSpPr>
        <p:spPr>
          <a:xfrm>
            <a:off x="566928" y="381304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877056"/>
            <a:ext cx="4151376" cy="365760"/>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A monitor on kubernetes_state.*{env:lab} has no data</a:t>
            </a:r>
          </a:p>
        </p:txBody>
      </p:sp>
      <p:sp>
        <p:nvSpPr>
          <p:cNvPr id="26" name="TextBox 25"/>
          <p:cNvSpPr txBox="1"/>
          <p:nvPr/>
        </p:nvSpPr>
        <p:spPr>
          <a:xfrm>
            <a:off x="4864608" y="3877056"/>
            <a:ext cx="6620256"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Cluster metrics need the global tag, set via datadog.tags in helm-values.yaml</a:t>
            </a:r>
          </a:p>
        </p:txBody>
      </p:sp>
      <p:sp>
        <p:nvSpPr>
          <p:cNvPr id="27" name="Rectangle 26"/>
          <p:cNvSpPr/>
          <p:nvPr/>
        </p:nvSpPr>
        <p:spPr>
          <a:xfrm>
            <a:off x="566928" y="417880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242816"/>
            <a:ext cx="4151376" cy="365760"/>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Traces start at the backend</a:t>
            </a:r>
          </a:p>
        </p:txBody>
      </p:sp>
      <p:sp>
        <p:nvSpPr>
          <p:cNvPr id="29" name="TextBox 28"/>
          <p:cNvSpPr txBox="1"/>
          <p:nvPr/>
        </p:nvSpPr>
        <p:spPr>
          <a:xfrm>
            <a:off x="4864608" y="4242816"/>
            <a:ext cx="6620256"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RUM missing from the bundle. Check window.DD_RUM; the ids are cached in .rum-apps.json</a:t>
            </a:r>
          </a:p>
        </p:txBody>
      </p:sp>
      <p:sp>
        <p:nvSpPr>
          <p:cNvPr id="30" name="Rectangle 29"/>
          <p:cNvSpPr/>
          <p:nvPr/>
        </p:nvSpPr>
        <p:spPr>
          <a:xfrm>
            <a:off x="566928" y="454456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08576"/>
            <a:ext cx="4151376" cy="365760"/>
          </a:xfrm>
          <a:prstGeom prst="rect">
            <a:avLst/>
          </a:prstGeom>
          <a:noFill/>
        </p:spPr>
        <p:txBody>
          <a:bodyPr wrap="square" lIns="0" rIns="0" tIns="0" bIns="0">
            <a:spAutoFit/>
          </a:bodyPr>
          <a:lstStyle/>
          <a:p>
            <a:pPr>
              <a:spcBef>
                <a:spcPts val="0"/>
              </a:spcBef>
              <a:spcAft>
                <a:spcPts val="0"/>
              </a:spcAft>
            </a:pPr>
            <a:r>
              <a:rPr sz="1050" b="1" i="0">
                <a:solidFill>
                  <a:srgbClr val="17262E"/>
                </a:solidFill>
                <a:latin typeface="Segoe UI"/>
              </a:rPr>
              <a:t>reset.sh will not clear a database drop</a:t>
            </a:r>
          </a:p>
        </p:txBody>
      </p:sp>
      <p:sp>
        <p:nvSpPr>
          <p:cNvPr id="32" name="TextBox 31"/>
          <p:cNvSpPr txBox="1"/>
          <p:nvPr/>
        </p:nvSpPr>
        <p:spPr>
          <a:xfrm>
            <a:off x="4864608" y="4608576"/>
            <a:ext cx="6620256" cy="36576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That pod already left the Service, so the reset hit a healthy one. Reset it with kubectl exec</a:t>
            </a:r>
          </a:p>
        </p:txBody>
      </p:sp>
      <p:sp>
        <p:nvSpPr>
          <p:cNvPr id="33" name="Rectangle 32"/>
          <p:cNvSpPr/>
          <p:nvPr/>
        </p:nvSpPr>
        <p:spPr>
          <a:xfrm>
            <a:off x="566928" y="4910328"/>
            <a:ext cx="11064240" cy="9525"/>
          </a:xfrm>
          <a:prstGeom prst="rect">
            <a:avLst/>
          </a:prstGeom>
          <a:solidFill>
            <a:srgbClr val="D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81767" y="3063240"/>
            <a:ext cx="155448" cy="155448"/>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65815" y="3063240"/>
            <a:ext cx="155448" cy="155448"/>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49863" y="3063240"/>
            <a:ext cx="155448" cy="1554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148840"/>
            <a:ext cx="9144000" cy="36576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PART 4</a:t>
            </a:r>
          </a:p>
        </p:txBody>
      </p:sp>
      <p:sp>
        <p:nvSpPr>
          <p:cNvPr id="7" name="TextBox 6"/>
          <p:cNvSpPr txBox="1"/>
          <p:nvPr/>
        </p:nvSpPr>
        <p:spPr>
          <a:xfrm>
            <a:off x="566928" y="2560320"/>
            <a:ext cx="10058400" cy="1737360"/>
          </a:xfrm>
          <a:prstGeom prst="rect">
            <a:avLst/>
          </a:prstGeom>
          <a:noFill/>
        </p:spPr>
        <p:txBody>
          <a:bodyPr wrap="square" lIns="0" rIns="0" tIns="0" bIns="0">
            <a:spAutoFit/>
          </a:bodyPr>
          <a:lstStyle/>
          <a:p>
            <a:pPr>
              <a:spcBef>
                <a:spcPts val="0"/>
              </a:spcBef>
              <a:spcAft>
                <a:spcPts val="0"/>
              </a:spcAft>
            </a:pPr>
            <a:r>
              <a:rPr sz="4600" b="1" i="0">
                <a:solidFill>
                  <a:srgbClr val="FFFFFF"/>
                </a:solidFill>
                <a:latin typeface="Segoe UI"/>
              </a:rPr>
              <a:t>Talking about it</a:t>
            </a:r>
          </a:p>
        </p:txBody>
      </p:sp>
      <p:sp>
        <p:nvSpPr>
          <p:cNvPr id="8" name="TextBox 7"/>
          <p:cNvSpPr txBox="1"/>
          <p:nvPr/>
        </p:nvSpPr>
        <p:spPr>
          <a:xfrm>
            <a:off x="566928" y="3355848"/>
            <a:ext cx="8961120" cy="914400"/>
          </a:xfrm>
          <a:prstGeom prst="rect">
            <a:avLst/>
          </a:prstGeom>
          <a:noFill/>
        </p:spPr>
        <p:txBody>
          <a:bodyPr wrap="square" lIns="0" rIns="0" tIns="0" bIns="0">
            <a:spAutoFit/>
          </a:bodyPr>
          <a:lstStyle/>
          <a:p>
            <a:pPr>
              <a:spcBef>
                <a:spcPts val="0"/>
              </a:spcBef>
              <a:spcAft>
                <a:spcPts val="0"/>
              </a:spcAft>
            </a:pPr>
            <a:r>
              <a:rPr sz="1500" b="0" i="0">
                <a:solidFill>
                  <a:srgbClr val="9FB3BD"/>
                </a:solidFill>
                <a:latin typeface="Segoe UI"/>
              </a:rPr>
              <a:t>Turning a lab you finished into answers that land — from either chair.</a:t>
            </a:r>
          </a:p>
        </p:txBody>
      </p:sp>
      <p:sp>
        <p:nvSpPr>
          <p:cNvPr id="9" name="TextBox 8"/>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9FB3BD"/>
                </a:solidFill>
                <a:latin typeface="Segoe UI"/>
              </a:rPr>
              <a:t>Part 4 · Talking about it</a:t>
            </a:r>
          </a:p>
        </p:txBody>
      </p:sp>
      <p:sp>
        <p:nvSpPr>
          <p:cNvPr id="10" name="TextBox 9"/>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9FB3BD"/>
                </a:solidFill>
                <a:latin typeface="Segoe U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Questions you will actually be asked</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Prepare one concrete lab story for each.</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52</a:t>
            </a:r>
          </a:p>
        </p:txBody>
      </p:sp>
      <p:sp>
        <p:nvSpPr>
          <p:cNvPr id="7" name="Rectangle 6"/>
          <p:cNvSpPr/>
          <p:nvPr/>
        </p:nvSpPr>
        <p:spPr>
          <a:xfrm>
            <a:off x="566928" y="1682496"/>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801368"/>
            <a:ext cx="4937760" cy="32004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"How do you decide what to alert on?"</a:t>
            </a:r>
          </a:p>
        </p:txBody>
      </p:sp>
      <p:sp>
        <p:nvSpPr>
          <p:cNvPr id="9" name="TextBox 8"/>
          <p:cNvSpPr txBox="1"/>
          <p:nvPr/>
        </p:nvSpPr>
        <p:spPr>
          <a:xfrm>
            <a:off x="795528" y="2139696"/>
            <a:ext cx="4937760" cy="365760"/>
          </a:xfrm>
          <a:prstGeom prst="rect">
            <a:avLst/>
          </a:prstGeom>
          <a:noFill/>
        </p:spPr>
        <p:txBody>
          <a:bodyPr wrap="square" lIns="0" rIns="0" tIns="0" bIns="0">
            <a:spAutoFit/>
          </a:bodyPr>
          <a:lstStyle/>
          <a:p>
            <a:pPr>
              <a:spcBef>
                <a:spcPts val="0"/>
              </a:spcBef>
              <a:spcAft>
                <a:spcPts val="0"/>
              </a:spcAft>
            </a:pPr>
            <a:r>
              <a:rPr sz="1050" b="0" i="0">
                <a:solidFill>
                  <a:srgbClr val="1F7A99"/>
                </a:solidFill>
                <a:latin typeface="Segoe UI"/>
              </a:rPr>
              <a:t>Start with the user journey and the SLO, not with CPU.</a:t>
            </a:r>
          </a:p>
        </p:txBody>
      </p:sp>
      <p:sp>
        <p:nvSpPr>
          <p:cNvPr id="10" name="Rectangle 9"/>
          <p:cNvSpPr/>
          <p:nvPr/>
        </p:nvSpPr>
        <p:spPr>
          <a:xfrm>
            <a:off x="6281928" y="1682496"/>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1801368"/>
            <a:ext cx="4937760" cy="32004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"Walk me through an incident you handled."</a:t>
            </a:r>
          </a:p>
        </p:txBody>
      </p:sp>
      <p:sp>
        <p:nvSpPr>
          <p:cNvPr id="12" name="TextBox 11"/>
          <p:cNvSpPr txBox="1"/>
          <p:nvPr/>
        </p:nvSpPr>
        <p:spPr>
          <a:xfrm>
            <a:off x="6510528" y="2139696"/>
            <a:ext cx="4937760" cy="365760"/>
          </a:xfrm>
          <a:prstGeom prst="rect">
            <a:avLst/>
          </a:prstGeom>
          <a:noFill/>
        </p:spPr>
        <p:txBody>
          <a:bodyPr wrap="square" lIns="0" rIns="0" tIns="0" bIns="0">
            <a:spAutoFit/>
          </a:bodyPr>
          <a:lstStyle/>
          <a:p>
            <a:pPr>
              <a:spcBef>
                <a:spcPts val="0"/>
              </a:spcBef>
              <a:spcAft>
                <a:spcPts val="0"/>
              </a:spcAft>
            </a:pPr>
            <a:r>
              <a:rPr sz="1050" b="0" i="0">
                <a:solidFill>
                  <a:srgbClr val="1F7A99"/>
                </a:solidFill>
                <a:latin typeface="Segoe UI"/>
              </a:rPr>
              <a:t>Use the five-step order. Detection first, jargon last.</a:t>
            </a:r>
          </a:p>
        </p:txBody>
      </p:sp>
      <p:sp>
        <p:nvSpPr>
          <p:cNvPr id="13" name="Rectangle 12"/>
          <p:cNvSpPr/>
          <p:nvPr/>
        </p:nvSpPr>
        <p:spPr>
          <a:xfrm>
            <a:off x="566928" y="2706624"/>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2825496"/>
            <a:ext cx="4937760" cy="32004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"Tell me about a deploy that broke production."</a:t>
            </a:r>
          </a:p>
        </p:txBody>
      </p:sp>
      <p:sp>
        <p:nvSpPr>
          <p:cNvPr id="15" name="TextBox 14"/>
          <p:cNvSpPr txBox="1"/>
          <p:nvPr/>
        </p:nvSpPr>
        <p:spPr>
          <a:xfrm>
            <a:off x="795528" y="3163824"/>
            <a:ext cx="4937760" cy="365760"/>
          </a:xfrm>
          <a:prstGeom prst="rect">
            <a:avLst/>
          </a:prstGeom>
          <a:noFill/>
        </p:spPr>
        <p:txBody>
          <a:bodyPr wrap="square" lIns="0" rIns="0" tIns="0" bIns="0">
            <a:spAutoFit/>
          </a:bodyPr>
          <a:lstStyle/>
          <a:p>
            <a:pPr>
              <a:spcBef>
                <a:spcPts val="0"/>
              </a:spcBef>
              <a:spcAft>
                <a:spcPts val="0"/>
              </a:spcAft>
            </a:pPr>
            <a:r>
              <a:rPr sz="1050" b="0" i="0">
                <a:solidFill>
                  <a:srgbClr val="1F7A99"/>
                </a:solidFill>
                <a:latin typeface="Segoe UI"/>
              </a:rPr>
              <a:t>The DevOps one. Fix the pipeline, not just the incident.</a:t>
            </a:r>
          </a:p>
        </p:txBody>
      </p:sp>
      <p:sp>
        <p:nvSpPr>
          <p:cNvPr id="16" name="Rectangle 15"/>
          <p:cNvSpPr/>
          <p:nvPr/>
        </p:nvSpPr>
        <p:spPr>
          <a:xfrm>
            <a:off x="6281928" y="2706624"/>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2825496"/>
            <a:ext cx="4937760" cy="32004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"What is an SLO, and how did you pick the number?"</a:t>
            </a:r>
          </a:p>
        </p:txBody>
      </p:sp>
      <p:sp>
        <p:nvSpPr>
          <p:cNvPr id="18" name="TextBox 17"/>
          <p:cNvSpPr txBox="1"/>
          <p:nvPr/>
        </p:nvSpPr>
        <p:spPr>
          <a:xfrm>
            <a:off x="6510528" y="3163824"/>
            <a:ext cx="4937760" cy="365760"/>
          </a:xfrm>
          <a:prstGeom prst="rect">
            <a:avLst/>
          </a:prstGeom>
          <a:noFill/>
        </p:spPr>
        <p:txBody>
          <a:bodyPr wrap="square" lIns="0" rIns="0" tIns="0" bIns="0">
            <a:spAutoFit/>
          </a:bodyPr>
          <a:lstStyle/>
          <a:p>
            <a:pPr>
              <a:spcBef>
                <a:spcPts val="0"/>
              </a:spcBef>
              <a:spcAft>
                <a:spcPts val="0"/>
              </a:spcAft>
            </a:pPr>
            <a:r>
              <a:rPr sz="1050" b="0" i="0">
                <a:solidFill>
                  <a:srgbClr val="1F7A99"/>
                </a:solidFill>
                <a:latin typeface="Segoe UI"/>
              </a:rPr>
              <a:t>Name the SLI, the target, the window, and who agreed.</a:t>
            </a:r>
          </a:p>
        </p:txBody>
      </p:sp>
      <p:sp>
        <p:nvSpPr>
          <p:cNvPr id="19" name="Rectangle 18"/>
          <p:cNvSpPr/>
          <p:nvPr/>
        </p:nvSpPr>
        <p:spPr>
          <a:xfrm>
            <a:off x="566928" y="3730752"/>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849624"/>
            <a:ext cx="4937760" cy="32004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"What is an error budget for?"</a:t>
            </a:r>
          </a:p>
        </p:txBody>
      </p:sp>
      <p:sp>
        <p:nvSpPr>
          <p:cNvPr id="21" name="TextBox 20"/>
          <p:cNvSpPr txBox="1"/>
          <p:nvPr/>
        </p:nvSpPr>
        <p:spPr>
          <a:xfrm>
            <a:off x="795528" y="4187952"/>
            <a:ext cx="4937760" cy="365760"/>
          </a:xfrm>
          <a:prstGeom prst="rect">
            <a:avLst/>
          </a:prstGeom>
          <a:noFill/>
        </p:spPr>
        <p:txBody>
          <a:bodyPr wrap="square" lIns="0" rIns="0" tIns="0" bIns="0">
            <a:spAutoFit/>
          </a:bodyPr>
          <a:lstStyle/>
          <a:p>
            <a:pPr>
              <a:spcBef>
                <a:spcPts val="0"/>
              </a:spcBef>
              <a:spcAft>
                <a:spcPts val="0"/>
              </a:spcAft>
            </a:pPr>
            <a:r>
              <a:rPr sz="1050" b="0" i="0">
                <a:solidFill>
                  <a:srgbClr val="1F7A99"/>
                </a:solidFill>
                <a:latin typeface="Segoe UI"/>
              </a:rPr>
              <a:t>It decides whether the team ships or slows down. Give the maths.</a:t>
            </a:r>
          </a:p>
        </p:txBody>
      </p:sp>
      <p:sp>
        <p:nvSpPr>
          <p:cNvPr id="22" name="Rectangle 21"/>
          <p:cNvSpPr/>
          <p:nvPr/>
        </p:nvSpPr>
        <p:spPr>
          <a:xfrm>
            <a:off x="6281928" y="3730752"/>
            <a:ext cx="5349240" cy="8686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3849624"/>
            <a:ext cx="4937760" cy="320040"/>
          </a:xfrm>
          <a:prstGeom prst="rect">
            <a:avLst/>
          </a:prstGeom>
          <a:noFill/>
        </p:spPr>
        <p:txBody>
          <a:bodyPr wrap="square" lIns="0" rIns="0" tIns="0" bIns="0">
            <a:spAutoFit/>
          </a:bodyPr>
          <a:lstStyle/>
          <a:p>
            <a:pPr>
              <a:spcBef>
                <a:spcPts val="0"/>
              </a:spcBef>
              <a:spcAft>
                <a:spcPts val="0"/>
              </a:spcAft>
            </a:pPr>
            <a:r>
              <a:rPr sz="1200" b="1" i="0">
                <a:solidFill>
                  <a:srgbClr val="17262E"/>
                </a:solidFill>
                <a:latin typeface="Segoe UI"/>
              </a:rPr>
              <a:t>"A pod says Running but users report errors."</a:t>
            </a:r>
          </a:p>
        </p:txBody>
      </p:sp>
      <p:sp>
        <p:nvSpPr>
          <p:cNvPr id="24" name="TextBox 23"/>
          <p:cNvSpPr txBox="1"/>
          <p:nvPr/>
        </p:nvSpPr>
        <p:spPr>
          <a:xfrm>
            <a:off x="6510528" y="4187952"/>
            <a:ext cx="4937760" cy="365760"/>
          </a:xfrm>
          <a:prstGeom prst="rect">
            <a:avLst/>
          </a:prstGeom>
          <a:noFill/>
        </p:spPr>
        <p:txBody>
          <a:bodyPr wrap="square" lIns="0" rIns="0" tIns="0" bIns="0">
            <a:spAutoFit/>
          </a:bodyPr>
          <a:lstStyle/>
          <a:p>
            <a:pPr>
              <a:spcBef>
                <a:spcPts val="0"/>
              </a:spcBef>
              <a:spcAft>
                <a:spcPts val="0"/>
              </a:spcAft>
            </a:pPr>
            <a:r>
              <a:rPr sz="1050" b="0" i="0">
                <a:solidFill>
                  <a:srgbClr val="1F7A99"/>
                </a:solidFill>
                <a:latin typeface="Segoe UI"/>
              </a:rPr>
              <a:t>Readiness vs liveness, dependency health, then one trace.</a:t>
            </a:r>
          </a:p>
        </p:txBody>
      </p:sp>
      <p:sp>
        <p:nvSpPr>
          <p:cNvPr id="25" name="Rectangle 24"/>
          <p:cNvSpPr/>
          <p:nvPr/>
        </p:nvSpPr>
        <p:spPr>
          <a:xfrm>
            <a:off x="566928" y="4882896"/>
            <a:ext cx="11064240" cy="6400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038344"/>
            <a:ext cx="10625328" cy="347472"/>
          </a:xfrm>
          <a:prstGeom prst="rect">
            <a:avLst/>
          </a:prstGeom>
          <a:noFill/>
        </p:spPr>
        <p:txBody>
          <a:bodyPr wrap="square" lIns="0" rIns="0" tIns="0" bIns="0">
            <a:spAutoFit/>
          </a:bodyPr>
          <a:lstStyle/>
          <a:p>
            <a:pPr>
              <a:spcBef>
                <a:spcPts val="0"/>
              </a:spcBef>
              <a:spcAft>
                <a:spcPts val="400"/>
              </a:spcAft>
            </a:pPr>
            <a:r>
              <a:rPr sz="1250" b="0" i="0">
                <a:solidFill>
                  <a:srgbClr val="FFFFFF"/>
                </a:solidFill>
                <a:latin typeface="Segoe UI"/>
              </a:rPr>
              <a:t>Every one of these has an answer sitting in the lab you just ran. Specifics beat theory.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A model answer</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Ninety seconds, five beats, no jargon in the opening line.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53</a:t>
            </a:r>
          </a:p>
        </p:txBody>
      </p:sp>
      <p:sp>
        <p:nvSpPr>
          <p:cNvPr id="7" name="Rectangle 6"/>
          <p:cNvSpPr/>
          <p:nvPr/>
        </p:nvSpPr>
        <p:spPr>
          <a:xfrm>
            <a:off x="566928" y="1682496"/>
            <a:ext cx="7040880" cy="3749039"/>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8" y="1911096"/>
            <a:ext cx="329184" cy="32918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965960"/>
            <a:ext cx="329184" cy="329184"/>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1</a:t>
            </a:r>
          </a:p>
        </p:txBody>
      </p:sp>
      <p:sp>
        <p:nvSpPr>
          <p:cNvPr id="10" name="TextBox 9"/>
          <p:cNvSpPr txBox="1"/>
          <p:nvPr/>
        </p:nvSpPr>
        <p:spPr>
          <a:xfrm>
            <a:off x="1344168" y="1892808"/>
            <a:ext cx="5943600" cy="27432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Detection</a:t>
            </a:r>
          </a:p>
        </p:txBody>
      </p:sp>
      <p:sp>
        <p:nvSpPr>
          <p:cNvPr id="11" name="TextBox 10"/>
          <p:cNvSpPr txBox="1"/>
          <p:nvPr/>
        </p:nvSpPr>
        <p:spPr>
          <a:xfrm>
            <a:off x="1344168" y="2148840"/>
            <a:ext cx="5943600" cy="45720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Our error-rate monitor on checkout fired at 14:02, four minutes before the first support ticket.</a:t>
            </a:r>
          </a:p>
        </p:txBody>
      </p:sp>
      <p:sp>
        <p:nvSpPr>
          <p:cNvPr id="12" name="Oval 11"/>
          <p:cNvSpPr/>
          <p:nvPr/>
        </p:nvSpPr>
        <p:spPr>
          <a:xfrm>
            <a:off x="841248" y="2624328"/>
            <a:ext cx="329184" cy="32918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679192"/>
            <a:ext cx="329184" cy="329184"/>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2</a:t>
            </a:r>
          </a:p>
        </p:txBody>
      </p:sp>
      <p:sp>
        <p:nvSpPr>
          <p:cNvPr id="14" name="TextBox 13"/>
          <p:cNvSpPr txBox="1"/>
          <p:nvPr/>
        </p:nvSpPr>
        <p:spPr>
          <a:xfrm>
            <a:off x="1344168" y="2606040"/>
            <a:ext cx="5943600" cy="27432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Impact</a:t>
            </a:r>
          </a:p>
        </p:txBody>
      </p:sp>
      <p:sp>
        <p:nvSpPr>
          <p:cNvPr id="15" name="TextBox 14"/>
          <p:cNvSpPr txBox="1"/>
          <p:nvPr/>
        </p:nvSpPr>
        <p:spPr>
          <a:xfrm>
            <a:off x="1344168" y="2862072"/>
            <a:ext cx="5943600" cy="45720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Customers could add items to the cart, but the final payment step failed for about a third of them.</a:t>
            </a:r>
          </a:p>
        </p:txBody>
      </p:sp>
      <p:sp>
        <p:nvSpPr>
          <p:cNvPr id="16" name="Oval 15"/>
          <p:cNvSpPr/>
          <p:nvPr/>
        </p:nvSpPr>
        <p:spPr>
          <a:xfrm>
            <a:off x="841248" y="3337560"/>
            <a:ext cx="329184" cy="32918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3392424"/>
            <a:ext cx="329184" cy="329184"/>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3</a:t>
            </a:r>
          </a:p>
        </p:txBody>
      </p:sp>
      <p:sp>
        <p:nvSpPr>
          <p:cNvPr id="18" name="TextBox 17"/>
          <p:cNvSpPr txBox="1"/>
          <p:nvPr/>
        </p:nvSpPr>
        <p:spPr>
          <a:xfrm>
            <a:off x="1344168" y="3319272"/>
            <a:ext cx="5943600" cy="27432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First check</a:t>
            </a:r>
          </a:p>
        </p:txBody>
      </p:sp>
      <p:sp>
        <p:nvSpPr>
          <p:cNvPr id="19" name="TextBox 18"/>
          <p:cNvSpPr txBox="1"/>
          <p:nvPr/>
        </p:nvSpPr>
        <p:spPr>
          <a:xfrm>
            <a:off x="1344168" y="3575304"/>
            <a:ext cx="5943600" cy="45720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I opened the checkout runbook. The first step is the service dashboard.</a:t>
            </a:r>
          </a:p>
        </p:txBody>
      </p:sp>
      <p:sp>
        <p:nvSpPr>
          <p:cNvPr id="20" name="Oval 19"/>
          <p:cNvSpPr/>
          <p:nvPr/>
        </p:nvSpPr>
        <p:spPr>
          <a:xfrm>
            <a:off x="841248" y="4050792"/>
            <a:ext cx="329184" cy="32918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4105656"/>
            <a:ext cx="329184" cy="329184"/>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4</a:t>
            </a:r>
          </a:p>
        </p:txBody>
      </p:sp>
      <p:sp>
        <p:nvSpPr>
          <p:cNvPr id="22" name="TextBox 21"/>
          <p:cNvSpPr txBox="1"/>
          <p:nvPr/>
        </p:nvSpPr>
        <p:spPr>
          <a:xfrm>
            <a:off x="1344168" y="4032504"/>
            <a:ext cx="5943600" cy="27432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Finding</a:t>
            </a:r>
          </a:p>
        </p:txBody>
      </p:sp>
      <p:sp>
        <p:nvSpPr>
          <p:cNvPr id="23" name="TextBox 22"/>
          <p:cNvSpPr txBox="1"/>
          <p:nvPr/>
        </p:nvSpPr>
        <p:spPr>
          <a:xfrm>
            <a:off x="1344168" y="4288536"/>
            <a:ext cx="5943600" cy="45720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Errors up and p95 from 400 ms to 1.2 s. A trace showed the database call timing out; the logs gave the exact error.</a:t>
            </a:r>
          </a:p>
        </p:txBody>
      </p:sp>
      <p:sp>
        <p:nvSpPr>
          <p:cNvPr id="24" name="Oval 23"/>
          <p:cNvSpPr/>
          <p:nvPr/>
        </p:nvSpPr>
        <p:spPr>
          <a:xfrm>
            <a:off x="841248" y="4764024"/>
            <a:ext cx="329184" cy="329184"/>
          </a:xfrm>
          <a:prstGeom prst="ellipse">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4818888"/>
            <a:ext cx="329184" cy="329184"/>
          </a:xfrm>
          <a:prstGeom prst="rect">
            <a:avLst/>
          </a:prstGeom>
          <a:noFill/>
        </p:spPr>
        <p:txBody>
          <a:bodyPr wrap="square" lIns="0" rIns="0" tIns="0" bIns="0">
            <a:spAutoFit/>
          </a:bodyPr>
          <a:lstStyle/>
          <a:p>
            <a:pPr algn="ctr">
              <a:spcBef>
                <a:spcPts val="0"/>
              </a:spcBef>
              <a:spcAft>
                <a:spcPts val="0"/>
              </a:spcAft>
            </a:pPr>
            <a:r>
              <a:rPr sz="1300" b="1" i="0">
                <a:solidFill>
                  <a:srgbClr val="FFFFFF"/>
                </a:solidFill>
                <a:latin typeface="Segoe UI"/>
              </a:rPr>
              <a:t>5</a:t>
            </a:r>
          </a:p>
        </p:txBody>
      </p:sp>
      <p:sp>
        <p:nvSpPr>
          <p:cNvPr id="26" name="TextBox 25"/>
          <p:cNvSpPr txBox="1"/>
          <p:nvPr/>
        </p:nvSpPr>
        <p:spPr>
          <a:xfrm>
            <a:off x="1344168" y="4745736"/>
            <a:ext cx="5943600" cy="274320"/>
          </a:xfrm>
          <a:prstGeom prst="rect">
            <a:avLst/>
          </a:prstGeom>
          <a:noFill/>
        </p:spPr>
        <p:txBody>
          <a:bodyPr wrap="square" lIns="0" rIns="0" tIns="0" bIns="0">
            <a:spAutoFit/>
          </a:bodyPr>
          <a:lstStyle/>
          <a:p>
            <a:pPr>
              <a:spcBef>
                <a:spcPts val="0"/>
              </a:spcBef>
              <a:spcAft>
                <a:spcPts val="0"/>
              </a:spcAft>
            </a:pPr>
            <a:r>
              <a:rPr sz="1200" b="1" i="0">
                <a:solidFill>
                  <a:srgbClr val="E8A020"/>
                </a:solidFill>
                <a:latin typeface="Segoe UI"/>
              </a:rPr>
              <a:t>Fix and proof</a:t>
            </a:r>
          </a:p>
        </p:txBody>
      </p:sp>
      <p:sp>
        <p:nvSpPr>
          <p:cNvPr id="27" name="TextBox 26"/>
          <p:cNvSpPr txBox="1"/>
          <p:nvPr/>
        </p:nvSpPr>
        <p:spPr>
          <a:xfrm>
            <a:off x="1344168" y="5001768"/>
            <a:ext cx="5943600" cy="457200"/>
          </a:xfrm>
          <a:prstGeom prst="rect">
            <a:avLst/>
          </a:prstGeom>
          <a:noFill/>
        </p:spPr>
        <p:txBody>
          <a:bodyPr wrap="square" lIns="0" rIns="0" tIns="0" bIns="0">
            <a:spAutoFit/>
          </a:bodyPr>
          <a:lstStyle/>
          <a:p>
            <a:pPr>
              <a:spcBef>
                <a:spcPts val="0"/>
              </a:spcBef>
              <a:spcAft>
                <a:spcPts val="0"/>
              </a:spcAft>
            </a:pPr>
            <a:r>
              <a:rPr sz="1050" b="0" i="0">
                <a:solidFill>
                  <a:srgbClr val="9FB3BD"/>
                </a:solidFill>
                <a:latin typeface="Segoe UI"/>
              </a:rPr>
              <a:t>We rolled back the change that shrank the connection pool. Baseline within three minutes, about 4% of the monthly budget.</a:t>
            </a:r>
          </a:p>
        </p:txBody>
      </p:sp>
      <p:sp>
        <p:nvSpPr>
          <p:cNvPr id="28" name="Rectangle 27"/>
          <p:cNvSpPr/>
          <p:nvPr/>
        </p:nvSpPr>
        <p:spPr>
          <a:xfrm>
            <a:off x="7882128" y="1682496"/>
            <a:ext cx="3749039" cy="17830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82128" y="1682496"/>
            <a:ext cx="44450" cy="1783080"/>
          </a:xfrm>
          <a:prstGeom prst="rect">
            <a:avLst/>
          </a:prstGeom>
          <a:solidFill>
            <a:srgbClr val="2E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01584" y="1837944"/>
            <a:ext cx="3310127" cy="1490472"/>
          </a:xfrm>
          <a:prstGeom prst="rect">
            <a:avLst/>
          </a:prstGeom>
          <a:noFill/>
        </p:spPr>
        <p:txBody>
          <a:bodyPr wrap="square" lIns="0" rIns="0" tIns="0" bIns="0">
            <a:spAutoFit/>
          </a:bodyPr>
          <a:lstStyle/>
          <a:p>
            <a:pPr>
              <a:spcBef>
                <a:spcPts val="0"/>
              </a:spcBef>
              <a:spcAft>
                <a:spcPts val="600"/>
              </a:spcAft>
            </a:pPr>
            <a:r>
              <a:rPr sz="1000" b="1" i="0">
                <a:solidFill>
                  <a:srgbClr val="2E7D55"/>
                </a:solidFill>
                <a:latin typeface="Segoe UI"/>
              </a:rPr>
              <a:t>WHY IT WORKS</a:t>
            </a:r>
          </a:p>
          <a:p>
            <a:pPr>
              <a:spcBef>
                <a:spcPts val="0"/>
              </a:spcBef>
              <a:spcAft>
                <a:spcPts val="400"/>
              </a:spcAft>
            </a:pPr>
            <a:r>
              <a:rPr sz="1100" b="0" i="0">
                <a:solidFill>
                  <a:srgbClr val="17262E"/>
                </a:solidFill>
                <a:latin typeface="Segoe UI"/>
              </a:rPr>
              <a:t>Detection before diagnosis</a:t>
            </a:r>
          </a:p>
          <a:p>
            <a:pPr>
              <a:spcBef>
                <a:spcPts val="0"/>
              </a:spcBef>
              <a:spcAft>
                <a:spcPts val="400"/>
              </a:spcAft>
            </a:pPr>
            <a:r>
              <a:rPr sz="1100" b="0" i="0">
                <a:solidFill>
                  <a:srgbClr val="17262E"/>
                </a:solidFill>
                <a:latin typeface="Segoe UI"/>
              </a:rPr>
              <a:t>Impact in the user's words</a:t>
            </a:r>
          </a:p>
          <a:p>
            <a:pPr>
              <a:spcBef>
                <a:spcPts val="0"/>
              </a:spcBef>
              <a:spcAft>
                <a:spcPts val="400"/>
              </a:spcAft>
            </a:pPr>
            <a:r>
              <a:rPr sz="1100" b="0" i="0">
                <a:solidFill>
                  <a:srgbClr val="17262E"/>
                </a:solidFill>
                <a:latin typeface="Segoe UI"/>
              </a:rPr>
              <a:t>One number per claim</a:t>
            </a:r>
          </a:p>
          <a:p>
            <a:pPr>
              <a:spcBef>
                <a:spcPts val="0"/>
              </a:spcBef>
              <a:spcAft>
                <a:spcPts val="400"/>
              </a:spcAft>
            </a:pPr>
            <a:r>
              <a:rPr sz="1100" b="0" i="0">
                <a:solidFill>
                  <a:srgbClr val="17262E"/>
                </a:solidFill>
                <a:latin typeface="Segoe UI"/>
              </a:rPr>
              <a:t>Ends with proof, not opinion</a:t>
            </a:r>
          </a:p>
        </p:txBody>
      </p:sp>
      <p:sp>
        <p:nvSpPr>
          <p:cNvPr id="31" name="Rectangle 30"/>
          <p:cNvSpPr/>
          <p:nvPr/>
        </p:nvSpPr>
        <p:spPr>
          <a:xfrm>
            <a:off x="7882128" y="3648456"/>
            <a:ext cx="3749039" cy="17830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882128" y="3648456"/>
            <a:ext cx="44450" cy="1783080"/>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01584" y="3803904"/>
            <a:ext cx="3310127" cy="1490472"/>
          </a:xfrm>
          <a:prstGeom prst="rect">
            <a:avLst/>
          </a:prstGeom>
          <a:noFill/>
        </p:spPr>
        <p:txBody>
          <a:bodyPr wrap="square" lIns="0" rIns="0" tIns="0" bIns="0">
            <a:spAutoFit/>
          </a:bodyPr>
          <a:lstStyle/>
          <a:p>
            <a:pPr>
              <a:spcBef>
                <a:spcPts val="0"/>
              </a:spcBef>
              <a:spcAft>
                <a:spcPts val="600"/>
              </a:spcAft>
            </a:pPr>
            <a:r>
              <a:rPr sz="1000" b="1" i="0">
                <a:solidFill>
                  <a:srgbClr val="D1495B"/>
                </a:solidFill>
                <a:latin typeface="Segoe UI"/>
              </a:rPr>
              <a:t>AVOID</a:t>
            </a:r>
          </a:p>
          <a:p>
            <a:pPr>
              <a:spcBef>
                <a:spcPts val="0"/>
              </a:spcBef>
              <a:spcAft>
                <a:spcPts val="400"/>
              </a:spcAft>
            </a:pPr>
            <a:r>
              <a:rPr sz="1100" b="0" i="0">
                <a:solidFill>
                  <a:srgbClr val="17262E"/>
                </a:solidFill>
                <a:latin typeface="Segoe UI"/>
              </a:rPr>
              <a:t>Opening with "p95 was elevated"</a:t>
            </a:r>
          </a:p>
          <a:p>
            <a:pPr>
              <a:spcBef>
                <a:spcPts val="0"/>
              </a:spcBef>
              <a:spcAft>
                <a:spcPts val="400"/>
              </a:spcAft>
            </a:pPr>
            <a:r>
              <a:rPr sz="1100" b="0" i="0">
                <a:solidFill>
                  <a:srgbClr val="17262E"/>
                </a:solidFill>
                <a:latin typeface="Segoe UI"/>
              </a:rPr>
              <a:t>Tool names instead of reasoning</a:t>
            </a:r>
          </a:p>
          <a:p>
            <a:pPr>
              <a:spcBef>
                <a:spcPts val="0"/>
              </a:spcBef>
              <a:spcAft>
                <a:spcPts val="400"/>
              </a:spcAft>
            </a:pPr>
            <a:r>
              <a:rPr sz="1100" b="0" i="0">
                <a:solidFill>
                  <a:srgbClr val="17262E"/>
                </a:solidFill>
                <a:latin typeface="Segoe UI"/>
              </a:rPr>
              <a:t>Blaming a teammate or a vendor</a:t>
            </a:r>
          </a:p>
          <a:p>
            <a:pPr>
              <a:spcBef>
                <a:spcPts val="0"/>
              </a:spcBef>
              <a:spcAft>
                <a:spcPts val="400"/>
              </a:spcAft>
            </a:pPr>
            <a:r>
              <a:rPr sz="1100" b="0" i="0">
                <a:solidFill>
                  <a:srgbClr val="17262E"/>
                </a:solidFill>
                <a:latin typeface="Segoe UI"/>
              </a:rPr>
              <a:t>No numbers at all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058400" cy="274320"/>
          </a:xfrm>
          <a:prstGeom prst="rect">
            <a:avLst/>
          </a:prstGeom>
          <a:noFill/>
        </p:spPr>
        <p:txBody>
          <a:bodyPr wrap="square" lIns="0" rIns="0" tIns="0" bIns="0">
            <a:spAutoFit/>
          </a:bodyPr>
          <a:lstStyle/>
          <a:p>
            <a:pPr>
              <a:spcBef>
                <a:spcPts val="0"/>
              </a:spcBef>
              <a:spcAft>
                <a:spcPts val="0"/>
              </a:spcAft>
            </a:pPr>
            <a:r>
              <a:rPr sz="1000" b="1" i="0">
                <a:solidFill>
                  <a:srgbClr val="B97708"/>
                </a:solidFill>
                <a:latin typeface="Segoe UI"/>
              </a:rPr>
              <a:t>NEW IN THIS EDITION</a:t>
            </a:r>
          </a:p>
        </p:txBody>
      </p:sp>
      <p:sp>
        <p:nvSpPr>
          <p:cNvPr id="4" name="TextBox 3"/>
          <p:cNvSpPr txBox="1"/>
          <p:nvPr/>
        </p:nvSpPr>
        <p:spPr>
          <a:xfrm>
            <a:off x="566928" y="84124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Same facts. Different question.</a:t>
            </a:r>
          </a:p>
        </p:txBody>
      </p:sp>
      <p:sp>
        <p:nvSpPr>
          <p:cNvPr id="5" name="TextBox 4"/>
          <p:cNvSpPr txBox="1"/>
          <p:nvPr/>
        </p:nvSpPr>
        <p:spPr>
          <a:xfrm>
            <a:off x="566928" y="140817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A config change stalled a rollout for twenty minutes. Customer impact: zero.</a:t>
            </a:r>
          </a:p>
        </p:txBody>
      </p:sp>
      <p:sp>
        <p:nvSpPr>
          <p:cNvPr id="6" name="TextBox 5"/>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7" name="TextBox 6"/>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54</a:t>
            </a:r>
          </a:p>
        </p:txBody>
      </p:sp>
      <p:sp>
        <p:nvSpPr>
          <p:cNvPr id="8" name="Rectangle 7"/>
          <p:cNvSpPr/>
          <p:nvPr/>
        </p:nvSpPr>
        <p:spPr>
          <a:xfrm>
            <a:off x="566928" y="1956816"/>
            <a:ext cx="44450" cy="3017520"/>
          </a:xfrm>
          <a:prstGeom prst="rect">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95528" y="2029968"/>
            <a:ext cx="146304" cy="146304"/>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1938528"/>
            <a:ext cx="4754880" cy="3200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The DevOps version — the delivery path</a:t>
            </a:r>
          </a:p>
        </p:txBody>
      </p:sp>
      <p:sp>
        <p:nvSpPr>
          <p:cNvPr id="11" name="TextBox 10"/>
          <p:cNvSpPr txBox="1"/>
          <p:nvPr/>
        </p:nvSpPr>
        <p:spPr>
          <a:xfrm>
            <a:off x="795528" y="2340864"/>
            <a:ext cx="4983480" cy="2560320"/>
          </a:xfrm>
          <a:prstGeom prst="rect">
            <a:avLst/>
          </a:prstGeom>
          <a:noFill/>
        </p:spPr>
        <p:txBody>
          <a:bodyPr wrap="square" lIns="0" rIns="0" tIns="0" bIns="0">
            <a:spAutoFit/>
          </a:bodyPr>
          <a:lstStyle/>
          <a:p>
            <a:pPr>
              <a:spcBef>
                <a:spcPts val="0"/>
              </a:spcBef>
              <a:spcAft>
                <a:spcPts val="0"/>
              </a:spcAft>
            </a:pPr>
            <a:r>
              <a:rPr sz="1100" b="0" i="1">
                <a:solidFill>
                  <a:srgbClr val="17262E"/>
                </a:solidFill>
                <a:latin typeface="Segoe UI"/>
              </a:rPr>
              <a:t>“A config change merged at 15:40 and the rollout went out at 15:52. New pods came up Running but never Ready, and the rollout stalled with the old ReplicaSet still serving. The event stream showed readiness probes failing with connection refused, so the container wasn't listening where the probe was looking. The new pod's logs said listening on 4001. I reverted the ConfigMap and rolled; Ready in ninety seconds. The real fix is upstream: nothing in the pipeline checks that a rollout became healthy.”</a:t>
            </a:r>
          </a:p>
        </p:txBody>
      </p:sp>
      <p:sp>
        <p:nvSpPr>
          <p:cNvPr id="12" name="Rectangle 11"/>
          <p:cNvSpPr/>
          <p:nvPr/>
        </p:nvSpPr>
        <p:spPr>
          <a:xfrm>
            <a:off x="6236208" y="1956816"/>
            <a:ext cx="44450" cy="3017520"/>
          </a:xfrm>
          <a:prstGeom prst="rect">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64808" y="2029968"/>
            <a:ext cx="146304" cy="146304"/>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11696" y="1938528"/>
            <a:ext cx="4754880" cy="320040"/>
          </a:xfrm>
          <a:prstGeom prst="rect">
            <a:avLst/>
          </a:prstGeom>
          <a:noFill/>
        </p:spPr>
        <p:txBody>
          <a:bodyPr wrap="square" lIns="0" rIns="0" tIns="0" bIns="0">
            <a:spAutoFit/>
          </a:bodyPr>
          <a:lstStyle/>
          <a:p>
            <a:pPr>
              <a:spcBef>
                <a:spcPts val="0"/>
              </a:spcBef>
              <a:spcAft>
                <a:spcPts val="0"/>
              </a:spcAft>
            </a:pPr>
            <a:r>
              <a:rPr sz="1250" b="1" i="0">
                <a:solidFill>
                  <a:srgbClr val="17262E"/>
                </a:solidFill>
                <a:latin typeface="Segoe UI"/>
              </a:rPr>
              <a:t>The SRE version — the service level</a:t>
            </a:r>
          </a:p>
        </p:txBody>
      </p:sp>
      <p:sp>
        <p:nvSpPr>
          <p:cNvPr id="15" name="TextBox 14"/>
          <p:cNvSpPr txBox="1"/>
          <p:nvPr/>
        </p:nvSpPr>
        <p:spPr>
          <a:xfrm>
            <a:off x="6464808" y="2340864"/>
            <a:ext cx="4983480" cy="2560320"/>
          </a:xfrm>
          <a:prstGeom prst="rect">
            <a:avLst/>
          </a:prstGeom>
          <a:noFill/>
        </p:spPr>
        <p:txBody>
          <a:bodyPr wrap="square" lIns="0" rIns="0" tIns="0" bIns="0">
            <a:spAutoFit/>
          </a:bodyPr>
          <a:lstStyle/>
          <a:p>
            <a:pPr>
              <a:spcBef>
                <a:spcPts val="0"/>
              </a:spcBef>
              <a:spcAft>
                <a:spcPts val="0"/>
              </a:spcAft>
            </a:pPr>
            <a:r>
              <a:rPr sz="1100" b="0" i="1">
                <a:solidFill>
                  <a:srgbClr val="17262E"/>
                </a:solidFill>
                <a:latin typeface="Segoe UI"/>
              </a:rPr>
              <a:t>“We were one node recycle away from a full outage for twenty minutes and didn't know it. Impact was zero and we spent no budget, because the old pods kept serving — and every one of our four monitors stayed green. That's the finding. Our alerting is symptom-based, which is the right default, and it's blind to a service running with no way to replace a pod. So the action item wasn't another symptom alert. It was one platform alert on unavailable replicas.”</a:t>
            </a:r>
          </a:p>
        </p:txBody>
      </p:sp>
      <p:sp>
        <p:nvSpPr>
          <p:cNvPr id="16" name="Rectangle 15"/>
          <p:cNvSpPr/>
          <p:nvPr/>
        </p:nvSpPr>
        <p:spPr>
          <a:xfrm>
            <a:off x="566928" y="5157216"/>
            <a:ext cx="11064240" cy="77724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5312664"/>
            <a:ext cx="10625328" cy="484632"/>
          </a:xfrm>
          <a:prstGeom prst="rect">
            <a:avLst/>
          </a:prstGeom>
          <a:noFill/>
        </p:spPr>
        <p:txBody>
          <a:bodyPr wrap="square" lIns="0" rIns="0" tIns="0" bIns="0">
            <a:spAutoFit/>
          </a:bodyPr>
          <a:lstStyle/>
          <a:p>
            <a:pPr>
              <a:spcBef>
                <a:spcPts val="0"/>
              </a:spcBef>
              <a:spcAft>
                <a:spcPts val="400"/>
              </a:spcAft>
            </a:pPr>
            <a:r>
              <a:rPr sz="1200" b="0" i="0">
                <a:solidFill>
                  <a:srgbClr val="9FB3BD"/>
                </a:solidFill>
                <a:latin typeface="Segoe UI"/>
              </a:rPr>
              <a:t>Notice what the second one does NOT do: it never re-tells the diagnosis. It answers what did it cost, what would have caught it, and what do we change.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How to read the next slides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Each question hides two or three concepts. The rubric is roughly how the answer gets scored.</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55</a:t>
            </a:r>
          </a:p>
        </p:txBody>
      </p:sp>
      <p:sp>
        <p:nvSpPr>
          <p:cNvPr id="7" name="Rectangle 6"/>
          <p:cNvSpPr/>
          <p:nvPr/>
        </p:nvSpPr>
        <p:spPr>
          <a:xfrm>
            <a:off x="566928" y="1682496"/>
            <a:ext cx="3566160" cy="17373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956816"/>
            <a:ext cx="173736" cy="17373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33856" y="1865376"/>
            <a:ext cx="2743200" cy="365760"/>
          </a:xfrm>
          <a:prstGeom prst="rect">
            <a:avLst/>
          </a:prstGeom>
          <a:noFill/>
        </p:spPr>
        <p:txBody>
          <a:bodyPr wrap="square" lIns="0" rIns="0" tIns="0" bIns="0">
            <a:spAutoFit/>
          </a:bodyPr>
          <a:lstStyle/>
          <a:p>
            <a:pPr>
              <a:spcBef>
                <a:spcPts val="0"/>
              </a:spcBef>
              <a:spcAft>
                <a:spcPts val="0"/>
              </a:spcAft>
            </a:pPr>
            <a:r>
              <a:rPr sz="1700" b="1" i="0">
                <a:solidFill>
                  <a:srgbClr val="17262E"/>
                </a:solidFill>
                <a:latin typeface="Segoe UI"/>
              </a:rPr>
              <a:t>WEAK</a:t>
            </a:r>
          </a:p>
        </p:txBody>
      </p:sp>
      <p:sp>
        <p:nvSpPr>
          <p:cNvPr id="10" name="TextBox 9"/>
          <p:cNvSpPr txBox="1"/>
          <p:nvPr/>
        </p:nvSpPr>
        <p:spPr>
          <a:xfrm>
            <a:off x="822960" y="2459736"/>
            <a:ext cx="3054096" cy="7315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They stop listening. Usually a textbook definition with no experience behind it.</a:t>
            </a:r>
          </a:p>
        </p:txBody>
      </p:sp>
      <p:sp>
        <p:nvSpPr>
          <p:cNvPr id="11" name="Rectangle 10"/>
          <p:cNvSpPr/>
          <p:nvPr/>
        </p:nvSpPr>
        <p:spPr>
          <a:xfrm>
            <a:off x="4315968" y="1682496"/>
            <a:ext cx="3566160" cy="17373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0" y="1956816"/>
            <a:ext cx="173736" cy="173736"/>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82896" y="1865376"/>
            <a:ext cx="2743200" cy="365760"/>
          </a:xfrm>
          <a:prstGeom prst="rect">
            <a:avLst/>
          </a:prstGeom>
          <a:noFill/>
        </p:spPr>
        <p:txBody>
          <a:bodyPr wrap="square" lIns="0" rIns="0" tIns="0" bIns="0">
            <a:spAutoFit/>
          </a:bodyPr>
          <a:lstStyle/>
          <a:p>
            <a:pPr>
              <a:spcBef>
                <a:spcPts val="0"/>
              </a:spcBef>
              <a:spcAft>
                <a:spcPts val="0"/>
              </a:spcAft>
            </a:pPr>
            <a:r>
              <a:rPr sz="1700" b="1" i="0">
                <a:solidFill>
                  <a:srgbClr val="17262E"/>
                </a:solidFill>
                <a:latin typeface="Segoe UI"/>
              </a:rPr>
              <a:t>SOLID</a:t>
            </a:r>
          </a:p>
        </p:txBody>
      </p:sp>
      <p:sp>
        <p:nvSpPr>
          <p:cNvPr id="14" name="TextBox 13"/>
          <p:cNvSpPr txBox="1"/>
          <p:nvPr/>
        </p:nvSpPr>
        <p:spPr>
          <a:xfrm>
            <a:off x="4572000" y="2459736"/>
            <a:ext cx="3054096" cy="7315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You pass. The concepts are right and there is a real example attached.</a:t>
            </a:r>
          </a:p>
        </p:txBody>
      </p:sp>
      <p:sp>
        <p:nvSpPr>
          <p:cNvPr id="15" name="Rectangle 14"/>
          <p:cNvSpPr/>
          <p:nvPr/>
        </p:nvSpPr>
        <p:spPr>
          <a:xfrm>
            <a:off x="8065008" y="1682496"/>
            <a:ext cx="3566160" cy="173736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40" y="1956816"/>
            <a:ext cx="173736" cy="173736"/>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31936" y="1865376"/>
            <a:ext cx="2743200" cy="365760"/>
          </a:xfrm>
          <a:prstGeom prst="rect">
            <a:avLst/>
          </a:prstGeom>
          <a:noFill/>
        </p:spPr>
        <p:txBody>
          <a:bodyPr wrap="square" lIns="0" rIns="0" tIns="0" bIns="0">
            <a:spAutoFit/>
          </a:bodyPr>
          <a:lstStyle/>
          <a:p>
            <a:pPr>
              <a:spcBef>
                <a:spcPts val="0"/>
              </a:spcBef>
              <a:spcAft>
                <a:spcPts val="0"/>
              </a:spcAft>
            </a:pPr>
            <a:r>
              <a:rPr sz="1700" b="1" i="0">
                <a:solidFill>
                  <a:srgbClr val="17262E"/>
                </a:solidFill>
                <a:latin typeface="Segoe UI"/>
              </a:rPr>
              <a:t>STRONG</a:t>
            </a:r>
          </a:p>
        </p:txBody>
      </p:sp>
      <p:sp>
        <p:nvSpPr>
          <p:cNvPr id="18" name="TextBox 17"/>
          <p:cNvSpPr txBox="1"/>
          <p:nvPr/>
        </p:nvSpPr>
        <p:spPr>
          <a:xfrm>
            <a:off x="8321040" y="2459736"/>
            <a:ext cx="3054096" cy="7315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They start asking follow-ups, because you said something worth pulling on.</a:t>
            </a:r>
          </a:p>
        </p:txBody>
      </p:sp>
      <p:sp>
        <p:nvSpPr>
          <p:cNvPr id="19" name="Rectangle 18"/>
          <p:cNvSpPr/>
          <p:nvPr/>
        </p:nvSpPr>
        <p:spPr>
          <a:xfrm>
            <a:off x="566928" y="3648456"/>
            <a:ext cx="5394960" cy="16002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648456"/>
            <a:ext cx="44450" cy="16002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3803904"/>
            <a:ext cx="4956048" cy="13075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Aim for solid, let them pull you to strong</a:t>
            </a:r>
          </a:p>
          <a:p>
            <a:pPr>
              <a:spcBef>
                <a:spcPts val="0"/>
              </a:spcBef>
              <a:spcAft>
                <a:spcPts val="400"/>
              </a:spcAft>
            </a:pPr>
            <a:r>
              <a:rPr sz="1150" b="0" i="0">
                <a:solidFill>
                  <a:srgbClr val="17262E"/>
                </a:solidFill>
                <a:latin typeface="Segoe UI"/>
              </a:rPr>
              <a:t>Do not deliver the strong answer as a monologue. Give the solid version, stop talking, and let the follow-up take you deeper.</a:t>
            </a:r>
          </a:p>
        </p:txBody>
      </p:sp>
      <p:sp>
        <p:nvSpPr>
          <p:cNvPr id="22" name="Rectangle 21"/>
          <p:cNvSpPr/>
          <p:nvPr/>
        </p:nvSpPr>
        <p:spPr>
          <a:xfrm>
            <a:off x="6236208" y="3648456"/>
            <a:ext cx="5394960" cy="160020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3803904"/>
            <a:ext cx="4956048" cy="1307592"/>
          </a:xfrm>
          <a:prstGeom prst="rect">
            <a:avLst/>
          </a:prstGeom>
          <a:noFill/>
        </p:spPr>
        <p:txBody>
          <a:bodyPr wrap="square" lIns="0" rIns="0" tIns="0" bIns="0">
            <a:spAutoFit/>
          </a:bodyPr>
          <a:lstStyle/>
          <a:p>
            <a:pPr>
              <a:spcBef>
                <a:spcPts val="0"/>
              </a:spcBef>
              <a:spcAft>
                <a:spcPts val="600"/>
              </a:spcAft>
            </a:pPr>
            <a:r>
              <a:rPr sz="1000" b="1" i="0">
                <a:solidFill>
                  <a:srgbClr val="E8A020"/>
                </a:solidFill>
                <a:latin typeface="Segoe UI"/>
              </a:rPr>
              <a:t>THE NUMBERS HAVE TO BE YOURS</a:t>
            </a:r>
          </a:p>
          <a:p>
            <a:pPr>
              <a:spcBef>
                <a:spcPts val="0"/>
              </a:spcBef>
              <a:spcAft>
                <a:spcPts val="400"/>
              </a:spcAft>
            </a:pPr>
            <a:r>
              <a:rPr sz="1150" b="0" i="0">
                <a:solidFill>
                  <a:srgbClr val="9FB3BD"/>
                </a:solidFill>
                <a:latin typeface="Segoe UI"/>
              </a:rPr>
              <a:t>Using this lab as your example is fine, and saying it was a lab is honest. What is not fine is quoting a p95 or a budget figure you cannot defend.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"How do you decide what to alert on?"</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Opening question in almost every SRE and platform interview.</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56</a:t>
            </a:r>
          </a:p>
        </p:txBody>
      </p:sp>
      <p:sp>
        <p:nvSpPr>
          <p:cNvPr id="7" name="Rectangle 6"/>
          <p:cNvSpPr/>
          <p:nvPr/>
        </p:nvSpPr>
        <p:spPr>
          <a:xfrm>
            <a:off x="566928" y="1682496"/>
            <a:ext cx="6766560" cy="13258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6327648" cy="103327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is really being tested</a:t>
            </a:r>
          </a:p>
          <a:p>
            <a:pPr>
              <a:spcBef>
                <a:spcPts val="0"/>
              </a:spcBef>
              <a:spcAft>
                <a:spcPts val="400"/>
              </a:spcAft>
            </a:pPr>
            <a:r>
              <a:rPr sz="1150" b="0" i="0">
                <a:solidFill>
                  <a:srgbClr val="17262E"/>
                </a:solidFill>
                <a:latin typeface="Segoe UI"/>
              </a:rPr>
              <a:t>Do you start from the user, or from the machine?</a:t>
            </a:r>
          </a:p>
          <a:p>
            <a:pPr>
              <a:spcBef>
                <a:spcPts val="0"/>
              </a:spcBef>
              <a:spcAft>
                <a:spcPts val="400"/>
              </a:spcAft>
            </a:pPr>
            <a:r>
              <a:rPr sz="1150" b="0" i="0">
                <a:solidFill>
                  <a:srgbClr val="17262E"/>
                </a:solidFill>
                <a:latin typeface="Segoe UI"/>
              </a:rPr>
              <a:t>Do you know the difference between a symptom and a cause?</a:t>
            </a:r>
          </a:p>
          <a:p>
            <a:pPr>
              <a:spcBef>
                <a:spcPts val="0"/>
              </a:spcBef>
              <a:spcAft>
                <a:spcPts val="400"/>
              </a:spcAft>
            </a:pPr>
            <a:r>
              <a:rPr sz="1150" b="0" i="0">
                <a:solidFill>
                  <a:srgbClr val="17262E"/>
                </a:solidFill>
                <a:latin typeface="Segoe UI"/>
              </a:rPr>
              <a:t>Are you willing to say no to an alert someone asked for?</a:t>
            </a:r>
          </a:p>
        </p:txBody>
      </p:sp>
      <p:sp>
        <p:nvSpPr>
          <p:cNvPr id="9" name="Rectangle 8"/>
          <p:cNvSpPr/>
          <p:nvPr/>
        </p:nvSpPr>
        <p:spPr>
          <a:xfrm>
            <a:off x="566928" y="3191256"/>
            <a:ext cx="6766560" cy="22402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346704"/>
            <a:ext cx="6327648" cy="1947672"/>
          </a:xfrm>
          <a:prstGeom prst="rect">
            <a:avLst/>
          </a:prstGeom>
          <a:noFill/>
        </p:spPr>
        <p:txBody>
          <a:bodyPr wrap="square" lIns="0" rIns="0" tIns="0" bIns="0">
            <a:spAutoFit/>
          </a:bodyPr>
          <a:lstStyle/>
          <a:p>
            <a:pPr>
              <a:spcBef>
                <a:spcPts val="0"/>
              </a:spcBef>
              <a:spcAft>
                <a:spcPts val="600"/>
              </a:spcAft>
            </a:pPr>
            <a:r>
              <a:rPr sz="1000" b="1" i="0">
                <a:solidFill>
                  <a:srgbClr val="E8A020"/>
                </a:solidFill>
                <a:latin typeface="Segoe UI"/>
              </a:rPr>
              <a:t>SAY SOMETHING LIKE</a:t>
            </a:r>
          </a:p>
          <a:p>
            <a:pPr>
              <a:spcBef>
                <a:spcPts val="0"/>
              </a:spcBef>
              <a:spcAft>
                <a:spcPts val="400"/>
              </a:spcAft>
            </a:pPr>
            <a:r>
              <a:rPr sz="1150" b="0" i="0">
                <a:solidFill>
                  <a:srgbClr val="9FB3BD"/>
                </a:solidFill>
                <a:latin typeface="Segoe UI"/>
              </a:rPr>
              <a:t>"I start from the user journey. For checkout the question is whether people can pay, so the alert is on checkout success rate and p95 at the payment step, not on CPU. Cause metrics stay on the dashboard for diagnosis. Before an alert goes live it has to pass two tests: a human has to be able to do something about it, and there has to be a runbook. If it fails either one it becomes a dashboard panel, not a page."</a:t>
            </a:r>
          </a:p>
        </p:txBody>
      </p:sp>
      <p:sp>
        <p:nvSpPr>
          <p:cNvPr id="11" name="Rectangle 10"/>
          <p:cNvSpPr/>
          <p:nvPr/>
        </p:nvSpPr>
        <p:spPr>
          <a:xfrm>
            <a:off x="7607808" y="168249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36408" y="1883664"/>
            <a:ext cx="137160" cy="13716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0728" y="1801368"/>
            <a:ext cx="2743200" cy="274320"/>
          </a:xfrm>
          <a:prstGeom prst="rect">
            <a:avLst/>
          </a:prstGeom>
          <a:noFill/>
        </p:spPr>
        <p:txBody>
          <a:bodyPr wrap="square" lIns="0" rIns="0" tIns="0" bIns="0">
            <a:spAutoFit/>
          </a:bodyPr>
          <a:lstStyle/>
          <a:p>
            <a:pPr>
              <a:spcBef>
                <a:spcPts val="0"/>
              </a:spcBef>
              <a:spcAft>
                <a:spcPts val="0"/>
              </a:spcAft>
            </a:pPr>
            <a:r>
              <a:rPr sz="1100" b="1" i="0">
                <a:solidFill>
                  <a:srgbClr val="D1495B"/>
                </a:solidFill>
                <a:latin typeface="Segoe UI"/>
              </a:rPr>
              <a:t>WEAK</a:t>
            </a:r>
          </a:p>
        </p:txBody>
      </p:sp>
      <p:sp>
        <p:nvSpPr>
          <p:cNvPr id="14" name="TextBox 13"/>
          <p:cNvSpPr txBox="1"/>
          <p:nvPr/>
        </p:nvSpPr>
        <p:spPr>
          <a:xfrm>
            <a:off x="7836408" y="213969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Lists CPU, memory and disk, with no link to anything a customer can feel.</a:t>
            </a:r>
          </a:p>
        </p:txBody>
      </p:sp>
      <p:sp>
        <p:nvSpPr>
          <p:cNvPr id="15" name="Rectangle 14"/>
          <p:cNvSpPr/>
          <p:nvPr/>
        </p:nvSpPr>
        <p:spPr>
          <a:xfrm>
            <a:off x="7607808" y="296265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36408" y="3163824"/>
            <a:ext cx="137160" cy="13716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3081528"/>
            <a:ext cx="2743200" cy="274320"/>
          </a:xfrm>
          <a:prstGeom prst="rect">
            <a:avLst/>
          </a:prstGeom>
          <a:noFill/>
        </p:spPr>
        <p:txBody>
          <a:bodyPr wrap="square" lIns="0" rIns="0" tIns="0" bIns="0">
            <a:spAutoFit/>
          </a:bodyPr>
          <a:lstStyle/>
          <a:p>
            <a:pPr>
              <a:spcBef>
                <a:spcPts val="0"/>
              </a:spcBef>
              <a:spcAft>
                <a:spcPts val="0"/>
              </a:spcAft>
            </a:pPr>
            <a:r>
              <a:rPr sz="1100" b="1" i="0">
                <a:solidFill>
                  <a:srgbClr val="B97708"/>
                </a:solidFill>
                <a:latin typeface="Segoe UI"/>
              </a:rPr>
              <a:t>SOLID</a:t>
            </a:r>
          </a:p>
        </p:txBody>
      </p:sp>
      <p:sp>
        <p:nvSpPr>
          <p:cNvPr id="18" name="TextBox 17"/>
          <p:cNvSpPr txBox="1"/>
          <p:nvPr/>
        </p:nvSpPr>
        <p:spPr>
          <a:xfrm>
            <a:off x="7836408" y="341985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Names the golden signals and alerts on errors and latency rather than resources.</a:t>
            </a:r>
          </a:p>
        </p:txBody>
      </p:sp>
      <p:sp>
        <p:nvSpPr>
          <p:cNvPr id="19" name="Rectangle 18"/>
          <p:cNvSpPr/>
          <p:nvPr/>
        </p:nvSpPr>
        <p:spPr>
          <a:xfrm>
            <a:off x="7607808" y="424281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8" y="4443984"/>
            <a:ext cx="137160" cy="137160"/>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4361688"/>
            <a:ext cx="2743200" cy="274320"/>
          </a:xfrm>
          <a:prstGeom prst="rect">
            <a:avLst/>
          </a:prstGeom>
          <a:noFill/>
        </p:spPr>
        <p:txBody>
          <a:bodyPr wrap="square" lIns="0" rIns="0" tIns="0" bIns="0">
            <a:spAutoFit/>
          </a:bodyPr>
          <a:lstStyle/>
          <a:p>
            <a:pPr>
              <a:spcBef>
                <a:spcPts val="0"/>
              </a:spcBef>
              <a:spcAft>
                <a:spcPts val="0"/>
              </a:spcAft>
            </a:pPr>
            <a:r>
              <a:rPr sz="1100" b="1" i="0">
                <a:solidFill>
                  <a:srgbClr val="2E9E63"/>
                </a:solidFill>
                <a:latin typeface="Segoe UI"/>
              </a:rPr>
              <a:t>STRONG</a:t>
            </a:r>
          </a:p>
        </p:txBody>
      </p:sp>
      <p:sp>
        <p:nvSpPr>
          <p:cNvPr id="22" name="TextBox 21"/>
          <p:cNvSpPr txBox="1"/>
          <p:nvPr/>
        </p:nvSpPr>
        <p:spPr>
          <a:xfrm>
            <a:off x="7836408" y="470001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Ties the alert to an SLO, separates symptom from cause, and deletes alerts nobody acts 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"Walk me through an incident you handled."</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The full five-beat version is on the model answer slide. This is what sits underneath it.</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57</a:t>
            </a:r>
          </a:p>
        </p:txBody>
      </p:sp>
      <p:sp>
        <p:nvSpPr>
          <p:cNvPr id="7" name="Rectangle 6"/>
          <p:cNvSpPr/>
          <p:nvPr/>
        </p:nvSpPr>
        <p:spPr>
          <a:xfrm>
            <a:off x="566928" y="1682496"/>
            <a:ext cx="6766560" cy="13258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6327648" cy="103327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is really being tested</a:t>
            </a:r>
          </a:p>
          <a:p>
            <a:pPr>
              <a:spcBef>
                <a:spcPts val="0"/>
              </a:spcBef>
              <a:spcAft>
                <a:spcPts val="400"/>
              </a:spcAft>
            </a:pPr>
            <a:r>
              <a:rPr sz="1150" b="0" i="0">
                <a:solidFill>
                  <a:srgbClr val="17262E"/>
                </a:solidFill>
                <a:latin typeface="Segoe UI"/>
              </a:rPr>
              <a:t>Can you tell a story in a fixed order under mild pressure?</a:t>
            </a:r>
          </a:p>
          <a:p>
            <a:pPr>
              <a:spcBef>
                <a:spcPts val="0"/>
              </a:spcBef>
              <a:spcAft>
                <a:spcPts val="400"/>
              </a:spcAft>
            </a:pPr>
            <a:r>
              <a:rPr sz="1150" b="0" i="0">
                <a:solidFill>
                  <a:srgbClr val="17262E"/>
                </a:solidFill>
                <a:latin typeface="Segoe UI"/>
              </a:rPr>
              <a:t>Do you lead with detection and impact, or with jargon?</a:t>
            </a:r>
          </a:p>
          <a:p>
            <a:pPr>
              <a:spcBef>
                <a:spcPts val="0"/>
              </a:spcBef>
              <a:spcAft>
                <a:spcPts val="400"/>
              </a:spcAft>
            </a:pPr>
            <a:r>
              <a:rPr sz="1150" b="0" i="0">
                <a:solidFill>
                  <a:srgbClr val="17262E"/>
                </a:solidFill>
                <a:latin typeface="Segoe UI"/>
              </a:rPr>
              <a:t>Do you close with evidence, or with an opinion?</a:t>
            </a:r>
          </a:p>
        </p:txBody>
      </p:sp>
      <p:sp>
        <p:nvSpPr>
          <p:cNvPr id="9" name="Rectangle 8"/>
          <p:cNvSpPr/>
          <p:nvPr/>
        </p:nvSpPr>
        <p:spPr>
          <a:xfrm>
            <a:off x="566928" y="3191256"/>
            <a:ext cx="6766560" cy="22402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346704"/>
            <a:ext cx="6327648" cy="1947672"/>
          </a:xfrm>
          <a:prstGeom prst="rect">
            <a:avLst/>
          </a:prstGeom>
          <a:noFill/>
        </p:spPr>
        <p:txBody>
          <a:bodyPr wrap="square" lIns="0" rIns="0" tIns="0" bIns="0">
            <a:spAutoFit/>
          </a:bodyPr>
          <a:lstStyle/>
          <a:p>
            <a:pPr>
              <a:spcBef>
                <a:spcPts val="0"/>
              </a:spcBef>
              <a:spcAft>
                <a:spcPts val="600"/>
              </a:spcAft>
            </a:pPr>
            <a:r>
              <a:rPr sz="1000" b="1" i="0">
                <a:solidFill>
                  <a:srgbClr val="E8A020"/>
                </a:solidFill>
                <a:latin typeface="Segoe UI"/>
              </a:rPr>
              <a:t>SAY SOMETHING LIKE</a:t>
            </a:r>
          </a:p>
          <a:p>
            <a:pPr>
              <a:spcBef>
                <a:spcPts val="0"/>
              </a:spcBef>
              <a:spcAft>
                <a:spcPts val="400"/>
              </a:spcAft>
            </a:pPr>
            <a:r>
              <a:rPr sz="1150" b="0" i="0">
                <a:solidFill>
                  <a:srgbClr val="9FB3BD"/>
                </a:solidFill>
                <a:latin typeface="Segoe UI"/>
              </a:rPr>
              <a:t>"Our checkout error-rate monitor fired at 14:02, four minutes before the first support ticket. Customers could add to the cart but the payment step failed for about a third of them. I opened the runbook, checked the dashboard, and a trace showed the database call timing out. We rolled back the change that had shrunk the connection pool; error rate was back to baseline within three minutes. It cost about 4% of the monthly error budget, and the follow-up was a readiness probe that actually queries the database."</a:t>
            </a:r>
          </a:p>
        </p:txBody>
      </p:sp>
      <p:sp>
        <p:nvSpPr>
          <p:cNvPr id="11" name="Rectangle 10"/>
          <p:cNvSpPr/>
          <p:nvPr/>
        </p:nvSpPr>
        <p:spPr>
          <a:xfrm>
            <a:off x="7607808" y="168249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36408" y="1883664"/>
            <a:ext cx="137160" cy="13716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0728" y="1801368"/>
            <a:ext cx="2743200" cy="274320"/>
          </a:xfrm>
          <a:prstGeom prst="rect">
            <a:avLst/>
          </a:prstGeom>
          <a:noFill/>
        </p:spPr>
        <p:txBody>
          <a:bodyPr wrap="square" lIns="0" rIns="0" tIns="0" bIns="0">
            <a:spAutoFit/>
          </a:bodyPr>
          <a:lstStyle/>
          <a:p>
            <a:pPr>
              <a:spcBef>
                <a:spcPts val="0"/>
              </a:spcBef>
              <a:spcAft>
                <a:spcPts val="0"/>
              </a:spcAft>
            </a:pPr>
            <a:r>
              <a:rPr sz="1100" b="1" i="0">
                <a:solidFill>
                  <a:srgbClr val="D1495B"/>
                </a:solidFill>
                <a:latin typeface="Segoe UI"/>
              </a:rPr>
              <a:t>WEAK</a:t>
            </a:r>
          </a:p>
        </p:txBody>
      </p:sp>
      <p:sp>
        <p:nvSpPr>
          <p:cNvPr id="14" name="TextBox 13"/>
          <p:cNvSpPr txBox="1"/>
          <p:nvPr/>
        </p:nvSpPr>
        <p:spPr>
          <a:xfrm>
            <a:off x="7836408" y="213969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Opens with a tool or a metric. No timeline, no customer, no numbers.</a:t>
            </a:r>
          </a:p>
        </p:txBody>
      </p:sp>
      <p:sp>
        <p:nvSpPr>
          <p:cNvPr id="15" name="Rectangle 14"/>
          <p:cNvSpPr/>
          <p:nvPr/>
        </p:nvSpPr>
        <p:spPr>
          <a:xfrm>
            <a:off x="7607808" y="296265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36408" y="3163824"/>
            <a:ext cx="137160" cy="13716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3081528"/>
            <a:ext cx="2743200" cy="274320"/>
          </a:xfrm>
          <a:prstGeom prst="rect">
            <a:avLst/>
          </a:prstGeom>
          <a:noFill/>
        </p:spPr>
        <p:txBody>
          <a:bodyPr wrap="square" lIns="0" rIns="0" tIns="0" bIns="0">
            <a:spAutoFit/>
          </a:bodyPr>
          <a:lstStyle/>
          <a:p>
            <a:pPr>
              <a:spcBef>
                <a:spcPts val="0"/>
              </a:spcBef>
              <a:spcAft>
                <a:spcPts val="0"/>
              </a:spcAft>
            </a:pPr>
            <a:r>
              <a:rPr sz="1100" b="1" i="0">
                <a:solidFill>
                  <a:srgbClr val="B97708"/>
                </a:solidFill>
                <a:latin typeface="Segoe UI"/>
              </a:rPr>
              <a:t>SOLID</a:t>
            </a:r>
          </a:p>
        </p:txBody>
      </p:sp>
      <p:sp>
        <p:nvSpPr>
          <p:cNvPr id="18" name="TextBox 17"/>
          <p:cNvSpPr txBox="1"/>
          <p:nvPr/>
        </p:nvSpPr>
        <p:spPr>
          <a:xfrm>
            <a:off x="7836408" y="341985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Detection, impact, diagnosis and fix, in that order, with at least one real number.</a:t>
            </a:r>
          </a:p>
        </p:txBody>
      </p:sp>
      <p:sp>
        <p:nvSpPr>
          <p:cNvPr id="19" name="Rectangle 18"/>
          <p:cNvSpPr/>
          <p:nvPr/>
        </p:nvSpPr>
        <p:spPr>
          <a:xfrm>
            <a:off x="7607808" y="424281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8" y="4443984"/>
            <a:ext cx="137160" cy="137160"/>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4361688"/>
            <a:ext cx="2743200" cy="274320"/>
          </a:xfrm>
          <a:prstGeom prst="rect">
            <a:avLst/>
          </a:prstGeom>
          <a:noFill/>
        </p:spPr>
        <p:txBody>
          <a:bodyPr wrap="square" lIns="0" rIns="0" tIns="0" bIns="0">
            <a:spAutoFit/>
          </a:bodyPr>
          <a:lstStyle/>
          <a:p>
            <a:pPr>
              <a:spcBef>
                <a:spcPts val="0"/>
              </a:spcBef>
              <a:spcAft>
                <a:spcPts val="0"/>
              </a:spcAft>
            </a:pPr>
            <a:r>
              <a:rPr sz="1100" b="1" i="0">
                <a:solidFill>
                  <a:srgbClr val="2E9E63"/>
                </a:solidFill>
                <a:latin typeface="Segoe UI"/>
              </a:rPr>
              <a:t>STRONG</a:t>
            </a:r>
          </a:p>
        </p:txBody>
      </p:sp>
      <p:sp>
        <p:nvSpPr>
          <p:cNvPr id="22" name="TextBox 21"/>
          <p:cNvSpPr txBox="1"/>
          <p:nvPr/>
        </p:nvSpPr>
        <p:spPr>
          <a:xfrm>
            <a:off x="7836408" y="470001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Adds the proof it was fixed, the budget cost and the prevention item. Blames no one.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"Tell me about a deploy that broke production."</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The DevOps counterpart. It tests whether you own the delivery path or just operate it.</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58</a:t>
            </a:r>
          </a:p>
        </p:txBody>
      </p:sp>
      <p:sp>
        <p:nvSpPr>
          <p:cNvPr id="7" name="Rectangle 6"/>
          <p:cNvSpPr/>
          <p:nvPr/>
        </p:nvSpPr>
        <p:spPr>
          <a:xfrm>
            <a:off x="566928" y="1682496"/>
            <a:ext cx="6766560" cy="13258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6327648" cy="103327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is really being tested</a:t>
            </a:r>
          </a:p>
          <a:p>
            <a:pPr>
              <a:spcBef>
                <a:spcPts val="0"/>
              </a:spcBef>
              <a:spcAft>
                <a:spcPts val="400"/>
              </a:spcAft>
            </a:pPr>
            <a:r>
              <a:rPr sz="1150" b="0" i="0">
                <a:solidFill>
                  <a:srgbClr val="17262E"/>
                </a:solidFill>
                <a:latin typeface="Segoe UI"/>
              </a:rPr>
              <a:t>Do you reach for “what changed” before you reach for a theory?</a:t>
            </a:r>
          </a:p>
          <a:p>
            <a:pPr>
              <a:spcBef>
                <a:spcPts val="0"/>
              </a:spcBef>
              <a:spcAft>
                <a:spcPts val="400"/>
              </a:spcAft>
            </a:pPr>
            <a:r>
              <a:rPr sz="1150" b="0" i="0">
                <a:solidFill>
                  <a:srgbClr val="17262E"/>
                </a:solidFill>
                <a:latin typeface="Segoe UI"/>
              </a:rPr>
              <a:t>Can you tell Running from Ready, and say why it matters?</a:t>
            </a:r>
          </a:p>
          <a:p>
            <a:pPr>
              <a:spcBef>
                <a:spcPts val="0"/>
              </a:spcBef>
              <a:spcAft>
                <a:spcPts val="400"/>
              </a:spcAft>
            </a:pPr>
            <a:r>
              <a:rPr sz="1150" b="0" i="0">
                <a:solidFill>
                  <a:srgbClr val="17262E"/>
                </a:solidFill>
                <a:latin typeface="Segoe UI"/>
              </a:rPr>
              <a:t>Do you fix the incident, or the pipeline that allowed it?</a:t>
            </a:r>
          </a:p>
        </p:txBody>
      </p:sp>
      <p:sp>
        <p:nvSpPr>
          <p:cNvPr id="9" name="Rectangle 8"/>
          <p:cNvSpPr/>
          <p:nvPr/>
        </p:nvSpPr>
        <p:spPr>
          <a:xfrm>
            <a:off x="566928" y="3191256"/>
            <a:ext cx="6766560" cy="22402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346704"/>
            <a:ext cx="6327648" cy="1947672"/>
          </a:xfrm>
          <a:prstGeom prst="rect">
            <a:avLst/>
          </a:prstGeom>
          <a:noFill/>
        </p:spPr>
        <p:txBody>
          <a:bodyPr wrap="square" lIns="0" rIns="0" tIns="0" bIns="0">
            <a:spAutoFit/>
          </a:bodyPr>
          <a:lstStyle/>
          <a:p>
            <a:pPr>
              <a:spcBef>
                <a:spcPts val="0"/>
              </a:spcBef>
              <a:spcAft>
                <a:spcPts val="600"/>
              </a:spcAft>
            </a:pPr>
            <a:r>
              <a:rPr sz="1000" b="1" i="0">
                <a:solidFill>
                  <a:srgbClr val="E8A020"/>
                </a:solidFill>
                <a:latin typeface="Segoe UI"/>
              </a:rPr>
              <a:t>SAY SOMETHING LIKE</a:t>
            </a:r>
          </a:p>
          <a:p>
            <a:pPr>
              <a:spcBef>
                <a:spcPts val="0"/>
              </a:spcBef>
              <a:spcAft>
                <a:spcPts val="400"/>
              </a:spcAft>
            </a:pPr>
            <a:r>
              <a:rPr sz="1150" b="0" i="0">
                <a:solidFill>
                  <a:srgbClr val="9FB3BD"/>
                </a:solidFill>
                <a:latin typeface="Segoe UI"/>
              </a:rPr>
              <a:t>"We shipped a tag that didn't exist in the registry and the pipeline still reported green. Rollback took thirty seconds. What I actually changed was the definition of a successful deploy: it now gates on rollout status with a timeout, because “the API server accepted our YAML” and “the new version is serving traffic” are different claims. Impact was partial rather than total, and that was maxUnavailable protecting us, not a control we designed — so we alert on unavailable replicas now too."</a:t>
            </a:r>
          </a:p>
        </p:txBody>
      </p:sp>
      <p:sp>
        <p:nvSpPr>
          <p:cNvPr id="11" name="Rectangle 10"/>
          <p:cNvSpPr/>
          <p:nvPr/>
        </p:nvSpPr>
        <p:spPr>
          <a:xfrm>
            <a:off x="7607808" y="168249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36408" y="1883664"/>
            <a:ext cx="137160" cy="13716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0728" y="1801368"/>
            <a:ext cx="2743200" cy="274320"/>
          </a:xfrm>
          <a:prstGeom prst="rect">
            <a:avLst/>
          </a:prstGeom>
          <a:noFill/>
        </p:spPr>
        <p:txBody>
          <a:bodyPr wrap="square" lIns="0" rIns="0" tIns="0" bIns="0">
            <a:spAutoFit/>
          </a:bodyPr>
          <a:lstStyle/>
          <a:p>
            <a:pPr>
              <a:spcBef>
                <a:spcPts val="0"/>
              </a:spcBef>
              <a:spcAft>
                <a:spcPts val="0"/>
              </a:spcAft>
            </a:pPr>
            <a:r>
              <a:rPr sz="1100" b="1" i="0">
                <a:solidFill>
                  <a:srgbClr val="D1495B"/>
                </a:solidFill>
                <a:latin typeface="Segoe UI"/>
              </a:rPr>
              <a:t>WEAK</a:t>
            </a:r>
          </a:p>
        </p:txBody>
      </p:sp>
      <p:sp>
        <p:nvSpPr>
          <p:cNvPr id="14" name="TextBox 13"/>
          <p:cNvSpPr txBox="1"/>
          <p:nvPr/>
        </p:nvSpPr>
        <p:spPr>
          <a:xfrm>
            <a:off x="7836408" y="213969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Names the tool that broke and the button they pressed. No timeline, no cost, no follow-up.</a:t>
            </a:r>
          </a:p>
        </p:txBody>
      </p:sp>
      <p:sp>
        <p:nvSpPr>
          <p:cNvPr id="15" name="Rectangle 14"/>
          <p:cNvSpPr/>
          <p:nvPr/>
        </p:nvSpPr>
        <p:spPr>
          <a:xfrm>
            <a:off x="7607808" y="296265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36408" y="3163824"/>
            <a:ext cx="137160" cy="13716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3081528"/>
            <a:ext cx="2743200" cy="274320"/>
          </a:xfrm>
          <a:prstGeom prst="rect">
            <a:avLst/>
          </a:prstGeom>
          <a:noFill/>
        </p:spPr>
        <p:txBody>
          <a:bodyPr wrap="square" lIns="0" rIns="0" tIns="0" bIns="0">
            <a:spAutoFit/>
          </a:bodyPr>
          <a:lstStyle/>
          <a:p>
            <a:pPr>
              <a:spcBef>
                <a:spcPts val="0"/>
              </a:spcBef>
              <a:spcAft>
                <a:spcPts val="0"/>
              </a:spcAft>
            </a:pPr>
            <a:r>
              <a:rPr sz="1100" b="1" i="0">
                <a:solidFill>
                  <a:srgbClr val="B97708"/>
                </a:solidFill>
                <a:latin typeface="Segoe UI"/>
              </a:rPr>
              <a:t>SOLID</a:t>
            </a:r>
          </a:p>
        </p:txBody>
      </p:sp>
      <p:sp>
        <p:nvSpPr>
          <p:cNvPr id="18" name="TextBox 17"/>
          <p:cNvSpPr txBox="1"/>
          <p:nvPr/>
        </p:nvSpPr>
        <p:spPr>
          <a:xfrm>
            <a:off x="7836408" y="341985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Change, detection, diagnosis, rollback, in order, with one real number attached.</a:t>
            </a:r>
          </a:p>
        </p:txBody>
      </p:sp>
      <p:sp>
        <p:nvSpPr>
          <p:cNvPr id="19" name="Rectangle 18"/>
          <p:cNvSpPr/>
          <p:nvPr/>
        </p:nvSpPr>
        <p:spPr>
          <a:xfrm>
            <a:off x="7607808" y="424281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8" y="4443984"/>
            <a:ext cx="137160" cy="137160"/>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4361688"/>
            <a:ext cx="2743200" cy="274320"/>
          </a:xfrm>
          <a:prstGeom prst="rect">
            <a:avLst/>
          </a:prstGeom>
          <a:noFill/>
        </p:spPr>
        <p:txBody>
          <a:bodyPr wrap="square" lIns="0" rIns="0" tIns="0" bIns="0">
            <a:spAutoFit/>
          </a:bodyPr>
          <a:lstStyle/>
          <a:p>
            <a:pPr>
              <a:spcBef>
                <a:spcPts val="0"/>
              </a:spcBef>
              <a:spcAft>
                <a:spcPts val="0"/>
              </a:spcAft>
            </a:pPr>
            <a:r>
              <a:rPr sz="1100" b="1" i="0">
                <a:solidFill>
                  <a:srgbClr val="2E9E63"/>
                </a:solidFill>
                <a:latin typeface="Segoe UI"/>
              </a:rPr>
              <a:t>STRONG</a:t>
            </a:r>
          </a:p>
        </p:txBody>
      </p:sp>
      <p:sp>
        <p:nvSpPr>
          <p:cNvPr id="22" name="TextBox 21"/>
          <p:cNvSpPr txBox="1"/>
          <p:nvPr/>
        </p:nvSpPr>
        <p:spPr>
          <a:xfrm>
            <a:off x="7836408" y="470001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Fixes the pipeline rather than the incident, names the detection gap, volunteers the cost.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"What is an SLO, and how did you pick the number?"</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The second half of the question is the real one.</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59</a:t>
            </a:r>
          </a:p>
        </p:txBody>
      </p:sp>
      <p:sp>
        <p:nvSpPr>
          <p:cNvPr id="7" name="Rectangle 6"/>
          <p:cNvSpPr/>
          <p:nvPr/>
        </p:nvSpPr>
        <p:spPr>
          <a:xfrm>
            <a:off x="566928" y="1682496"/>
            <a:ext cx="6766560" cy="13258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6327648" cy="103327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is really being tested</a:t>
            </a:r>
          </a:p>
          <a:p>
            <a:pPr>
              <a:spcBef>
                <a:spcPts val="0"/>
              </a:spcBef>
              <a:spcAft>
                <a:spcPts val="400"/>
              </a:spcAft>
            </a:pPr>
            <a:r>
              <a:rPr sz="1150" b="0" i="0">
                <a:solidFill>
                  <a:srgbClr val="17262E"/>
                </a:solidFill>
                <a:latin typeface="Segoe UI"/>
              </a:rPr>
              <a:t>Do you know SLI, SLO and SLA apart, or use them interchangeably?</a:t>
            </a:r>
          </a:p>
          <a:p>
            <a:pPr>
              <a:spcBef>
                <a:spcPts val="0"/>
              </a:spcBef>
              <a:spcAft>
                <a:spcPts val="400"/>
              </a:spcAft>
            </a:pPr>
            <a:r>
              <a:rPr sz="1150" b="0" i="0">
                <a:solidFill>
                  <a:srgbClr val="17262E"/>
                </a:solidFill>
                <a:latin typeface="Segoe UI"/>
              </a:rPr>
              <a:t>Where did the number come from? Not thin air, and not 100%.</a:t>
            </a:r>
          </a:p>
          <a:p>
            <a:pPr>
              <a:spcBef>
                <a:spcPts val="0"/>
              </a:spcBef>
              <a:spcAft>
                <a:spcPts val="400"/>
              </a:spcAft>
            </a:pPr>
            <a:r>
              <a:rPr sz="1150" b="0" i="0">
                <a:solidFill>
                  <a:srgbClr val="17262E"/>
                </a:solidFill>
                <a:latin typeface="Segoe UI"/>
              </a:rPr>
              <a:t>Did anyone outside engineering agree to it?</a:t>
            </a:r>
          </a:p>
        </p:txBody>
      </p:sp>
      <p:sp>
        <p:nvSpPr>
          <p:cNvPr id="9" name="Rectangle 8"/>
          <p:cNvSpPr/>
          <p:nvPr/>
        </p:nvSpPr>
        <p:spPr>
          <a:xfrm>
            <a:off x="566928" y="3191256"/>
            <a:ext cx="6766560" cy="22402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346704"/>
            <a:ext cx="6327648" cy="1947672"/>
          </a:xfrm>
          <a:prstGeom prst="rect">
            <a:avLst/>
          </a:prstGeom>
          <a:noFill/>
        </p:spPr>
        <p:txBody>
          <a:bodyPr wrap="square" lIns="0" rIns="0" tIns="0" bIns="0">
            <a:spAutoFit/>
          </a:bodyPr>
          <a:lstStyle/>
          <a:p>
            <a:pPr>
              <a:spcBef>
                <a:spcPts val="0"/>
              </a:spcBef>
              <a:spcAft>
                <a:spcPts val="600"/>
              </a:spcAft>
            </a:pPr>
            <a:r>
              <a:rPr sz="1000" b="1" i="0">
                <a:solidFill>
                  <a:srgbClr val="E8A020"/>
                </a:solidFill>
                <a:latin typeface="Segoe UI"/>
              </a:rPr>
              <a:t>SAY SOMETHING LIKE</a:t>
            </a:r>
          </a:p>
          <a:p>
            <a:pPr>
              <a:spcBef>
                <a:spcPts val="0"/>
              </a:spcBef>
              <a:spcAft>
                <a:spcPts val="400"/>
              </a:spcAft>
            </a:pPr>
            <a:r>
              <a:rPr sz="1150" b="0" i="0">
                <a:solidFill>
                  <a:srgbClr val="9FB3BD"/>
                </a:solidFill>
                <a:latin typeface="Segoe UI"/>
              </a:rPr>
              <a:t>"The SLI is what we measure: the share of checkout requests that succeed under 500 ms. The SLO is our internal target, 99.5% over a rolling 30 days. We picked 99.5% from what we were already achieving, about 99.7%, and from what the business could tolerate. The SLA we offer customers is deliberately looser, so we get warning before we breach a contract. And it is not 100%, because 100% leaves no room to deploy."</a:t>
            </a:r>
          </a:p>
        </p:txBody>
      </p:sp>
      <p:sp>
        <p:nvSpPr>
          <p:cNvPr id="11" name="Rectangle 10"/>
          <p:cNvSpPr/>
          <p:nvPr/>
        </p:nvSpPr>
        <p:spPr>
          <a:xfrm>
            <a:off x="7607808" y="168249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36408" y="1883664"/>
            <a:ext cx="137160" cy="13716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0728" y="1801368"/>
            <a:ext cx="2743200" cy="274320"/>
          </a:xfrm>
          <a:prstGeom prst="rect">
            <a:avLst/>
          </a:prstGeom>
          <a:noFill/>
        </p:spPr>
        <p:txBody>
          <a:bodyPr wrap="square" lIns="0" rIns="0" tIns="0" bIns="0">
            <a:spAutoFit/>
          </a:bodyPr>
          <a:lstStyle/>
          <a:p>
            <a:pPr>
              <a:spcBef>
                <a:spcPts val="0"/>
              </a:spcBef>
              <a:spcAft>
                <a:spcPts val="0"/>
              </a:spcAft>
            </a:pPr>
            <a:r>
              <a:rPr sz="1100" b="1" i="0">
                <a:solidFill>
                  <a:srgbClr val="D1495B"/>
                </a:solidFill>
                <a:latin typeface="Segoe UI"/>
              </a:rPr>
              <a:t>WEAK</a:t>
            </a:r>
          </a:p>
        </p:txBody>
      </p:sp>
      <p:sp>
        <p:nvSpPr>
          <p:cNvPr id="14" name="TextBox 13"/>
          <p:cNvSpPr txBox="1"/>
          <p:nvPr/>
        </p:nvSpPr>
        <p:spPr>
          <a:xfrm>
            <a:off x="7836408" y="213969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Uses SLO and SLA interchangeably, and talks about uptime in general terms.</a:t>
            </a:r>
          </a:p>
        </p:txBody>
      </p:sp>
      <p:sp>
        <p:nvSpPr>
          <p:cNvPr id="15" name="Rectangle 14"/>
          <p:cNvSpPr/>
          <p:nvPr/>
        </p:nvSpPr>
        <p:spPr>
          <a:xfrm>
            <a:off x="7607808" y="296265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36408" y="3163824"/>
            <a:ext cx="137160" cy="13716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3081528"/>
            <a:ext cx="2743200" cy="274320"/>
          </a:xfrm>
          <a:prstGeom prst="rect">
            <a:avLst/>
          </a:prstGeom>
          <a:noFill/>
        </p:spPr>
        <p:txBody>
          <a:bodyPr wrap="square" lIns="0" rIns="0" tIns="0" bIns="0">
            <a:spAutoFit/>
          </a:bodyPr>
          <a:lstStyle/>
          <a:p>
            <a:pPr>
              <a:spcBef>
                <a:spcPts val="0"/>
              </a:spcBef>
              <a:spcAft>
                <a:spcPts val="0"/>
              </a:spcAft>
            </a:pPr>
            <a:r>
              <a:rPr sz="1100" b="1" i="0">
                <a:solidFill>
                  <a:srgbClr val="B97708"/>
                </a:solidFill>
                <a:latin typeface="Segoe UI"/>
              </a:rPr>
              <a:t>SOLID</a:t>
            </a:r>
          </a:p>
        </p:txBody>
      </p:sp>
      <p:sp>
        <p:nvSpPr>
          <p:cNvPr id="18" name="TextBox 17"/>
          <p:cNvSpPr txBox="1"/>
          <p:nvPr/>
        </p:nvSpPr>
        <p:spPr>
          <a:xfrm>
            <a:off x="7836408" y="341985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Correct SLI, SLO and SLA distinction, with a target, a window and a percentile.</a:t>
            </a:r>
          </a:p>
        </p:txBody>
      </p:sp>
      <p:sp>
        <p:nvSpPr>
          <p:cNvPr id="19" name="Rectangle 18"/>
          <p:cNvSpPr/>
          <p:nvPr/>
        </p:nvSpPr>
        <p:spPr>
          <a:xfrm>
            <a:off x="7607808" y="424281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8" y="4443984"/>
            <a:ext cx="137160" cy="137160"/>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4361688"/>
            <a:ext cx="2743200" cy="274320"/>
          </a:xfrm>
          <a:prstGeom prst="rect">
            <a:avLst/>
          </a:prstGeom>
          <a:noFill/>
        </p:spPr>
        <p:txBody>
          <a:bodyPr wrap="square" lIns="0" rIns="0" tIns="0" bIns="0">
            <a:spAutoFit/>
          </a:bodyPr>
          <a:lstStyle/>
          <a:p>
            <a:pPr>
              <a:spcBef>
                <a:spcPts val="0"/>
              </a:spcBef>
              <a:spcAft>
                <a:spcPts val="0"/>
              </a:spcAft>
            </a:pPr>
            <a:r>
              <a:rPr sz="1100" b="1" i="0">
                <a:solidFill>
                  <a:srgbClr val="2E9E63"/>
                </a:solidFill>
                <a:latin typeface="Segoe UI"/>
              </a:rPr>
              <a:t>STRONG</a:t>
            </a:r>
          </a:p>
        </p:txBody>
      </p:sp>
      <p:sp>
        <p:nvSpPr>
          <p:cNvPr id="22" name="TextBox 21"/>
          <p:cNvSpPr txBox="1"/>
          <p:nvPr/>
        </p:nvSpPr>
        <p:spPr>
          <a:xfrm>
            <a:off x="7836408" y="470001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Explains where the number came from, who signed up to it, and why it is not 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"What is an error budget for?"</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A maths question on the surface and a culture question underneath.</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60</a:t>
            </a:r>
          </a:p>
        </p:txBody>
      </p:sp>
      <p:sp>
        <p:nvSpPr>
          <p:cNvPr id="7" name="Rectangle 6"/>
          <p:cNvSpPr/>
          <p:nvPr/>
        </p:nvSpPr>
        <p:spPr>
          <a:xfrm>
            <a:off x="566928" y="1682496"/>
            <a:ext cx="6766560" cy="13258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6327648" cy="103327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is really being tested</a:t>
            </a:r>
          </a:p>
          <a:p>
            <a:pPr>
              <a:spcBef>
                <a:spcPts val="0"/>
              </a:spcBef>
              <a:spcAft>
                <a:spcPts val="400"/>
              </a:spcAft>
            </a:pPr>
            <a:r>
              <a:rPr sz="1150" b="0" i="0">
                <a:solidFill>
                  <a:srgbClr val="17262E"/>
                </a:solidFill>
                <a:latin typeface="Segoe UI"/>
              </a:rPr>
              <a:t>Can you do the arithmetic out loud, from an SLO?</a:t>
            </a:r>
          </a:p>
          <a:p>
            <a:pPr>
              <a:spcBef>
                <a:spcPts val="0"/>
              </a:spcBef>
              <a:spcAft>
                <a:spcPts val="400"/>
              </a:spcAft>
            </a:pPr>
            <a:r>
              <a:rPr sz="1150" b="0" i="0">
                <a:solidFill>
                  <a:srgbClr val="17262E"/>
                </a:solidFill>
                <a:latin typeface="Segoe UI"/>
              </a:rPr>
              <a:t>Is it a number you report, or a tool you make decisions with?</a:t>
            </a:r>
          </a:p>
          <a:p>
            <a:pPr>
              <a:spcBef>
                <a:spcPts val="0"/>
              </a:spcBef>
              <a:spcAft>
                <a:spcPts val="400"/>
              </a:spcAft>
            </a:pPr>
            <a:r>
              <a:rPr sz="1150" b="0" i="0">
                <a:solidFill>
                  <a:srgbClr val="17262E"/>
                </a:solidFill>
                <a:latin typeface="Segoe UI"/>
              </a:rPr>
              <a:t>What happens when it runs out? Policy, or vibes?</a:t>
            </a:r>
          </a:p>
        </p:txBody>
      </p:sp>
      <p:sp>
        <p:nvSpPr>
          <p:cNvPr id="9" name="Rectangle 8"/>
          <p:cNvSpPr/>
          <p:nvPr/>
        </p:nvSpPr>
        <p:spPr>
          <a:xfrm>
            <a:off x="566928" y="3191256"/>
            <a:ext cx="6766560" cy="22402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346704"/>
            <a:ext cx="6327648" cy="1947672"/>
          </a:xfrm>
          <a:prstGeom prst="rect">
            <a:avLst/>
          </a:prstGeom>
          <a:noFill/>
        </p:spPr>
        <p:txBody>
          <a:bodyPr wrap="square" lIns="0" rIns="0" tIns="0" bIns="0">
            <a:spAutoFit/>
          </a:bodyPr>
          <a:lstStyle/>
          <a:p>
            <a:pPr>
              <a:spcBef>
                <a:spcPts val="0"/>
              </a:spcBef>
              <a:spcAft>
                <a:spcPts val="600"/>
              </a:spcAft>
            </a:pPr>
            <a:r>
              <a:rPr sz="1000" b="1" i="0">
                <a:solidFill>
                  <a:srgbClr val="E8A020"/>
                </a:solidFill>
                <a:latin typeface="Segoe UI"/>
              </a:rPr>
              <a:t>SAY SOMETHING LIKE</a:t>
            </a:r>
          </a:p>
          <a:p>
            <a:pPr>
              <a:spcBef>
                <a:spcPts val="0"/>
              </a:spcBef>
              <a:spcAft>
                <a:spcPts val="400"/>
              </a:spcAft>
            </a:pPr>
            <a:r>
              <a:rPr sz="1150" b="0" i="0">
                <a:solidFill>
                  <a:srgbClr val="9FB3BD"/>
                </a:solidFill>
                <a:latin typeface="Segoe UI"/>
              </a:rPr>
              <a:t>"If the SLO is 99.5% over 30 days and we serve two million checkout requests, then ten thousand of them are allowed to fail or be slow. That allowance is the error budget. It is not a target to hit, it is a currency we spend on risk. While there is budget left the team ships. When it is burning fast we had already agreed to stop feature work and spend the sprint on reliability. That agreement is the point: it turns an argument about shipping into arithmetic."</a:t>
            </a:r>
          </a:p>
        </p:txBody>
      </p:sp>
      <p:sp>
        <p:nvSpPr>
          <p:cNvPr id="11" name="Rectangle 10"/>
          <p:cNvSpPr/>
          <p:nvPr/>
        </p:nvSpPr>
        <p:spPr>
          <a:xfrm>
            <a:off x="7607808" y="168249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36408" y="1883664"/>
            <a:ext cx="137160" cy="13716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0728" y="1801368"/>
            <a:ext cx="2743200" cy="274320"/>
          </a:xfrm>
          <a:prstGeom prst="rect">
            <a:avLst/>
          </a:prstGeom>
          <a:noFill/>
        </p:spPr>
        <p:txBody>
          <a:bodyPr wrap="square" lIns="0" rIns="0" tIns="0" bIns="0">
            <a:spAutoFit/>
          </a:bodyPr>
          <a:lstStyle/>
          <a:p>
            <a:pPr>
              <a:spcBef>
                <a:spcPts val="0"/>
              </a:spcBef>
              <a:spcAft>
                <a:spcPts val="0"/>
              </a:spcAft>
            </a:pPr>
            <a:r>
              <a:rPr sz="1100" b="1" i="0">
                <a:solidFill>
                  <a:srgbClr val="D1495B"/>
                </a:solidFill>
                <a:latin typeface="Segoe UI"/>
              </a:rPr>
              <a:t>WEAK</a:t>
            </a:r>
          </a:p>
        </p:txBody>
      </p:sp>
      <p:sp>
        <p:nvSpPr>
          <p:cNvPr id="14" name="TextBox 13"/>
          <p:cNvSpPr txBox="1"/>
          <p:nvPr/>
        </p:nvSpPr>
        <p:spPr>
          <a:xfrm>
            <a:off x="7836408" y="213969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Calls it the allowed downtime and stops there.</a:t>
            </a:r>
          </a:p>
        </p:txBody>
      </p:sp>
      <p:sp>
        <p:nvSpPr>
          <p:cNvPr id="15" name="Rectangle 14"/>
          <p:cNvSpPr/>
          <p:nvPr/>
        </p:nvSpPr>
        <p:spPr>
          <a:xfrm>
            <a:off x="7607808" y="296265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36408" y="3163824"/>
            <a:ext cx="137160" cy="13716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3081528"/>
            <a:ext cx="2743200" cy="274320"/>
          </a:xfrm>
          <a:prstGeom prst="rect">
            <a:avLst/>
          </a:prstGeom>
          <a:noFill/>
        </p:spPr>
        <p:txBody>
          <a:bodyPr wrap="square" lIns="0" rIns="0" tIns="0" bIns="0">
            <a:spAutoFit/>
          </a:bodyPr>
          <a:lstStyle/>
          <a:p>
            <a:pPr>
              <a:spcBef>
                <a:spcPts val="0"/>
              </a:spcBef>
              <a:spcAft>
                <a:spcPts val="0"/>
              </a:spcAft>
            </a:pPr>
            <a:r>
              <a:rPr sz="1100" b="1" i="0">
                <a:solidFill>
                  <a:srgbClr val="B97708"/>
                </a:solidFill>
                <a:latin typeface="Segoe UI"/>
              </a:rPr>
              <a:t>SOLID</a:t>
            </a:r>
          </a:p>
        </p:txBody>
      </p:sp>
      <p:sp>
        <p:nvSpPr>
          <p:cNvPr id="18" name="TextBox 17"/>
          <p:cNvSpPr txBox="1"/>
          <p:nvPr/>
        </p:nvSpPr>
        <p:spPr>
          <a:xfrm>
            <a:off x="7836408" y="341985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Does the arithmetic correctly from an SLO and describes spending it on risk.</a:t>
            </a:r>
          </a:p>
        </p:txBody>
      </p:sp>
      <p:sp>
        <p:nvSpPr>
          <p:cNvPr id="19" name="Rectangle 18"/>
          <p:cNvSpPr/>
          <p:nvPr/>
        </p:nvSpPr>
        <p:spPr>
          <a:xfrm>
            <a:off x="7607808" y="424281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8" y="4443984"/>
            <a:ext cx="137160" cy="137160"/>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4361688"/>
            <a:ext cx="2743200" cy="274320"/>
          </a:xfrm>
          <a:prstGeom prst="rect">
            <a:avLst/>
          </a:prstGeom>
          <a:noFill/>
        </p:spPr>
        <p:txBody>
          <a:bodyPr wrap="square" lIns="0" rIns="0" tIns="0" bIns="0">
            <a:spAutoFit/>
          </a:bodyPr>
          <a:lstStyle/>
          <a:p>
            <a:pPr>
              <a:spcBef>
                <a:spcPts val="0"/>
              </a:spcBef>
              <a:spcAft>
                <a:spcPts val="0"/>
              </a:spcAft>
            </a:pPr>
            <a:r>
              <a:rPr sz="1100" b="1" i="0">
                <a:solidFill>
                  <a:srgbClr val="2E9E63"/>
                </a:solidFill>
                <a:latin typeface="Segoe UI"/>
              </a:rPr>
              <a:t>STRONG</a:t>
            </a:r>
          </a:p>
        </p:txBody>
      </p:sp>
      <p:sp>
        <p:nvSpPr>
          <p:cNvPr id="22" name="TextBox 21"/>
          <p:cNvSpPr txBox="1"/>
          <p:nvPr/>
        </p:nvSpPr>
        <p:spPr>
          <a:xfrm>
            <a:off x="7836408" y="470001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Describes the policy agreed in advance for when it burns, and who is in that room.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"A pod says Running but users report errors."</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The trap question. It tests whether you trust the platform over the customer.</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61</a:t>
            </a:r>
          </a:p>
        </p:txBody>
      </p:sp>
      <p:sp>
        <p:nvSpPr>
          <p:cNvPr id="7" name="Rectangle 6"/>
          <p:cNvSpPr/>
          <p:nvPr/>
        </p:nvSpPr>
        <p:spPr>
          <a:xfrm>
            <a:off x="566928" y="1682496"/>
            <a:ext cx="6766560" cy="132588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37944"/>
            <a:ext cx="6327648" cy="103327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What is really being tested</a:t>
            </a:r>
          </a:p>
          <a:p>
            <a:pPr>
              <a:spcBef>
                <a:spcPts val="0"/>
              </a:spcBef>
              <a:spcAft>
                <a:spcPts val="400"/>
              </a:spcAft>
            </a:pPr>
            <a:r>
              <a:rPr sz="1150" b="0" i="0">
                <a:solidFill>
                  <a:srgbClr val="17262E"/>
                </a:solidFill>
                <a:latin typeface="Segoe UI"/>
              </a:rPr>
              <a:t>Do you know what Running actually promises? Very little.</a:t>
            </a:r>
          </a:p>
          <a:p>
            <a:pPr>
              <a:spcBef>
                <a:spcPts val="0"/>
              </a:spcBef>
              <a:spcAft>
                <a:spcPts val="400"/>
              </a:spcAft>
            </a:pPr>
            <a:r>
              <a:rPr sz="1150" b="0" i="0">
                <a:solidFill>
                  <a:srgbClr val="17262E"/>
                </a:solidFill>
                <a:latin typeface="Segoe UI"/>
              </a:rPr>
              <a:t>Readiness or liveness, and what does each one gate?</a:t>
            </a:r>
          </a:p>
          <a:p>
            <a:pPr>
              <a:spcBef>
                <a:spcPts val="0"/>
              </a:spcBef>
              <a:spcAft>
                <a:spcPts val="400"/>
              </a:spcAft>
            </a:pPr>
            <a:r>
              <a:rPr sz="1150" b="0" i="0">
                <a:solidFill>
                  <a:srgbClr val="17262E"/>
                </a:solidFill>
                <a:latin typeface="Segoe UI"/>
              </a:rPr>
              <a:t>Can you work a dependency chain without guessing?</a:t>
            </a:r>
          </a:p>
        </p:txBody>
      </p:sp>
      <p:sp>
        <p:nvSpPr>
          <p:cNvPr id="9" name="Rectangle 8"/>
          <p:cNvSpPr/>
          <p:nvPr/>
        </p:nvSpPr>
        <p:spPr>
          <a:xfrm>
            <a:off x="566928" y="3191256"/>
            <a:ext cx="6766560" cy="224028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346704"/>
            <a:ext cx="6327648" cy="1947672"/>
          </a:xfrm>
          <a:prstGeom prst="rect">
            <a:avLst/>
          </a:prstGeom>
          <a:noFill/>
        </p:spPr>
        <p:txBody>
          <a:bodyPr wrap="square" lIns="0" rIns="0" tIns="0" bIns="0">
            <a:spAutoFit/>
          </a:bodyPr>
          <a:lstStyle/>
          <a:p>
            <a:pPr>
              <a:spcBef>
                <a:spcPts val="0"/>
              </a:spcBef>
              <a:spcAft>
                <a:spcPts val="600"/>
              </a:spcAft>
            </a:pPr>
            <a:r>
              <a:rPr sz="1000" b="1" i="0">
                <a:solidFill>
                  <a:srgbClr val="E8A020"/>
                </a:solidFill>
                <a:latin typeface="Segoe UI"/>
              </a:rPr>
              <a:t>SAY SOMETHING LIKE</a:t>
            </a:r>
          </a:p>
          <a:p>
            <a:pPr>
              <a:spcBef>
                <a:spcPts val="0"/>
              </a:spcBef>
              <a:spcAft>
                <a:spcPts val="400"/>
              </a:spcAft>
            </a:pPr>
            <a:r>
              <a:rPr sz="1150" b="0" i="0">
                <a:solidFill>
                  <a:srgbClr val="9FB3BD"/>
                </a:solidFill>
                <a:latin typeface="Segoe UI"/>
              </a:rPr>
              <a:t>"Running only means the container has not exited. If the readiness probe just pings an HTTP port, the pod stays in the service endpoints and keeps taking traffic while every database call times out. So I confirm the user impact in the app itself, check whether it is one pod or all of them, then look at the dependency the service needs. Then I read one failing trace end to end and open the log line for that trace id. The fix is usually two things: whatever broke, and a readiness probe that tests the real dependency."</a:t>
            </a:r>
          </a:p>
        </p:txBody>
      </p:sp>
      <p:sp>
        <p:nvSpPr>
          <p:cNvPr id="11" name="Rectangle 10"/>
          <p:cNvSpPr/>
          <p:nvPr/>
        </p:nvSpPr>
        <p:spPr>
          <a:xfrm>
            <a:off x="7607808" y="168249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36408" y="1883664"/>
            <a:ext cx="137160" cy="137160"/>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0728" y="1801368"/>
            <a:ext cx="2743200" cy="274320"/>
          </a:xfrm>
          <a:prstGeom prst="rect">
            <a:avLst/>
          </a:prstGeom>
          <a:noFill/>
        </p:spPr>
        <p:txBody>
          <a:bodyPr wrap="square" lIns="0" rIns="0" tIns="0" bIns="0">
            <a:spAutoFit/>
          </a:bodyPr>
          <a:lstStyle/>
          <a:p>
            <a:pPr>
              <a:spcBef>
                <a:spcPts val="0"/>
              </a:spcBef>
              <a:spcAft>
                <a:spcPts val="0"/>
              </a:spcAft>
            </a:pPr>
            <a:r>
              <a:rPr sz="1100" b="1" i="0">
                <a:solidFill>
                  <a:srgbClr val="D1495B"/>
                </a:solidFill>
                <a:latin typeface="Segoe UI"/>
              </a:rPr>
              <a:t>WEAK</a:t>
            </a:r>
          </a:p>
        </p:txBody>
      </p:sp>
      <p:sp>
        <p:nvSpPr>
          <p:cNvPr id="14" name="TextBox 13"/>
          <p:cNvSpPr txBox="1"/>
          <p:nvPr/>
        </p:nvSpPr>
        <p:spPr>
          <a:xfrm>
            <a:off x="7836408" y="213969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Restarts the pod. That is the whole answer.</a:t>
            </a:r>
          </a:p>
        </p:txBody>
      </p:sp>
      <p:sp>
        <p:nvSpPr>
          <p:cNvPr id="15" name="Rectangle 14"/>
          <p:cNvSpPr/>
          <p:nvPr/>
        </p:nvSpPr>
        <p:spPr>
          <a:xfrm>
            <a:off x="7607808" y="296265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36408" y="3163824"/>
            <a:ext cx="137160" cy="137160"/>
          </a:xfrm>
          <a:prstGeom prst="ellipse">
            <a:avLst/>
          </a:prstGeom>
          <a:solidFill>
            <a:srgbClr val="E8A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3081528"/>
            <a:ext cx="2743200" cy="274320"/>
          </a:xfrm>
          <a:prstGeom prst="rect">
            <a:avLst/>
          </a:prstGeom>
          <a:noFill/>
        </p:spPr>
        <p:txBody>
          <a:bodyPr wrap="square" lIns="0" rIns="0" tIns="0" bIns="0">
            <a:spAutoFit/>
          </a:bodyPr>
          <a:lstStyle/>
          <a:p>
            <a:pPr>
              <a:spcBef>
                <a:spcPts val="0"/>
              </a:spcBef>
              <a:spcAft>
                <a:spcPts val="0"/>
              </a:spcAft>
            </a:pPr>
            <a:r>
              <a:rPr sz="1100" b="1" i="0">
                <a:solidFill>
                  <a:srgbClr val="B97708"/>
                </a:solidFill>
                <a:latin typeface="Segoe UI"/>
              </a:rPr>
              <a:t>SOLID</a:t>
            </a:r>
          </a:p>
        </p:txBody>
      </p:sp>
      <p:sp>
        <p:nvSpPr>
          <p:cNvPr id="18" name="TextBox 17"/>
          <p:cNvSpPr txBox="1"/>
          <p:nvPr/>
        </p:nvSpPr>
        <p:spPr>
          <a:xfrm>
            <a:off x="7836408" y="341985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Separates Running from Ready, then checks dependencies and logs rather than guessing.</a:t>
            </a:r>
          </a:p>
        </p:txBody>
      </p:sp>
      <p:sp>
        <p:nvSpPr>
          <p:cNvPr id="19" name="Rectangle 18"/>
          <p:cNvSpPr/>
          <p:nvPr/>
        </p:nvSpPr>
        <p:spPr>
          <a:xfrm>
            <a:off x="7607808" y="4242816"/>
            <a:ext cx="4023360" cy="11430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8" y="4443984"/>
            <a:ext cx="137160" cy="137160"/>
          </a:xfrm>
          <a:prstGeom prst="ellipse">
            <a:avLst/>
          </a:prstGeom>
          <a:solidFill>
            <a:srgbClr val="2E9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4361688"/>
            <a:ext cx="2743200" cy="274320"/>
          </a:xfrm>
          <a:prstGeom prst="rect">
            <a:avLst/>
          </a:prstGeom>
          <a:noFill/>
        </p:spPr>
        <p:txBody>
          <a:bodyPr wrap="square" lIns="0" rIns="0" tIns="0" bIns="0">
            <a:spAutoFit/>
          </a:bodyPr>
          <a:lstStyle/>
          <a:p>
            <a:pPr>
              <a:spcBef>
                <a:spcPts val="0"/>
              </a:spcBef>
              <a:spcAft>
                <a:spcPts val="0"/>
              </a:spcAft>
            </a:pPr>
            <a:r>
              <a:rPr sz="1100" b="1" i="0">
                <a:solidFill>
                  <a:srgbClr val="2E9E63"/>
                </a:solidFill>
                <a:latin typeface="Segoe UI"/>
              </a:rPr>
              <a:t>STRONG</a:t>
            </a:r>
          </a:p>
        </p:txBody>
      </p:sp>
      <p:sp>
        <p:nvSpPr>
          <p:cNvPr id="22" name="TextBox 21"/>
          <p:cNvSpPr txBox="1"/>
          <p:nvPr/>
        </p:nvSpPr>
        <p:spPr>
          <a:xfrm>
            <a:off x="7836408" y="4700016"/>
            <a:ext cx="3657600" cy="640080"/>
          </a:xfrm>
          <a:prstGeom prst="rect">
            <a:avLst/>
          </a:prstGeom>
          <a:noFill/>
        </p:spPr>
        <p:txBody>
          <a:bodyPr wrap="square" lIns="0" rIns="0" tIns="0" bIns="0">
            <a:spAutoFit/>
          </a:bodyPr>
          <a:lstStyle/>
          <a:p>
            <a:pPr>
              <a:spcBef>
                <a:spcPts val="0"/>
              </a:spcBef>
              <a:spcAft>
                <a:spcPts val="0"/>
              </a:spcAft>
            </a:pPr>
            <a:r>
              <a:rPr sz="1050" b="0" i="0">
                <a:solidFill>
                  <a:srgbClr val="17262E"/>
                </a:solidFill>
                <a:latin typeface="Segoe UI"/>
              </a:rPr>
              <a:t>Knows readiness gates endpoint membership, works metrics to trace to log, and names the probe as the durable fix.</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881360" cy="685800"/>
          </a:xfrm>
          <a:prstGeom prst="rect">
            <a:avLst/>
          </a:prstGeom>
          <a:noFill/>
        </p:spPr>
        <p:txBody>
          <a:bodyPr wrap="square" lIns="0" rIns="0" tIns="0" bIns="0">
            <a:spAutoFit/>
          </a:bodyPr>
          <a:lstStyle/>
          <a:p>
            <a:pPr>
              <a:spcBef>
                <a:spcPts val="0"/>
              </a:spcBef>
              <a:spcAft>
                <a:spcPts val="0"/>
              </a:spcAft>
            </a:pPr>
            <a:r>
              <a:rPr sz="2900" b="1" i="0">
                <a:solidFill>
                  <a:srgbClr val="17262E"/>
                </a:solidFill>
                <a:latin typeface="Segoe UI"/>
              </a:rPr>
              <a:t>Before you leave the lab</a:t>
            </a:r>
          </a:p>
        </p:txBody>
      </p:sp>
      <p:sp>
        <p:nvSpPr>
          <p:cNvPr id="4" name="TextBox 3"/>
          <p:cNvSpPr txBox="1"/>
          <p:nvPr/>
        </p:nvSpPr>
        <p:spPr>
          <a:xfrm>
            <a:off x="566928" y="1133856"/>
            <a:ext cx="10424160" cy="365760"/>
          </a:xfrm>
          <a:prstGeom prst="rect">
            <a:avLst/>
          </a:prstGeom>
          <a:noFill/>
        </p:spPr>
        <p:txBody>
          <a:bodyPr wrap="square" lIns="0" rIns="0" tIns="0" bIns="0">
            <a:spAutoFit/>
          </a:bodyPr>
          <a:lstStyle/>
          <a:p>
            <a:pPr>
              <a:spcBef>
                <a:spcPts val="0"/>
              </a:spcBef>
              <a:spcAft>
                <a:spcPts val="0"/>
              </a:spcAft>
            </a:pPr>
            <a:r>
              <a:rPr sz="1300" b="0" i="0">
                <a:solidFill>
                  <a:srgbClr val="5B6B73"/>
                </a:solidFill>
                <a:latin typeface="Segoe UI"/>
              </a:rPr>
              <a:t>What to keep, and the one sentence worth remembering.</a:t>
            </a:r>
          </a:p>
        </p:txBody>
      </p:sp>
      <p:sp>
        <p:nvSpPr>
          <p:cNvPr id="5" name="TextBox 4"/>
          <p:cNvSpPr txBox="1"/>
          <p:nvPr/>
        </p:nvSpPr>
        <p:spPr>
          <a:xfrm>
            <a:off x="566928" y="6400800"/>
            <a:ext cx="9144000" cy="274320"/>
          </a:xfrm>
          <a:prstGeom prst="rect">
            <a:avLst/>
          </a:prstGeom>
          <a:noFill/>
        </p:spPr>
        <p:txBody>
          <a:bodyPr wrap="square" lIns="0" rIns="0" tIns="0" bIns="0">
            <a:spAutoFit/>
          </a:bodyPr>
          <a:lstStyle/>
          <a:p>
            <a:pPr>
              <a:spcBef>
                <a:spcPts val="0"/>
              </a:spcBef>
              <a:spcAft>
                <a:spcPts val="0"/>
              </a:spcAft>
            </a:pPr>
            <a:r>
              <a:rPr sz="900" b="0" i="0">
                <a:solidFill>
                  <a:srgbClr val="5B6B73"/>
                </a:solidFill>
                <a:latin typeface="Segoe UI"/>
              </a:rPr>
              <a:t>Part 4 · Talking about it</a:t>
            </a:r>
          </a:p>
        </p:txBody>
      </p:sp>
      <p:sp>
        <p:nvSpPr>
          <p:cNvPr id="6" name="TextBox 5"/>
          <p:cNvSpPr txBox="1"/>
          <p:nvPr/>
        </p:nvSpPr>
        <p:spPr>
          <a:xfrm>
            <a:off x="10710367" y="6400800"/>
            <a:ext cx="914400" cy="274320"/>
          </a:xfrm>
          <a:prstGeom prst="rect">
            <a:avLst/>
          </a:prstGeom>
          <a:noFill/>
        </p:spPr>
        <p:txBody>
          <a:bodyPr wrap="square" lIns="0" rIns="0" tIns="0" bIns="0">
            <a:spAutoFit/>
          </a:bodyPr>
          <a:lstStyle/>
          <a:p>
            <a:pPr algn="r">
              <a:spcBef>
                <a:spcPts val="0"/>
              </a:spcBef>
              <a:spcAft>
                <a:spcPts val="0"/>
              </a:spcAft>
            </a:pPr>
            <a:r>
              <a:rPr sz="900" b="0" i="0">
                <a:solidFill>
                  <a:srgbClr val="5B6B73"/>
                </a:solidFill>
                <a:latin typeface="Segoe UI"/>
              </a:rPr>
              <a:t>62</a:t>
            </a:r>
          </a:p>
        </p:txBody>
      </p:sp>
      <p:sp>
        <p:nvSpPr>
          <p:cNvPr id="7" name="Rectangle 6"/>
          <p:cNvSpPr/>
          <p:nvPr/>
        </p:nvSpPr>
        <p:spPr>
          <a:xfrm>
            <a:off x="566928" y="1682496"/>
            <a:ext cx="5486400" cy="370332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883664"/>
            <a:ext cx="4937760" cy="320040"/>
          </a:xfrm>
          <a:prstGeom prst="rect">
            <a:avLst/>
          </a:prstGeom>
          <a:noFill/>
        </p:spPr>
        <p:txBody>
          <a:bodyPr wrap="square" lIns="0" rIns="0" tIns="0" bIns="0">
            <a:spAutoFit/>
          </a:bodyPr>
          <a:lstStyle/>
          <a:p>
            <a:pPr>
              <a:spcBef>
                <a:spcPts val="0"/>
              </a:spcBef>
              <a:spcAft>
                <a:spcPts val="0"/>
              </a:spcAft>
            </a:pPr>
            <a:r>
              <a:rPr sz="1500" b="1" i="0">
                <a:solidFill>
                  <a:srgbClr val="17262E"/>
                </a:solidFill>
                <a:latin typeface="Segoe UI"/>
              </a:rPr>
              <a:t>Keep these artefacts</a:t>
            </a:r>
          </a:p>
        </p:txBody>
      </p:sp>
      <p:sp>
        <p:nvSpPr>
          <p:cNvPr id="9" name="Rectangle 8"/>
          <p:cNvSpPr/>
          <p:nvPr/>
        </p:nvSpPr>
        <p:spPr>
          <a:xfrm>
            <a:off x="841248" y="2368296"/>
            <a:ext cx="274320" cy="274320"/>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2395728"/>
            <a:ext cx="438912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Your baseline numbers</a:t>
            </a:r>
          </a:p>
        </p:txBody>
      </p:sp>
      <p:sp>
        <p:nvSpPr>
          <p:cNvPr id="11" name="Rectangle 10"/>
          <p:cNvSpPr/>
          <p:nvPr/>
        </p:nvSpPr>
        <p:spPr>
          <a:xfrm>
            <a:off x="841248" y="2843784"/>
            <a:ext cx="274320" cy="274320"/>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2871216"/>
            <a:ext cx="438912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Screenshots of each monitor firing</a:t>
            </a:r>
          </a:p>
        </p:txBody>
      </p:sp>
      <p:sp>
        <p:nvSpPr>
          <p:cNvPr id="13" name="Rectangle 12"/>
          <p:cNvSpPr/>
          <p:nvPr/>
        </p:nvSpPr>
        <p:spPr>
          <a:xfrm>
            <a:off x="841248" y="3319272"/>
            <a:ext cx="274320" cy="274320"/>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3346704"/>
            <a:ext cx="438912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One trace that starts in the browser</a:t>
            </a:r>
          </a:p>
        </p:txBody>
      </p:sp>
      <p:sp>
        <p:nvSpPr>
          <p:cNvPr id="15" name="Rectangle 14"/>
          <p:cNvSpPr/>
          <p:nvPr/>
        </p:nvSpPr>
        <p:spPr>
          <a:xfrm>
            <a:off x="841248" y="3794760"/>
            <a:ext cx="274320" cy="274320"/>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3822192"/>
            <a:ext cx="438912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A postmortem for at least one scenario</a:t>
            </a:r>
          </a:p>
        </p:txBody>
      </p:sp>
      <p:sp>
        <p:nvSpPr>
          <p:cNvPr id="17" name="Rectangle 16"/>
          <p:cNvSpPr/>
          <p:nvPr/>
        </p:nvSpPr>
        <p:spPr>
          <a:xfrm>
            <a:off x="841248" y="4270248"/>
            <a:ext cx="274320" cy="274320"/>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4297680"/>
            <a:ext cx="438912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Your error-budget calculation</a:t>
            </a:r>
          </a:p>
        </p:txBody>
      </p:sp>
      <p:sp>
        <p:nvSpPr>
          <p:cNvPr id="19" name="Rectangle 18"/>
          <p:cNvSpPr/>
          <p:nvPr/>
        </p:nvSpPr>
        <p:spPr>
          <a:xfrm>
            <a:off x="841248" y="4745736"/>
            <a:ext cx="274320" cy="274320"/>
          </a:xfrm>
          <a:prstGeom prst="rect">
            <a:avLst/>
          </a:prstGeom>
          <a:solidFill>
            <a:srgbClr val="FFFFFF"/>
          </a:solidFill>
          <a:ln w="15875">
            <a:solidFill>
              <a:srgbClr val="1F7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0160" y="4773168"/>
            <a:ext cx="4389120" cy="274320"/>
          </a:xfrm>
          <a:prstGeom prst="rect">
            <a:avLst/>
          </a:prstGeom>
          <a:noFill/>
        </p:spPr>
        <p:txBody>
          <a:bodyPr wrap="square" lIns="0" rIns="0" tIns="0" bIns="0">
            <a:spAutoFit/>
          </a:bodyPr>
          <a:lstStyle/>
          <a:p>
            <a:pPr>
              <a:spcBef>
                <a:spcPts val="0"/>
              </a:spcBef>
              <a:spcAft>
                <a:spcPts val="0"/>
              </a:spcAft>
            </a:pPr>
            <a:r>
              <a:rPr sz="1150" b="0" i="0">
                <a:solidFill>
                  <a:srgbClr val="17262E"/>
                </a:solidFill>
                <a:latin typeface="Segoe UI"/>
              </a:rPr>
              <a:t>One incident told from both chairs</a:t>
            </a:r>
          </a:p>
        </p:txBody>
      </p:sp>
      <p:sp>
        <p:nvSpPr>
          <p:cNvPr id="21" name="Rectangle 20"/>
          <p:cNvSpPr/>
          <p:nvPr/>
        </p:nvSpPr>
        <p:spPr>
          <a:xfrm>
            <a:off x="6327648" y="1682496"/>
            <a:ext cx="5303520" cy="150876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47104" y="1837944"/>
            <a:ext cx="4864608" cy="1216152"/>
          </a:xfrm>
          <a:prstGeom prst="rect">
            <a:avLst/>
          </a:prstGeom>
          <a:noFill/>
        </p:spPr>
        <p:txBody>
          <a:bodyPr wrap="square" lIns="0" rIns="0" tIns="0" bIns="0">
            <a:spAutoFit/>
          </a:bodyPr>
          <a:lstStyle/>
          <a:p>
            <a:pPr>
              <a:spcBef>
                <a:spcPts val="0"/>
              </a:spcBef>
              <a:spcAft>
                <a:spcPts val="600"/>
              </a:spcAft>
            </a:pPr>
            <a:r>
              <a:rPr sz="1100" b="1" i="0">
                <a:solidFill>
                  <a:srgbClr val="E8A020"/>
                </a:solidFill>
                <a:latin typeface="Segoe UI"/>
              </a:rPr>
              <a:t>The whole course in one line</a:t>
            </a:r>
          </a:p>
          <a:p>
            <a:pPr>
              <a:spcBef>
                <a:spcPts val="0"/>
              </a:spcBef>
              <a:spcAft>
                <a:spcPts val="400"/>
              </a:spcAft>
            </a:pPr>
            <a:r>
              <a:rPr sz="1400" b="0" i="0">
                <a:solidFill>
                  <a:srgbClr val="FFFFFF"/>
                </a:solidFill>
                <a:latin typeface="Segoe UI"/>
              </a:rPr>
              <a:t>We monitor so we know when real users cannot do the thing they came to do.</a:t>
            </a:r>
          </a:p>
        </p:txBody>
      </p:sp>
      <p:sp>
        <p:nvSpPr>
          <p:cNvPr id="23" name="Rectangle 22"/>
          <p:cNvSpPr/>
          <p:nvPr/>
        </p:nvSpPr>
        <p:spPr>
          <a:xfrm>
            <a:off x="6327648" y="3374136"/>
            <a:ext cx="5303520" cy="1371600"/>
          </a:xfrm>
          <a:prstGeom prst="rect">
            <a:avLst/>
          </a:prstGeom>
          <a:solidFill>
            <a:srgbClr val="EEF2F4"/>
          </a:solidFill>
          <a:ln w="9525">
            <a:solidFill>
              <a:srgbClr val="DB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7648" y="3374136"/>
            <a:ext cx="44450" cy="1371600"/>
          </a:xfrm>
          <a:prstGeom prst="rect">
            <a:avLst/>
          </a:prstGeom>
          <a:solidFill>
            <a:srgbClr val="1F7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47104" y="3529584"/>
            <a:ext cx="4864608" cy="1078992"/>
          </a:xfrm>
          <a:prstGeom prst="rect">
            <a:avLst/>
          </a:prstGeom>
          <a:noFill/>
        </p:spPr>
        <p:txBody>
          <a:bodyPr wrap="square" lIns="0" rIns="0" tIns="0" bIns="0">
            <a:spAutoFit/>
          </a:bodyPr>
          <a:lstStyle/>
          <a:p>
            <a:pPr>
              <a:spcBef>
                <a:spcPts val="0"/>
              </a:spcBef>
              <a:spcAft>
                <a:spcPts val="600"/>
              </a:spcAft>
            </a:pPr>
            <a:r>
              <a:rPr sz="1350" b="1" i="0">
                <a:solidFill>
                  <a:srgbClr val="17262E"/>
                </a:solidFill>
                <a:latin typeface="Segoe UI"/>
              </a:rPr>
              <a:t>Practise out loud</a:t>
            </a:r>
          </a:p>
          <a:p>
            <a:pPr>
              <a:spcBef>
                <a:spcPts val="0"/>
              </a:spcBef>
              <a:spcAft>
                <a:spcPts val="400"/>
              </a:spcAft>
            </a:pPr>
            <a:r>
              <a:rPr sz="1100" b="0" i="0">
                <a:solidFill>
                  <a:srgbClr val="17262E"/>
                </a:solidFill>
                <a:latin typeface="Segoe UI"/>
              </a:rPr>
              <a:t>Pair up. One asks a question from the previous slides, the other answers in ninety seconds using the five beats. Then swap chairs — literally: answer it again as the other role.</a:t>
            </a:r>
          </a:p>
        </p:txBody>
      </p:sp>
      <p:sp>
        <p:nvSpPr>
          <p:cNvPr id="26" name="Rectangle 25"/>
          <p:cNvSpPr/>
          <p:nvPr/>
        </p:nvSpPr>
        <p:spPr>
          <a:xfrm>
            <a:off x="6327648" y="4882896"/>
            <a:ext cx="5303520" cy="502920"/>
          </a:xfrm>
          <a:prstGeom prst="rect">
            <a:avLst/>
          </a:prstGeom>
          <a:solidFill>
            <a:srgbClr val="0F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47104" y="5038344"/>
            <a:ext cx="4864608" cy="210312"/>
          </a:xfrm>
          <a:prstGeom prst="rect">
            <a:avLst/>
          </a:prstGeom>
          <a:noFill/>
        </p:spPr>
        <p:txBody>
          <a:bodyPr wrap="square" lIns="0" rIns="0" tIns="0" bIns="0">
            <a:spAutoFit/>
          </a:bodyPr>
          <a:lstStyle/>
          <a:p>
            <a:pPr>
              <a:spcBef>
                <a:spcPts val="0"/>
              </a:spcBef>
              <a:spcAft>
                <a:spcPts val="400"/>
              </a:spcAft>
            </a:pPr>
            <a:r>
              <a:rPr sz="1200" b="0" i="0">
                <a:solidFill>
                  <a:srgbClr val="FFFFFF"/>
                </a:solidFill>
                <a:latin typeface="Segoe UI"/>
              </a:rPr>
              <a:t>Do not forget: ./scripts/teardown.sh before you close the laptop.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