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1767" y="566928"/>
            <a:ext cx="155448" cy="155448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65815" y="566928"/>
            <a:ext cx="155448" cy="155448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9863" y="566928"/>
            <a:ext cx="155448" cy="155448"/>
          </a:xfrm>
          <a:prstGeom prst="ellipse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20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Segoe UI"/>
              </a:rPr>
              <a:t>S R E   L A B   ·   C L A S S   E D I T I O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774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Running the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Experiments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572000"/>
            <a:ext cx="1371600" cy="50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9377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BD"/>
                </a:solidFill>
                <a:latin typeface="Segoe UI"/>
              </a:rPr>
              <a:t>12 failure modes · 10 incident scenarios · one loop that works for all of them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 i="1">
                <a:solidFill>
                  <a:srgbClr val="9FB3BD"/>
                </a:solidFill>
                <a:latin typeface="Segoe UI"/>
              </a:rPr>
              <a:t>Follow along with the cluster in front of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24367" y="1874519"/>
            <a:ext cx="3200400" cy="1051560"/>
          </a:xfrm>
          <a:prstGeom prst="rect">
            <a:avLst/>
          </a:prstGeom>
          <a:solidFill>
            <a:srgbClr val="18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2967" y="2002535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2967" y="246887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BD"/>
                </a:solidFill>
                <a:latin typeface="Segoe UI"/>
              </a:rPr>
              <a:t>failure modes you can inject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24367" y="3108959"/>
            <a:ext cx="3200400" cy="1051560"/>
          </a:xfrm>
          <a:prstGeom prst="rect">
            <a:avLst/>
          </a:prstGeom>
          <a:solidFill>
            <a:srgbClr val="18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2967" y="3236975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2967" y="370331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BD"/>
                </a:solidFill>
                <a:latin typeface="Segoe UI"/>
              </a:rPr>
              <a:t>scripted incident scenarios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24367" y="4343399"/>
            <a:ext cx="3200400" cy="1051560"/>
          </a:xfrm>
          <a:prstGeom prst="rect">
            <a:avLst/>
          </a:prstGeom>
          <a:solidFill>
            <a:srgbClr val="18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2967" y="4471415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2967" y="49377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BD"/>
                </a:solidFill>
                <a:latin typeface="Segoe UI"/>
              </a:rPr>
              <a:t>steps in the loop, every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SRE Lab — Hands-On Experiment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HOW THIS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Four parts,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Do not skip Part A. If the platform isn't verified, none of the exercises teach what they should.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2606040" cy="21945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38528"/>
            <a:ext cx="44450" cy="219456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84832"/>
            <a:ext cx="22037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A. Verify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Cluster, apps, and the four Datadog signals. Write down your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38528"/>
            <a:ext cx="2606040" cy="21945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938528"/>
            <a:ext cx="44450" cy="219456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084832"/>
            <a:ext cx="22037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B. The loop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Six steps that work for every failure mode. The order is the skill.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938528"/>
            <a:ext cx="2606040" cy="21945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938528"/>
            <a:ext cx="44450" cy="219456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2"/>
            <a:ext cx="22037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C. Break it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12 failure modes in three families. One slide 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1938528"/>
            <a:ext cx="2606040" cy="21945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1938528"/>
            <a:ext cx="44450" cy="219456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2084832"/>
            <a:ext cx="22037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D. Tell it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Map to the 10 scenarios, then explain it from both chairs.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07408"/>
            <a:ext cx="11064240" cy="8686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07408"/>
            <a:ext cx="44450" cy="8686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553712"/>
            <a:ext cx="10661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7262E"/>
                </a:solidFill>
                <a:latin typeface="Segoe UI"/>
              </a:rPr>
              <a:t/>
            </a:r>
            <a:r>
              <a:rPr sz="1300" b="1">
                <a:solidFill>
                  <a:srgbClr val="1F7A99"/>
                </a:solidFill>
                <a:latin typeface="Segoe UI"/>
              </a:rPr>
              <a:t>The one rule:  </a:t>
            </a:r>
            <a:r>
              <a:rPr sz="1300">
                <a:solidFill>
                  <a:srgbClr val="17262E"/>
                </a:solidFill>
                <a:latin typeface="Segoe UI"/>
              </a:rPr>
              <a:t>dashboard first, terminal second. If you opened a terminal before you opened a dashboard, you skipped the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1767" y="566928"/>
            <a:ext cx="155448" cy="155448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65815" y="566928"/>
            <a:ext cx="155448" cy="155448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9863" y="566928"/>
            <a:ext cx="155448" cy="155448"/>
          </a:xfrm>
          <a:prstGeom prst="ellipse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Segoe UI"/>
              </a:rPr>
              <a:t>PART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Before you
break anything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343400"/>
            <a:ext cx="1371600" cy="50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7548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BD"/>
                </a:solidFill>
                <a:latin typeface="Segoe UI"/>
              </a:rPr>
              <a:t>Five minutes that decide whether the next two hours teach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SRE Lab — Hands-On Experiment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A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Is the platform actually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2139696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kubectl config current-context      # must be the sre-lab EKS cluster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kubectl get pods -A                 # every app pod 1/1 Running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kubectl get hpa -A                  # cpu: N%/70%  --  never &lt;unknown&gt;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kubectl top pods -n ecommerce       # proves metrics-server is serving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for a in ecommerce banking food-delivery student-portal support-tickets; do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  curl -s -o /dev/null -w "%{http_code}  $a\n" "https://$a.$(cat .lab-domain)/"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done                                # five 200s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95344"/>
            <a:ext cx="5394960" cy="118872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895344"/>
            <a:ext cx="44450" cy="118872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041648"/>
            <a:ext cx="49926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If kubectl looks wrong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Docker Desktop rewrites your context on start.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aws eks update-kubeconfig --name sre-lab --region us-east-1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3895344"/>
            <a:ext cx="5394960" cy="118872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3895344"/>
            <a:ext cx="44450" cy="118872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4041648"/>
            <a:ext cx="49926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If HPA says &lt;unknown&gt;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metrics-server isn't running. setup.sh step 9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installs it; cpu-spike can't work without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A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Do one real thing in each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Traces only exist if somebody uses the app. Do these in a browser, not with curl.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93852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38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11064240" cy="12700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1343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ecommerce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313432"/>
            <a:ext cx="5715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Add to cart, then check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8" y="231343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--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42616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69748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banking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697480"/>
            <a:ext cx="5715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Log in, check a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69748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demo123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026664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8152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food-delivery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081528"/>
            <a:ext cx="5715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Place an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308152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--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410712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465576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student-portal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465576"/>
            <a:ext cx="5715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View grades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46557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demo123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794760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84962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support-tickets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3849624"/>
            <a:ext cx="5715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File a ticket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384962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--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17880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A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Check all four signals in Datadog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This is the step people skip. It decides whether anything downstream is teachable.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19385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8" y="19385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GOOD LOOKS LIKE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11064240" cy="12700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1343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Traces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31343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APM &gt; Traces, service:ecommerce-backend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2313432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62E"/>
                </a:solidFill>
                <a:latin typeface="Segoe UI"/>
              </a:rPr>
              <a:t>browser -&gt; backend -&gt; Postgres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42616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69748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697480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Logs, service:ecommerce-backend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8" y="2697480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Requests, with dd.trace_id injected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026664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8152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3081528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Events, source:kubernetes kube_namespace:ecommerce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3081528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Kubernetes events present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410712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46557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465576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Dashboards &gt; SRE Lab - ecommerce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346557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All six widgets populated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794760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224528"/>
            <a:ext cx="11064240" cy="8229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224528"/>
            <a:ext cx="44450" cy="82296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370832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7262E"/>
                </a:solidFill>
                <a:latin typeface="Segoe UI"/>
              </a:rPr>
              <a:t/>
            </a:r>
            <a:r>
              <a:rPr sz="1200" b="1">
                <a:solidFill>
                  <a:srgbClr val="1F7A99"/>
                </a:solidFill>
                <a:latin typeface="Segoe UI"/>
              </a:rPr>
              <a:t>If a trace starts at the backend:  </a:t>
            </a:r>
            <a:r>
              <a:rPr sz="1200">
                <a:solidFill>
                  <a:srgbClr val="17262E"/>
                </a:solidFill>
                <a:latin typeface="Segoe UI"/>
              </a:rPr>
              <a:t>RUM didn't load. Check window.DD_RUM in the browser console -- the browser span is what makes it end-to-end.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A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Write down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Per app, from its dashboard, while everything is healthy.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YOURS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6766560" cy="12700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1343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Traffic (requests/sec)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23134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______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42616"/>
            <a:ext cx="676656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9748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Error rate (%)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69748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26664"/>
            <a:ext cx="676656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81528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p95 latency (ms)  —  not the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308152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10712"/>
            <a:ext cx="676656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65576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Memory vs the 256Mi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465576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94760"/>
            <a:ext cx="676656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849624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Restart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3849624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78808"/>
            <a:ext cx="676656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1938528"/>
            <a:ext cx="3931920" cy="26517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1938528"/>
            <a:ext cx="44450" cy="265176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0416" y="2084832"/>
            <a:ext cx="352958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Why this matters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Every scenario is graded on one question: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“Which widget moved first, and by how much?”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You can only answer it if you looked before anything broke.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1767" y="566928"/>
            <a:ext cx="155448" cy="155448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65815" y="566928"/>
            <a:ext cx="155448" cy="155448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9863" y="566928"/>
            <a:ext cx="155448" cy="155448"/>
          </a:xfrm>
          <a:prstGeom prst="ellipse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Segoe UI"/>
              </a:rPr>
              <a:t>PART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The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343400"/>
            <a:ext cx="1371600" cy="50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7548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BD"/>
                </a:solidFill>
                <a:latin typeface="Segoe UI"/>
              </a:rPr>
              <a:t>Six steps. The same six for all twelve failure modes.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SRE Lab — Hands-On Experiment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The experiment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Run this for every failure mode. The order is the whole skill.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11064240" cy="658368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38528"/>
            <a:ext cx="44450" cy="658368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939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7A99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0208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2057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3"/>
                </a:solidFill>
                <a:latin typeface="Segoe UI"/>
              </a:rPr>
              <a:t>Look at the dashboard. Before, not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70048"/>
            <a:ext cx="11064240" cy="658368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670048"/>
            <a:ext cx="44450" cy="658368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825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7A99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275234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Inject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2788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3"/>
                </a:solidFill>
                <a:latin typeface="Segoe UI"/>
              </a:rPr>
              <a:t>./scripts/chaos/&lt;script&gt;.sh &lt;app&gt;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01568"/>
            <a:ext cx="11064240" cy="658368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401568"/>
            <a:ext cx="44450" cy="658368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5570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7A99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48386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Datadog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8" y="3520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3"/>
                </a:solidFill>
                <a:latin typeface="Segoe UI"/>
              </a:rPr>
              <a:t>How big, and who? Then logs and events for the exact error.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133088"/>
            <a:ext cx="11064240" cy="658368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133088"/>
            <a:ext cx="44450" cy="658368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2885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7A99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421538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Confirm as a 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8" y="42519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3"/>
                </a:solidFill>
                <a:latin typeface="Segoe UI"/>
              </a:rPr>
              <a:t>curl the real URL. Does it match what users report?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864608"/>
            <a:ext cx="11064240" cy="658368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864608"/>
            <a:ext cx="44450" cy="658368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0200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7A99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" y="49469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Only now, kubectl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9834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3"/>
                </a:solidFill>
                <a:latin typeface="Segoe UI"/>
              </a:rPr>
              <a:t>READY column, describe pod, rollout history.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596128"/>
            <a:ext cx="11064240" cy="658368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596128"/>
            <a:ext cx="44450" cy="658368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57515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7A99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2728" y="56784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Undo, and prove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33088" y="5715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3"/>
                </a:solidFill>
                <a:latin typeface="Segoe UI"/>
              </a:rPr>
              <a:t>reset.sh or --undo, then re-check the widget that moved.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Two things that will catch you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5394960" cy="210312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27048"/>
            <a:ext cx="44450" cy="210312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73352"/>
            <a:ext cx="49926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Every app runs 2 replicas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 chaos script's single curl goes through the ALB to ONE random pod.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So effects are partial by design. To be deterministic, port-forward to a specific pod and POST to /api/chaos/*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527048"/>
            <a:ext cx="5394960" cy="210312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527048"/>
            <a:ext cx="44450" cy="210312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673352"/>
            <a:ext cx="49926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reset.sh can't fix a db-drop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That pod already failed readiness and left the Service, so the reset lands on a healthy one.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Reset it directly with kubectl exec — the command is on the db-drop slide.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858768"/>
            <a:ext cx="11064240" cy="8229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858768"/>
            <a:ext cx="44450" cy="82296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005072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7262E"/>
                </a:solidFill>
                <a:latin typeface="Segoe UI"/>
              </a:rPr>
              <a:t/>
            </a:r>
            <a:r>
              <a:rPr sz="1250" b="1">
                <a:solidFill>
                  <a:srgbClr val="1F7A99"/>
                </a:solidFill>
                <a:latin typeface="Segoe UI"/>
              </a:rPr>
              <a:t>Neither is a bug.  </a:t>
            </a:r>
            <a:r>
              <a:rPr sz="1250">
                <a:solidFill>
                  <a:srgbClr val="17262E"/>
                </a:solidFill>
                <a:latin typeface="Segoe UI"/>
              </a:rPr>
              <a:t>Both are the lab behaving exactly like a real system, and both are worth ten minutes of discussion.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1767" y="566928"/>
            <a:ext cx="155448" cy="155448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65815" y="566928"/>
            <a:ext cx="155448" cy="155448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9863" y="566928"/>
            <a:ext cx="155448" cy="155448"/>
          </a:xfrm>
          <a:prstGeom prst="ellipse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Segoe UI"/>
              </a:rPr>
              <a:t>PART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The 12
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343400"/>
            <a:ext cx="1371600" cy="50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7548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BD"/>
                </a:solidFill>
                <a:latin typeface="Segoe UI"/>
              </a:rPr>
              <a:t>Three families. The family tells you how to diagnose it, and how to undo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SRE Lab — Hands-On Experiment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Three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Twelve ways to break it, thirteen scripts — reset.sh is the undo tool, not a 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3566160" cy="26517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38528"/>
            <a:ext cx="44450" cy="265176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84832"/>
            <a:ext cx="316382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A · In-app conditions (5)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Toggled over HTTP against a live pod. No redeploy.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latency · errors · memory-spike · cpu-spike · db-drop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Undo: reset.sh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7" y="1938528"/>
            <a:ext cx="3566160" cy="26517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7" y="1938528"/>
            <a:ext cx="44450" cy="265176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5" y="2084832"/>
            <a:ext cx="316382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B · Kubernetes-level (2)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Bypass the app entirely.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kill-random-pod · scale-to-zero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Undo: kubectl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7" y="1938528"/>
            <a:ext cx="3566160" cy="265176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7" y="1938528"/>
            <a:ext cx="44450" cy="265176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084832"/>
            <a:ext cx="316382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C · Change-driven (5)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Somebody shipped something. Deliberately quiet.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bad-deploy · break-config · rotate-secret · break-ingress · shrink-limits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Undo: --undo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818888"/>
            <a:ext cx="11064240" cy="77724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818888"/>
            <a:ext cx="44450" cy="77724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965192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7262E"/>
                </a:solidFill>
                <a:latin typeface="Segoe UI"/>
              </a:rPr>
              <a:t/>
            </a:r>
            <a:r>
              <a:rPr sz="1250" b="1">
                <a:solidFill>
                  <a:srgbClr val="1F7A99"/>
                </a:solidFill>
                <a:latin typeface="Segoe UI"/>
              </a:rPr>
              <a:t>First triage question, always:  </a:t>
            </a:r>
            <a:r>
              <a:rPr sz="1250">
                <a:solidFill>
                  <a:srgbClr val="17262E"/>
                </a:solidFill>
                <a:latin typeface="Segoe UI"/>
              </a:rPr>
              <a:t>did something change, or did something drift? kubectl rollout history answers it in ten seconds.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FAMILY A · IN-APP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A1 · Slow, but not failing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./scripts/chaos/inject-latency.sh ecommerce 4000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p95 climbs hard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Error rate stays completely flat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The average barely moves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The p95 widget — compare it with the average on purpose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curl https://ecommerce.&lt;domain&gt;/api/chaos shows latencyMs: 4000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4450" cy="10972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./scripts/chaos/reset.sh ecommerce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498848"/>
            <a:ext cx="44450" cy="10972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Slow is not failing. An error-rate monitor never fires here, which is why latency needs its own alert.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FAMILY A · IN-APP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A2 · Failing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./scripts/chaos/inject-errors.sh banking 0.3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Error rate jumps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Traces flagged as errors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5xx filling the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Dashboard: Error Rate widget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Logs: service:banking-backend status:error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4450" cy="10972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./scripts/chaos/reset.sh banking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498848"/>
            <a:ext cx="44450" cy="10972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Errors and latency are two signals with two different responses. Don't collapse them into “it's broken”.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FAMILY A · IN-APP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A3 · The leak that heals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./scripts/chaos/memory-spike.sh support-tickets 300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Memory climbs toward the 256Mi limit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 real OOMKilled, then a restart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Then it looks fine again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describe pod | grep -A5 "Last State"  -&gt;  Reason: OOMKilled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Dashboard: Pod Restarts, and the memory widget just before the 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4450" cy="10972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Nothing — the restart cleared the in-memory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498848"/>
            <a:ext cx="44450" cy="10972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Self-resolving incidents get waved off. The saturation monitor exists to fire BEFORE the kill, not after.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FAMILY A · IN-APP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A4 · Saturation, and the HPA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./scripts/chaos/cpu-spike.sh ecommerce 60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Latency spikes on every endpoint that pod serves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The HPA scales out past 2 replicas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kubectl -n ecommerce get hpa -w   (run this first, in a second terminal)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Dashboard: p95 across all endpoints, not just 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4450" cy="10972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Ends by itself; the HPA scales back after cooldown.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498848"/>
            <a:ext cx="44450" cy="10972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Saturation shows up as latency everywhere, not as errors on one endpoint.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FAMILY A · IN-APP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A5 · Running, but not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./scripts/chaos/drop-db-connection.sh student-portal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55748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55748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702052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/readyz returns 503; /healthz stays 200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Pod goes NotReady after ~30s and leaves the Service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Nothing restarts — the process never crashed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555748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555748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02052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Logs: “readiness check failed: db connection dropped (chaos)”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kubectl get endpoints  —  the pod is gone from the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66260"/>
            <a:ext cx="5394960" cy="1362455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366260"/>
            <a:ext cx="44450" cy="1362455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512564"/>
            <a:ext cx="4992624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kubectl exec -n &lt;ns&gt; &lt;pod&gt; — node -e "require('http').request({host:'localhost',port:4000,path:'/api/chaos/reset',method:'POST'}).end()"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366260"/>
            <a:ext cx="5394960" cy="1362455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366260"/>
            <a:ext cx="44450" cy="1362455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512564"/>
            <a:ext cx="4992624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The most-asked interview question. Liveness and readiness gate different things — that's why there are two endpoints.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7D55"/>
                </a:solidFill>
                <a:latin typeface="Segoe UI"/>
              </a:rPr>
              <a:t>FAMILY B · KUBERNETES-LEVEL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B1 and B2 · Bypassing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713232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./scripts/chaos/kill-random-pod.sh banking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./scripts/chaos/scale-to-zero.sh support-tickets support-tickets-frontend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68880"/>
            <a:ext cx="5394960" cy="182880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68880"/>
            <a:ext cx="44450" cy="182880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15184"/>
            <a:ext cx="49926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B1 · kill-random-pod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Restart count +1, a brief blip if you're watching.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Self-heals — the Deployment reschedules immediately.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Point: alert on restart COUNT over a window, not one restart.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468880"/>
            <a:ext cx="5394960" cy="182880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468880"/>
            <a:ext cx="44450" cy="182880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615184"/>
            <a:ext cx="49926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B2 · scale-to-zero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Full outage. The ALB returns 503 — no targets at all.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Undo: kubectl scale deployment/... --replicas=2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Point: compare this 503 with C4's 404. Empty and unhealthy target groups behave differently.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405A"/>
                </a:solidFill>
                <a:latin typeface="Segoe UI"/>
              </a:rPr>
              <a:t>FAMILY C · CHANGE-DRIVEN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C1 · The tag that never existed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./scripts/chaos/bad-deploy.sh student-portal student-portal-backend student-portal-backend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88336"/>
            <a:ext cx="44450" cy="155448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New pods ImagePullBackOff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Old pods keep serving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So the symptom is INTERMITTENT, not an outage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describe pod  -&gt;  “Failed to pull image ... not found”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rollout status  -&gt;  stuck waiting for replicas that never come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4450" cy="10972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kubectl -n student-portal rollout undo deployment/student-portal-backend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498848"/>
            <a:ext cx="44450" cy="10972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The partial outage is RollingUpdate doing its job — it won't kill healthy pods for replacements that aren't ready.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405A"/>
                </a:solidFill>
                <a:latin typeface="Segoe UI"/>
              </a:rPr>
              <a:t>FAMILY C · CHANGE-DRIVEN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C2 · The config that shipped 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./scripts/chaos/break-config.sh banking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51760"/>
            <a:ext cx="5394960" cy="1627631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51760"/>
            <a:ext cx="44450" cy="1627631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798064"/>
            <a:ext cx="4992624" cy="1353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One new pod never becomes Ready, then CrashLoops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The rollout stalls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The app still returns 200 — customers are 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651760"/>
            <a:ext cx="5394960" cy="1627631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651760"/>
            <a:ext cx="44450" cy="1627631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98064"/>
            <a:ext cx="4992624" cy="1353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Events: “Readiness probe failed ... connection refused” on :4000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logs &lt;newest pod&gt;  -&gt;  “listening on 4001”  &lt;-- the penny drops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35423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535423"/>
            <a:ext cx="44450" cy="10972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81727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./scripts/chaos/break-config.sh banking --undo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535423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535423"/>
            <a:ext cx="44450" cy="10972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681727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rollout undo does NOT fix this: the pod template never changed, only the ConfigMap it points 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405A"/>
                </a:solidFill>
                <a:latin typeface="Segoe UI"/>
              </a:rPr>
              <a:t>FAMILY C · CHANGE-DRIVEN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C3 · Rotated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./scripts/chaos/rotate-secret.sh ecommerce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88336"/>
            <a:ext cx="44450" cy="155448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New pod Running but 0/1, with ZERO restarts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No monitor fires at all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Endpoints list 2 addresses, not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688336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688336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34640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Logs: “readiness check failed: password authentication failed for user ...”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port-forward, then curl /healthz (200) vs /readyz (503)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4450" cy="10972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./scripts/chaos/rotate-secret.sh ecommerce --undo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498848"/>
            <a:ext cx="5394960" cy="10972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498848"/>
            <a:ext cx="44450" cy="10972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645152"/>
            <a:ext cx="49926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The working credential now exists only in the memory of two pods that can't be replaced. Zero impact, high urgency.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405A"/>
                </a:solidFill>
                <a:latin typeface="Segoe UI"/>
              </a:rPr>
              <a:t>FAMILY C · CHANGE-DRIVEN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C4 · Green dashboards, angry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./scripts/chaos/break-ingress.sh food-delivery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19173"/>
            <a:ext cx="5394960" cy="1627631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19173"/>
            <a:ext cx="44450" cy="1627631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65477"/>
            <a:ext cx="4992624" cy="1353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 404 from the BACKEND — not a gateway error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X-Powered-By: Express in the headers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/api/* still returns 200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Every dashboard stays green; backend throughput RISES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519173"/>
            <a:ext cx="5394960" cy="1627631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519173"/>
            <a:ext cx="44450" cy="1627631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665477"/>
            <a:ext cx="4992624" cy="1353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curl -i https://food-delivery.&lt;domain&gt;/ | head -12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aws elbv2 describe-target-health ...  (target health is in AWS, not Datadog)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02836"/>
            <a:ext cx="5394960" cy="1362455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02836"/>
            <a:ext cx="44450" cy="1362455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549140"/>
            <a:ext cx="4992624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./scripts/chaos/break-ingress.sh food-delivery --undo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402836"/>
            <a:ext cx="5394960" cy="1362455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402836"/>
            <a:ext cx="44450" cy="1362455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549140"/>
            <a:ext cx="4992624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The best one in the lab: a total outage your monitoring cannot see, because every instrument sits inside a service that isn't broken.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405A"/>
                </a:solidFill>
                <a:latin typeface="Segoe UI"/>
              </a:rPr>
              <a:t>FAMILY C · CHANGE-DRIVEN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C5 · The ceiling that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475488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./scripts/chaos/shrink-limits.sh support-tickets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55748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55748"/>
            <a:ext cx="44450" cy="155448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702052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What you should see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New pods OOMKilled during startup (exit 137)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CrashLoopBackOff; old pods keep serving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Identical symptom to A3 — opposite 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555748"/>
            <a:ext cx="5394960" cy="15544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555748"/>
            <a:ext cx="44450" cy="155448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02052"/>
            <a:ext cx="49926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Where to look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rollout history, and compare the resources block with another app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Dashboard: memory usage never grew. The LIMIT moved.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66260"/>
            <a:ext cx="5394960" cy="1362455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366260"/>
            <a:ext cx="44450" cy="1362455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512564"/>
            <a:ext cx="4992624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Undo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./scripts/chaos/shrink-limits.sh support-tickets --undo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4366260"/>
            <a:ext cx="5394960" cy="1362455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4366260"/>
            <a:ext cx="44450" cy="1362455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512564"/>
            <a:ext cx="4992624" cy="10881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point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62E"/>
                </a:solidFill>
                <a:latin typeface="Segoe UI"/>
              </a:rPr>
              <a:t>rollout undo DOES work here (the pod template changed), unlike C2 and C3. Explaining that difference is worth more than the fix.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1767" y="566928"/>
            <a:ext cx="155448" cy="155448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65815" y="566928"/>
            <a:ext cx="155448" cy="155448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9863" y="566928"/>
            <a:ext cx="155448" cy="155448"/>
          </a:xfrm>
          <a:prstGeom prst="ellipse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Segoe UI"/>
              </a:rPr>
              <a:t>PART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Putting it
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343400"/>
            <a:ext cx="1371600" cy="50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7548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BD"/>
                </a:solidFill>
                <a:latin typeface="Segoe UI"/>
              </a:rPr>
              <a:t>From a broken pod to a story a hiring manager wants to hear.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SRE Lab — Hands-On Experiment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3BD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The 10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Each wraps one or more failure modes in a briefing with no answer attached.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385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1938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STARTS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USES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40280"/>
            <a:ext cx="11064240" cy="12700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313432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13432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The Silent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313432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ecommerce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31343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231343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A1 + 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587752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42616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642616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Payday Panic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642616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banking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64261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condition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264261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A5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916936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971800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971800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The Stuck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297180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food-delivery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97180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condition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97180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Redis to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246120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300984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3300984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Grades Gone Missing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330098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student-portal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330098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62E"/>
                </a:solidFill>
                <a:latin typeface="Segoe UI"/>
              </a:rPr>
              <a:t>change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330098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575304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630168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3630168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The Midnight Memory Leak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3630168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support-tickets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36301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8" y="36301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A3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90448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3959352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" y="3959352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The Noisy Neighbor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3959352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ecommerce + banking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395935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condition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02368" y="395935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manual pg_sleep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233672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288536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4288536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The 4 PM Config 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0368" y="4288536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banking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8" y="42885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62E"/>
                </a:solidFill>
                <a:latin typeface="Segoe UI"/>
              </a:rPr>
              <a:t>change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02368" y="42885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562856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4617720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4617720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The Rotated Password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0368" y="461772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ecommerce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3568" y="46177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62E"/>
                </a:solidFill>
                <a:latin typeface="Segoe UI"/>
              </a:rPr>
              <a:t>change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02368" y="46177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4892040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4946904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" y="4946904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Green Dashboards, Angry Customers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0368" y="494690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food-delivery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73568" y="494690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62E"/>
                </a:solidFill>
                <a:latin typeface="Segoe UI"/>
              </a:rPr>
              <a:t>change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02368" y="494690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5221224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5276088"/>
            <a:ext cx="411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" y="5276088"/>
            <a:ext cx="3977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The Tightened Limit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0368" y="5276088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support-tickets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73568" y="527608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62E"/>
                </a:solidFill>
                <a:latin typeface="Segoe UI"/>
              </a:rPr>
              <a:t>change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02368" y="527608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62E"/>
                </a:solidFill>
                <a:latin typeface="Segoe UI"/>
              </a:rPr>
              <a:t>C5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555040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A running order that 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Roughly 20-30 minutes each, with discussion.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385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3852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B73"/>
                </a:solidFill>
                <a:latin typeface="Segoe UI"/>
              </a:rPr>
              <a:t>WHY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11064240" cy="12700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1343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3134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A1 on support-tickets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Simplest app, cleanest signal. Teaches p95 vs average immediately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71576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7063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7706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A5 on banking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7063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Running vs Ready — the most-asked interview question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17296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22783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2278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A3 on support-tickets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22783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A self-healing incident; sets up the contrast for step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3016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68503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6850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C2 on banking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68503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First change-driven one: “what changed?” before “what's broken?”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08736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14223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1422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C5 on support-tickets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14223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Same OOMKill as step 3, opposite cause. The contrast IS the lesson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54456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59943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5994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C4 on food-delivery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59943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Finish here: total outage, every dashboard 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001768"/>
            <a:ext cx="11064240" cy="9525"/>
          </a:xfrm>
          <a:prstGeom prst="rect">
            <a:avLst/>
          </a:prstGeom>
          <a:solidFill>
            <a:srgbClr val="DB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Between runs, and at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7048"/>
            <a:ext cx="11064240" cy="1901952"/>
          </a:xfrm>
          <a:prstGeom prst="rect">
            <a:avLst/>
          </a:prstGeom>
          <a:solidFill>
            <a:srgbClr val="0F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35056" cy="1664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./scripts/chaos/reset.sh &lt;app&gt;              # clears Family A state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./scripts/chaos/&lt;script&gt;.sh &lt;app&gt; --undo    # reverts Family C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kubectl get pods -A | grep -v Running       # confirm clean before the next one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ls .chaos-backup/                           # empty = nothing still injected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7E3EA"/>
                </a:solidFill>
                <a:latin typeface="Consolas"/>
              </a:rPr>
              <a:t>./scripts/teardown.sh                       # when you're done -- this costs real money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03320"/>
            <a:ext cx="11064240" cy="91440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703320"/>
            <a:ext cx="44450" cy="914400"/>
          </a:xfrm>
          <a:prstGeom prst="rect">
            <a:avLst/>
          </a:prstGeom>
          <a:solidFill>
            <a:srgbClr val="C0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849624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7262E"/>
                </a:solidFill>
                <a:latin typeface="Segoe UI"/>
              </a:rPr>
              <a:t/>
            </a:r>
            <a:r>
              <a:rPr sz="1250" b="1">
                <a:solidFill>
                  <a:srgbClr val="1F7A99"/>
                </a:solidFill>
                <a:latin typeface="Segoe UI"/>
              </a:rPr>
              <a:t>Leaving it running costs $150-250/month.  </a:t>
            </a:r>
            <a:r>
              <a:rPr sz="1250">
                <a:solidFill>
                  <a:srgbClr val="17262E"/>
                </a:solidFill>
                <a:latin typeface="Segoe UI"/>
              </a:rPr>
              <a:t>Tearing down and rebuilding takes about twenty minutes, and is itself good practice.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A99"/>
                </a:solidFill>
                <a:latin typeface="Segoe UI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62E"/>
                </a:solidFill>
                <a:latin typeface="Segoe UI"/>
              </a:rPr>
              <a:t>Now tell it from both chairs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3"/>
                </a:solidFill>
                <a:latin typeface="Segoe UI"/>
              </a:rPr>
              <a:t>Same incident, two questions. Practise out loud, ninety seconds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Part 5 — Running the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3"/>
                </a:solidFill>
                <a:latin typeface="Segoe U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394960" cy="24688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38528"/>
            <a:ext cx="44450" cy="2468880"/>
          </a:xfrm>
          <a:prstGeom prst="rect">
            <a:avLst/>
          </a:prstGeom>
          <a:solidFill>
            <a:srgbClr val="B97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84832"/>
            <a:ext cx="499262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DevOps engineer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Owns the delivery path.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“What changed?”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Ends with: the change reverted, and a pipeline that can't ship that mistake again.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938528"/>
            <a:ext cx="5394960" cy="246888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938528"/>
            <a:ext cx="44450" cy="246888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084832"/>
            <a:ext cx="499262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62E"/>
                </a:solidFill>
                <a:latin typeface="Segoe UI"/>
              </a:rPr>
              <a:t>The SRE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Owns the service level.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“What did it cost, and who told us?”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262E"/>
                </a:solidFill>
                <a:latin typeface="Segoe UI"/>
              </a:rPr>
              <a:t>Ends with: budget spent, a named detection gap, one prevention item with an owner.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636008"/>
            <a:ext cx="11064240" cy="777240"/>
          </a:xfrm>
          <a:prstGeom prst="rect">
            <a:avLst/>
          </a:prstGeom>
          <a:solidFill>
            <a:srgbClr val="EEF2F4"/>
          </a:solidFill>
          <a:ln w="9525">
            <a:solidFill>
              <a:srgbClr val="DB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636008"/>
            <a:ext cx="44450" cy="777240"/>
          </a:xfrm>
          <a:prstGeom prst="rect">
            <a:avLst/>
          </a:prstGeom>
          <a:solidFill>
            <a:srgbClr val="1F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782312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7262E"/>
                </a:solidFill>
                <a:latin typeface="Segoe UI"/>
              </a:rPr>
              <a:t/>
            </a:r>
            <a:r>
              <a:rPr sz="1250" b="1">
                <a:solidFill>
                  <a:srgbClr val="1F7A99"/>
                </a:solidFill>
                <a:latin typeface="Segoe UI"/>
              </a:rPr>
              <a:t>If you can deliver both versions of one incident,  </a:t>
            </a:r>
            <a:r>
              <a:rPr sz="1250">
                <a:solidFill>
                  <a:srgbClr val="17262E"/>
                </a:solidFill>
                <a:latin typeface="Segoe UI"/>
              </a:rPr>
              <a:t>you're ready for either interview. See docs/devops-vs-sre.md.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